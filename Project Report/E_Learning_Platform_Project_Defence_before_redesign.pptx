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9" r:id="rId10"/>
    <p:sldId id="264" r:id="rId11"/>
    <p:sldId id="265" r:id="rId12"/>
    <p:sldId id="266" r:id="rId13"/>
    <p:sldId id="267" r:id="rId14"/>
    <p:sldId id="268"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0425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panel members. My project is titled “Design and Implementation of a Secure E-Learning Platform.”,It focuses on a web-based marketplace that connects students, instructors, and administrators in one controlled platform.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not simply about putting courses online. The problem is the lack of one accessible platform that combines local payment, proper course governance, and security.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is broad, but the objectives made it measurable. The rest of the presentation shows how each objective was implemented and tested.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built around three roles. Permissions are not cosmetic. Every role is enforced in the server-side access controls.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is the presentation tier. It never talks directly to the database. All business rules run in the Next.js application layer, and PostgreSQL stores the relational data. Paystack, email, Google sign-in, and file storage remain external services behind server-side calls.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selected a modern TypeScript stack because it allows the user interface, server logic, and validation to work together. PostgreSQL and transactions are particularly important because the system handles payments and enrolments.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was not treated as an afterthought. The two controls I would emphasize under questions are the signed quiz session token and idempotent payment completion.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an approved and published course reaches the public catalogue. For paid enrolment, the system does not trust the browser alone. It verifies the transaction server-side before granting access.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public screens a visitor meets first: the landing page, the course catalogue with search and category filter, the registration form and the sign-in screen. Point out two things if asked. First, the interface is responsive, so the same pages work on a phone without a separate mobile app, which is non-functional requirement NFR-04. Second, the registration form shows the password rules being enforced at the point of entry, and sign-in accepts either the generated user ID or an email address.</a:t>
            </a:r>
          </a:p>
        </p:txBody>
      </p:sp>
      <p:sp>
        <p:nvSpPr>
          <p:cNvPr id="4" name="Slide Number Placeholder 3"/>
          <p:cNvSpPr>
            <a:spLocks noGrp="1"/>
          </p:cNvSpPr>
          <p:nvPr>
            <p:ph type="sldNum" sz="quarter" idx="10"/>
          </p:nvPr>
        </p:nvSpPr>
        <p:spPr/>
        <p:txBody>
          <a:bodyPr/>
          <a:lstStyle/>
          <a:p>
            <a:fld id="{B7C7A0D1-9C4B-4F0E-8E9E-0C2A1F5B0009}"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primary student journey: enrol, learn, complete lessons, and take assessments. Progress is not just a visual bar: it is calculated from completed lessons and passed enabled quizzes.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approval model balances openness with trust. An instructor application is approved first. Courses are then built as modules and lessons, and submitted separately for review.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screen demonstrates that the solution is not only a student platform. The administrator has governance controls, while sensitive actions are recorded for accountability.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covered the features that must work and the actions the system must refuse. The payment duplicate-event case and the forged quiz-token case are strong evidence of the reliability and security controls.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achieved its stated scope and proved the core workflows. I will now welcome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thanking the panel, then offer the live demonstration. Suggested demo order: public catalogue, student learning and a quiz attempt, instructor course creation, then the admin approval screen and audit log. Have the demo accounts already signed in on separate browser tabs, and keep the backup screenshots or recording ready in case the network fails.</a:t>
            </a:r>
          </a:p>
        </p:txBody>
      </p:sp>
      <p:sp>
        <p:nvSpPr>
          <p:cNvPr id="4" name="Slide Number Placeholder 3"/>
          <p:cNvSpPr>
            <a:spLocks noGrp="1"/>
          </p:cNvSpPr>
          <p:nvPr>
            <p:ph type="sldNum" sz="quarter" idx="10"/>
          </p:nvPr>
        </p:nvSpPr>
        <p:spPr/>
        <p:txBody>
          <a:bodyPr/>
          <a:lstStyle/>
          <a:p>
            <a:fld id="{B7C7A0D1-9C4B-4F0E-8E9E-0C2A1F5B0015}" type="slidenum">
              <a:rPr lang="en-US"/>
              <a:t>15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2E6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2E67"/>
          </a:solidFill>
          <a:ln w="12700">
            <a:solidFill>
              <a:srgbClr val="082E67"/>
            </a:solidFill>
            <a:prstDash val="solid"/>
          </a:ln>
        </p:spPr>
        <p:txBody>
          <a:bodyPr/>
          <a:lstStyle/>
          <a:p>
            <a:endParaRPr lang="en-US" dirty="0"/>
          </a:p>
        </p:txBody>
      </p:sp>
      <p:sp>
        <p:nvSpPr>
          <p:cNvPr id="3" name="Shape 1"/>
          <p:cNvSpPr/>
          <p:nvPr/>
        </p:nvSpPr>
        <p:spPr>
          <a:xfrm>
            <a:off x="7863840" y="-1325880"/>
            <a:ext cx="5852160" cy="5852160"/>
          </a:xfrm>
          <a:prstGeom prst="arc">
            <a:avLst/>
          </a:prstGeom>
          <a:solidFill>
            <a:srgbClr val="082E67">
              <a:alpha val="0"/>
            </a:srgbClr>
          </a:solidFill>
          <a:ln w="25400">
            <a:solidFill>
              <a:srgbClr val="247BE9">
                <a:alpha val="55000"/>
              </a:srgbClr>
            </a:solidFill>
            <a:prstDash val="solid"/>
          </a:ln>
        </p:spPr>
        <p:txBody>
          <a:bodyPr/>
          <a:lstStyle/>
          <a:p>
            <a:endParaRPr lang="en-US"/>
          </a:p>
        </p:txBody>
      </p:sp>
      <p:sp>
        <p:nvSpPr>
          <p:cNvPr id="4" name="Shape 2"/>
          <p:cNvSpPr/>
          <p:nvPr/>
        </p:nvSpPr>
        <p:spPr>
          <a:xfrm>
            <a:off x="9052560" y="2377440"/>
            <a:ext cx="3840480" cy="3840480"/>
          </a:xfrm>
          <a:prstGeom prst="arc">
            <a:avLst/>
          </a:prstGeom>
          <a:solidFill>
            <a:srgbClr val="082E67">
              <a:alpha val="0"/>
            </a:srgbClr>
          </a:solidFill>
          <a:ln w="25400">
            <a:solidFill>
              <a:srgbClr val="67A9FF">
                <a:alpha val="50000"/>
              </a:srgbClr>
            </a:solidFill>
            <a:prstDash val="solid"/>
          </a:ln>
        </p:spPr>
        <p:txBody>
          <a:bodyPr/>
          <a:lstStyle/>
          <a:p>
            <a:endParaRPr lang="en-US"/>
          </a:p>
        </p:txBody>
      </p:sp>
      <p:sp>
        <p:nvSpPr>
          <p:cNvPr id="5" name="Shape 3"/>
          <p:cNvSpPr/>
          <p:nvPr/>
        </p:nvSpPr>
        <p:spPr>
          <a:xfrm>
            <a:off x="640080" y="914400"/>
            <a:ext cx="2240280" cy="310896"/>
          </a:xfrm>
          <a:prstGeom prst="roundRect">
            <a:avLst>
              <a:gd name="adj" fmla="val 23529"/>
            </a:avLst>
          </a:prstGeom>
          <a:solidFill>
            <a:srgbClr val="0964DA"/>
          </a:solidFill>
          <a:ln w="12700">
            <a:solidFill>
              <a:srgbClr val="0964DA"/>
            </a:solidFill>
            <a:prstDash val="solid"/>
          </a:ln>
        </p:spPr>
        <p:txBody>
          <a:bodyPr/>
          <a:lstStyle/>
          <a:p>
            <a:endParaRPr lang="en-US"/>
          </a:p>
        </p:txBody>
      </p:sp>
      <p:sp>
        <p:nvSpPr>
          <p:cNvPr id="6" name="Text 4"/>
          <p:cNvSpPr/>
          <p:nvPr/>
        </p:nvSpPr>
        <p:spPr>
          <a:xfrm>
            <a:off x="640080" y="973836"/>
            <a:ext cx="2240280" cy="146304"/>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UNDERGRADUATE PROJECT DEFENCE</a:t>
            </a:r>
            <a:endParaRPr lang="en-US" sz="850" dirty="0"/>
          </a:p>
        </p:txBody>
      </p:sp>
      <p:sp>
        <p:nvSpPr>
          <p:cNvPr id="7" name="Text 5"/>
          <p:cNvSpPr/>
          <p:nvPr/>
        </p:nvSpPr>
        <p:spPr>
          <a:xfrm>
            <a:off x="640080" y="1481328"/>
            <a:ext cx="7635240" cy="1078992"/>
          </a:xfrm>
          <a:prstGeom prst="rect">
            <a:avLst/>
          </a:prstGeom>
          <a:noFill/>
          <a:ln/>
        </p:spPr>
        <p:txBody>
          <a:bodyPr wrap="square" lIns="0" tIns="0" rIns="0" bIns="0" rtlCol="0" anchor="ct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Design and Implementation of a Secure E-Learning Platform</a:t>
            </a:r>
            <a:endParaRPr lang="en-US" sz="3100" dirty="0"/>
          </a:p>
        </p:txBody>
      </p:sp>
      <p:sp>
        <p:nvSpPr>
          <p:cNvPr id="8" name="Text 6"/>
          <p:cNvSpPr/>
          <p:nvPr/>
        </p:nvSpPr>
        <p:spPr>
          <a:xfrm>
            <a:off x="658368" y="2770632"/>
            <a:ext cx="7132320" cy="320040"/>
          </a:xfrm>
          <a:prstGeom prst="rect">
            <a:avLst/>
          </a:prstGeom>
          <a:noFill/>
          <a:ln/>
        </p:spPr>
        <p:txBody>
          <a:bodyPr wrap="square" lIns="0" tIns="0" rIns="0" bIns="0" rtlCol="0" anchor="ctr"/>
          <a:lstStyle/>
          <a:p>
            <a:pPr marL="0" indent="0">
              <a:buNone/>
            </a:pPr>
            <a:r>
              <a:rPr lang="en-US" sz="1700" dirty="0">
                <a:solidFill>
                  <a:srgbClr val="C9DCFF"/>
                </a:solidFill>
                <a:latin typeface="Aptos" pitchFamily="34" charset="0"/>
                <a:ea typeface="Aptos" pitchFamily="34" charset="-122"/>
                <a:cs typeface="Aptos" pitchFamily="34" charset="-120"/>
              </a:rPr>
              <a:t>A web-based marketplace for students, instructors, and administrators</a:t>
            </a:r>
            <a:endParaRPr lang="en-US" sz="1700" dirty="0"/>
          </a:p>
        </p:txBody>
      </p:sp>
      <p:sp>
        <p:nvSpPr>
          <p:cNvPr id="9" name="Shape 7"/>
          <p:cNvSpPr/>
          <p:nvPr/>
        </p:nvSpPr>
        <p:spPr>
          <a:xfrm>
            <a:off x="658368" y="3419856"/>
            <a:ext cx="3840480" cy="0"/>
          </a:xfrm>
          <a:prstGeom prst="line">
            <a:avLst/>
          </a:prstGeom>
          <a:noFill/>
          <a:ln w="15240">
            <a:solidFill>
              <a:srgbClr val="4B91F5"/>
            </a:solidFill>
            <a:prstDash val="solid"/>
          </a:ln>
        </p:spPr>
        <p:txBody>
          <a:bodyPr/>
          <a:lstStyle/>
          <a:p>
            <a:endParaRPr lang="en-US"/>
          </a:p>
        </p:txBody>
      </p:sp>
      <p:sp>
        <p:nvSpPr>
          <p:cNvPr id="10" name="Text 8"/>
          <p:cNvSpPr/>
          <p:nvPr/>
        </p:nvSpPr>
        <p:spPr>
          <a:xfrm>
            <a:off x="658368" y="3703320"/>
            <a:ext cx="5212080" cy="914400"/>
          </a:xfrm>
          <a:prstGeom prst="rect">
            <a:avLst/>
          </a:prstGeom>
          <a:noFill/>
          <a:ln/>
        </p:spPr>
        <p:txBody>
          <a:bodyPr wrap="square" lIns="0" tIns="0" rIns="0" bIns="0" rtlCol="0" anchor="ctr"/>
          <a:lstStyle/>
          <a:p>
            <a:pPr marL="0" indent="0">
              <a:buNone/>
            </a:pPr>
            <a:r>
              <a:rPr lang="en-US" sz="1450" dirty="0">
                <a:solidFill>
                  <a:srgbClr val="FFFFFF"/>
                </a:solidFill>
                <a:latin typeface="Aptos" pitchFamily="34" charset="0"/>
                <a:ea typeface="Aptos" pitchFamily="34" charset="-122"/>
                <a:cs typeface="Aptos" pitchFamily="34" charset="-120"/>
              </a:rPr>
              <a:t>Prepared by: [Your Full Name]</a:t>
            </a:r>
            <a:endParaRPr lang="en-US" sz="1450" dirty="0"/>
          </a:p>
          <a:p>
            <a:pPr marL="0" indent="0">
              <a:buNone/>
            </a:pPr>
            <a:r>
              <a:rPr lang="en-US" sz="1450" dirty="0">
                <a:solidFill>
                  <a:srgbClr val="FFFFFF"/>
                </a:solidFill>
                <a:latin typeface="Aptos" pitchFamily="34" charset="0"/>
                <a:ea typeface="Aptos" pitchFamily="34" charset="-122"/>
                <a:cs typeface="Aptos" pitchFamily="34" charset="-120"/>
              </a:rPr>
              <a:t>Index Number: [Your Index Number]</a:t>
            </a:r>
            <a:endParaRPr lang="en-US" sz="1450" dirty="0"/>
          </a:p>
          <a:p>
            <a:pPr marL="0" indent="0">
              <a:buNone/>
            </a:pPr>
            <a:r>
              <a:rPr lang="en-US" sz="1450" dirty="0">
                <a:solidFill>
                  <a:srgbClr val="FFFFFF"/>
                </a:solidFill>
                <a:latin typeface="Aptos" pitchFamily="34" charset="0"/>
                <a:ea typeface="Aptos" pitchFamily="34" charset="-122"/>
                <a:cs typeface="Aptos" pitchFamily="34" charset="-120"/>
              </a:rPr>
              <a:t>Computer Science Department, Kumasi Technical University</a:t>
            </a:r>
            <a:endParaRPr lang="en-US" sz="1450" dirty="0"/>
          </a:p>
        </p:txBody>
      </p:sp>
      <p:sp>
        <p:nvSpPr>
          <p:cNvPr id="11" name="Text 9"/>
          <p:cNvSpPr/>
          <p:nvPr/>
        </p:nvSpPr>
        <p:spPr>
          <a:xfrm>
            <a:off x="658368" y="4956048"/>
            <a:ext cx="4206240" cy="502920"/>
          </a:xfrm>
          <a:prstGeom prst="rect">
            <a:avLst/>
          </a:prstGeom>
          <a:noFill/>
          <a:ln/>
        </p:spPr>
        <p:txBody>
          <a:bodyPr wrap="square" lIns="0" tIns="0" rIns="0" bIns="0" rtlCol="0" anchor="ctr"/>
          <a:lstStyle/>
          <a:p>
            <a:pPr marL="0" indent="0">
              <a:buNone/>
            </a:pPr>
            <a:r>
              <a:rPr lang="en-US" sz="1200" dirty="0">
                <a:solidFill>
                  <a:srgbClr val="C9DCFF"/>
                </a:solidFill>
                <a:latin typeface="Aptos" pitchFamily="34" charset="0"/>
                <a:ea typeface="Aptos" pitchFamily="34" charset="-122"/>
                <a:cs typeface="Aptos" pitchFamily="34" charset="-120"/>
              </a:rPr>
              <a:t>Supervisor: [Supervisor’s Name]</a:t>
            </a:r>
            <a:endParaRPr lang="en-US" sz="1200" dirty="0"/>
          </a:p>
          <a:p>
            <a:pPr marL="0" indent="0">
              <a:buNone/>
            </a:pPr>
            <a:r>
              <a:rPr lang="en-US" sz="1200" dirty="0">
                <a:solidFill>
                  <a:srgbClr val="C9DCFF"/>
                </a:solidFill>
                <a:latin typeface="Aptos" pitchFamily="34" charset="0"/>
                <a:ea typeface="Aptos" pitchFamily="34" charset="-122"/>
                <a:cs typeface="Aptos" pitchFamily="34" charset="-120"/>
              </a:rPr>
              <a:t>July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964DA"/>
          </a:solidFill>
          <a:ln w="12700">
            <a:solidFill>
              <a:srgbClr val="0964DA"/>
            </a:solidFill>
            <a:prstDash val="solid"/>
          </a:ln>
        </p:spPr>
        <p:txBody>
          <a:bodyPr/>
          <a:lstStyle/>
          <a:p>
            <a:endParaRPr lang="en-US"/>
          </a:p>
        </p:txBody>
      </p:sp>
      <p:sp>
        <p:nvSpPr>
          <p:cNvPr id="3" name="Text 1"/>
          <p:cNvSpPr/>
          <p:nvPr/>
        </p:nvSpPr>
        <p:spPr>
          <a:xfrm>
            <a:off x="411480" y="6510528"/>
            <a:ext cx="5120640" cy="164592"/>
          </a:xfrm>
          <a:prstGeom prst="rect">
            <a:avLst/>
          </a:prstGeom>
          <a:noFill/>
          <a:ln/>
        </p:spPr>
        <p:txBody>
          <a:bodyPr wrap="square" lIns="0" tIns="0" rIns="0" bIns="0" rtlCol="0" anchor="ctr"/>
          <a:lstStyle/>
          <a:p>
            <a:pPr marL="0" indent="0">
              <a:buNone/>
            </a:pPr>
            <a:r>
              <a:rPr lang="en-US" sz="750" dirty="0">
                <a:solidFill>
                  <a:srgbClr val="5A6675"/>
                </a:solidFill>
                <a:latin typeface="Aptos" pitchFamily="34" charset="0"/>
                <a:ea typeface="Aptos" pitchFamily="34" charset="-122"/>
                <a:cs typeface="Aptos" pitchFamily="34" charset="-120"/>
              </a:rPr>
              <a:t>E-Learning Platform Project Defence</a:t>
            </a:r>
            <a:endParaRPr lang="en-US" sz="750" dirty="0"/>
          </a:p>
        </p:txBody>
      </p:sp>
      <p:sp>
        <p:nvSpPr>
          <p:cNvPr id="4" name="Text 2"/>
          <p:cNvSpPr/>
          <p:nvPr/>
        </p:nvSpPr>
        <p:spPr>
          <a:xfrm>
            <a:off x="11384280" y="6492240"/>
            <a:ext cx="365760" cy="164592"/>
          </a:xfrm>
          <a:prstGeom prst="rect">
            <a:avLst/>
          </a:prstGeom>
          <a:noFill/>
          <a:ln/>
        </p:spPr>
        <p:txBody>
          <a:bodyPr wrap="square" lIns="0" tIns="0" rIns="0" bIns="0" rtlCol="0" anchor="ctr"/>
          <a:lstStyle/>
          <a:p>
            <a:pPr marL="0" indent="0" algn="r">
              <a:buNone/>
            </a:pPr>
            <a:r>
              <a:rPr lang="en-US" sz="800" dirty="0">
                <a:solidFill>
                  <a:srgbClr val="5A6675"/>
                </a:solidFill>
                <a:latin typeface="Aptos" pitchFamily="34" charset="0"/>
                <a:ea typeface="Aptos" pitchFamily="34" charset="-122"/>
                <a:cs typeface="Aptos" pitchFamily="34" charset="-120"/>
              </a:rPr>
              <a:t>2</a:t>
            </a:r>
            <a:endParaRPr lang="en-US" sz="800" dirty="0"/>
          </a:p>
        </p:txBody>
      </p:sp>
      <p:sp>
        <p:nvSpPr>
          <p:cNvPr id="5" name="Text 3"/>
          <p:cNvSpPr/>
          <p:nvPr/>
        </p:nvSpPr>
        <p:spPr>
          <a:xfrm>
            <a:off x="502920" y="411480"/>
            <a:ext cx="11064240" cy="411480"/>
          </a:xfrm>
          <a:prstGeom prst="rect">
            <a:avLst/>
          </a:prstGeom>
          <a:noFill/>
          <a:ln/>
        </p:spPr>
        <p:txBody>
          <a:bodyPr wrap="square" lIns="0" tIns="0" rIns="0" bIns="0" rtlCol="0" anchor="ctr"/>
          <a:lstStyle/>
          <a:p>
            <a:pPr marL="0" indent="0">
              <a:buNone/>
            </a:pPr>
            <a:r>
              <a:rPr lang="en-US" sz="2500" b="1" dirty="0">
                <a:solidFill>
                  <a:srgbClr val="082E67"/>
                </a:solidFill>
                <a:latin typeface="Aptos Display" pitchFamily="34" charset="0"/>
                <a:ea typeface="Aptos Display" pitchFamily="34" charset="-122"/>
                <a:cs typeface="Aptos Display" pitchFamily="34" charset="-120"/>
              </a:rPr>
              <a:t>Background and Problem</a:t>
            </a:r>
            <a:endParaRPr lang="en-US" sz="2500" dirty="0"/>
          </a:p>
        </p:txBody>
      </p:sp>
      <p:sp>
        <p:nvSpPr>
          <p:cNvPr id="6" name="Text 4"/>
          <p:cNvSpPr/>
          <p:nvPr/>
        </p:nvSpPr>
        <p:spPr>
          <a:xfrm>
            <a:off x="530352" y="868680"/>
            <a:ext cx="10789920" cy="228600"/>
          </a:xfrm>
          <a:prstGeom prst="rect">
            <a:avLst/>
          </a:prstGeom>
          <a:noFill/>
          <a:ln/>
        </p:spPr>
        <p:txBody>
          <a:bodyPr wrap="square" lIns="0" tIns="0" rIns="0" bIns="0" rtlCol="0" anchor="ctr"/>
          <a:lstStyle/>
          <a:p>
            <a:pPr marL="0" indent="0">
              <a:buNone/>
            </a:pPr>
            <a:r>
              <a:rPr lang="en-US" sz="1050" dirty="0">
                <a:solidFill>
                  <a:srgbClr val="5A6675"/>
                </a:solidFill>
                <a:latin typeface="Aptos" pitchFamily="34" charset="0"/>
                <a:ea typeface="Aptos" pitchFamily="34" charset="-122"/>
                <a:cs typeface="Aptos" pitchFamily="34" charset="-120"/>
              </a:rPr>
              <a:t>Why the proposed platform was needed</a:t>
            </a:r>
            <a:endParaRPr lang="en-US" sz="1050" dirty="0"/>
          </a:p>
        </p:txBody>
      </p:sp>
      <p:sp>
        <p:nvSpPr>
          <p:cNvPr id="7" name="Shape 5"/>
          <p:cNvSpPr/>
          <p:nvPr/>
        </p:nvSpPr>
        <p:spPr>
          <a:xfrm>
            <a:off x="502920" y="1170432"/>
            <a:ext cx="11155680" cy="0"/>
          </a:xfrm>
          <a:prstGeom prst="line">
            <a:avLst/>
          </a:prstGeom>
          <a:noFill/>
          <a:ln w="12700">
            <a:solidFill>
              <a:srgbClr val="D9E2EF"/>
            </a:solidFill>
            <a:prstDash val="solid"/>
          </a:ln>
        </p:spPr>
        <p:txBody>
          <a:bodyPr/>
          <a:lstStyle/>
          <a:p>
            <a:endParaRPr lang="en-US"/>
          </a:p>
        </p:txBody>
      </p:sp>
      <p:sp>
        <p:nvSpPr>
          <p:cNvPr id="8" name="Shape 6"/>
          <p:cNvSpPr/>
          <p:nvPr/>
        </p:nvSpPr>
        <p:spPr>
          <a:xfrm>
            <a:off x="594360" y="1508760"/>
            <a:ext cx="5349240" cy="4434840"/>
          </a:xfrm>
          <a:prstGeom prst="roundRect">
            <a:avLst>
              <a:gd name="adj" fmla="val 1237"/>
            </a:avLst>
          </a:prstGeom>
          <a:solidFill>
            <a:srgbClr val="F6F9FE"/>
          </a:solidFill>
          <a:ln w="12700">
            <a:solidFill>
              <a:srgbClr val="D9E2EF"/>
            </a:solidFill>
            <a:prstDash val="solid"/>
          </a:ln>
        </p:spPr>
        <p:txBody>
          <a:bodyPr/>
          <a:lstStyle/>
          <a:p>
            <a:endParaRPr lang="en-US"/>
          </a:p>
        </p:txBody>
      </p:sp>
      <p:sp>
        <p:nvSpPr>
          <p:cNvPr id="9" name="Text 7"/>
          <p:cNvSpPr/>
          <p:nvPr/>
        </p:nvSpPr>
        <p:spPr>
          <a:xfrm>
            <a:off x="868680" y="1783080"/>
            <a:ext cx="4114800" cy="274320"/>
          </a:xfrm>
          <a:prstGeom prst="rect">
            <a:avLst/>
          </a:prstGeom>
          <a:noFill/>
          <a:ln/>
        </p:spPr>
        <p:txBody>
          <a:bodyPr wrap="square" lIns="0" tIns="0" rIns="0" bIns="0" rtlCol="0" anchor="ctr"/>
          <a:lstStyle/>
          <a:p>
            <a:pPr marL="0" indent="0">
              <a:buNone/>
            </a:pPr>
            <a:r>
              <a:rPr lang="en-US" sz="1800" b="1" dirty="0">
                <a:solidFill>
                  <a:srgbClr val="082E67"/>
                </a:solidFill>
              </a:rPr>
              <a:t>What is happening</a:t>
            </a:r>
            <a:endParaRPr lang="en-US" sz="1800" dirty="0"/>
          </a:p>
        </p:txBody>
      </p:sp>
      <p:sp>
        <p:nvSpPr>
          <p:cNvPr id="10" name="Text 8"/>
          <p:cNvSpPr/>
          <p:nvPr/>
        </p:nvSpPr>
        <p:spPr>
          <a:xfrm>
            <a:off x="868680" y="2240280"/>
            <a:ext cx="4617720" cy="2468880"/>
          </a:xfrm>
          <a:prstGeom prst="rect">
            <a:avLst/>
          </a:prstGeom>
          <a:noFill/>
          <a:ln/>
        </p:spPr>
        <p:txBody>
          <a:bodyPr wrap="square" lIns="508" tIns="508" rIns="508" bIns="508" rtlCol="0" anchor="t"/>
          <a:lstStyle/>
          <a:p>
            <a:pPr marL="228600" indent="-228600">
              <a:buSzPct val="100000"/>
              <a:buChar char="•"/>
            </a:pPr>
            <a:r>
              <a:rPr lang="en-US" sz="1600" dirty="0">
                <a:solidFill>
                  <a:srgbClr val="13233A"/>
                </a:solidFill>
                <a:latin typeface="Aptos" pitchFamily="34" charset="0"/>
                <a:ea typeface="Aptos" pitchFamily="34" charset="-122"/>
                <a:cs typeface="Aptos" pitchFamily="34" charset="-120"/>
              </a:rPr>
              <a:t>E-learning gives learners flexible access to skills and course materials.</a:t>
            </a:r>
            <a:endParaRPr lang="en-US" sz="1600" dirty="0"/>
          </a:p>
          <a:p>
            <a:pPr marL="228600" indent="-228600">
              <a:buSzPct val="100000"/>
              <a:buChar char="•"/>
            </a:pPr>
            <a:r>
              <a:rPr lang="en-US" sz="1600" dirty="0">
                <a:solidFill>
                  <a:srgbClr val="13233A"/>
                </a:solidFill>
                <a:latin typeface="Aptos" pitchFamily="34" charset="0"/>
                <a:ea typeface="Aptos" pitchFamily="34" charset="-122"/>
                <a:cs typeface="Aptos" pitchFamily="34" charset="-120"/>
              </a:rPr>
              <a:t>Independent instructors need a reliable way to publish and earn from courses.</a:t>
            </a:r>
            <a:endParaRPr lang="en-US" sz="1600" dirty="0"/>
          </a:p>
          <a:p>
            <a:pPr marL="228600" indent="-228600">
              <a:buSzPct val="100000"/>
              <a:buChar char="•"/>
            </a:pPr>
            <a:r>
              <a:rPr lang="en-US" sz="1600" dirty="0">
                <a:solidFill>
                  <a:srgbClr val="13233A"/>
                </a:solidFill>
                <a:latin typeface="Aptos" pitchFamily="34" charset="0"/>
                <a:ea typeface="Aptos" pitchFamily="34" charset="-122"/>
                <a:cs typeface="Aptos" pitchFamily="34" charset="-120"/>
              </a:rPr>
              <a:t>The African setting needs support for local payment options.</a:t>
            </a:r>
            <a:endParaRPr lang="en-US" sz="1600" dirty="0"/>
          </a:p>
        </p:txBody>
      </p:sp>
      <p:sp>
        <p:nvSpPr>
          <p:cNvPr id="11" name="Shape 9"/>
          <p:cNvSpPr/>
          <p:nvPr/>
        </p:nvSpPr>
        <p:spPr>
          <a:xfrm>
            <a:off x="6263640" y="1508760"/>
            <a:ext cx="5349240" cy="4434840"/>
          </a:xfrm>
          <a:prstGeom prst="roundRect">
            <a:avLst>
              <a:gd name="adj" fmla="val 1237"/>
            </a:avLst>
          </a:prstGeom>
          <a:solidFill>
            <a:srgbClr val="FFF7ED"/>
          </a:solidFill>
          <a:ln w="12700">
            <a:solidFill>
              <a:srgbClr val="FCD9AA"/>
            </a:solidFill>
            <a:prstDash val="solid"/>
          </a:ln>
        </p:spPr>
        <p:txBody>
          <a:bodyPr/>
          <a:lstStyle/>
          <a:p>
            <a:endParaRPr lang="en-US"/>
          </a:p>
        </p:txBody>
      </p:sp>
      <p:sp>
        <p:nvSpPr>
          <p:cNvPr id="12" name="Text 10"/>
          <p:cNvSpPr/>
          <p:nvPr/>
        </p:nvSpPr>
        <p:spPr>
          <a:xfrm>
            <a:off x="6537960" y="1783080"/>
            <a:ext cx="4114800" cy="274320"/>
          </a:xfrm>
          <a:prstGeom prst="rect">
            <a:avLst/>
          </a:prstGeom>
          <a:noFill/>
          <a:ln/>
        </p:spPr>
        <p:txBody>
          <a:bodyPr wrap="square" lIns="0" tIns="0" rIns="0" bIns="0" rtlCol="0" anchor="ctr"/>
          <a:lstStyle/>
          <a:p>
            <a:pPr marL="0" indent="0">
              <a:buNone/>
            </a:pPr>
            <a:r>
              <a:rPr lang="en-US" sz="1800" b="1" dirty="0">
                <a:solidFill>
                  <a:srgbClr val="9A4E00"/>
                </a:solidFill>
              </a:rPr>
              <a:t>The problem</a:t>
            </a:r>
            <a:endParaRPr lang="en-US" sz="1800" dirty="0"/>
          </a:p>
        </p:txBody>
      </p:sp>
      <p:sp>
        <p:nvSpPr>
          <p:cNvPr id="13" name="Text 11"/>
          <p:cNvSpPr/>
          <p:nvPr/>
        </p:nvSpPr>
        <p:spPr>
          <a:xfrm>
            <a:off x="6537960" y="2240280"/>
            <a:ext cx="4617720" cy="2560320"/>
          </a:xfrm>
          <a:prstGeom prst="rect">
            <a:avLst/>
          </a:prstGeom>
          <a:noFill/>
          <a:ln/>
        </p:spPr>
        <p:txBody>
          <a:bodyPr wrap="square" lIns="508" tIns="508" rIns="508" bIns="508" rtlCol="0" anchor="t"/>
          <a:lstStyle/>
          <a:p>
            <a:pPr marL="228600" indent="-228600">
              <a:buSzPct val="100000"/>
              <a:buChar char="•"/>
            </a:pPr>
            <a:r>
              <a:rPr lang="en-US" sz="1600" dirty="0">
                <a:solidFill>
                  <a:srgbClr val="13233A"/>
                </a:solidFill>
                <a:latin typeface="Aptos" pitchFamily="34" charset="0"/>
                <a:ea typeface="Aptos" pitchFamily="34" charset="-122"/>
                <a:cs typeface="Aptos" pitchFamily="34" charset="-120"/>
              </a:rPr>
              <a:t>Many global platforms rely on payment methods that are not convenient for every local learner.</a:t>
            </a:r>
            <a:endParaRPr lang="en-US" sz="1600" dirty="0"/>
          </a:p>
          <a:p>
            <a:pPr marL="228600" indent="-228600">
              <a:buSzPct val="100000"/>
              <a:buChar char="•"/>
            </a:pPr>
            <a:r>
              <a:rPr lang="en-US" sz="1600" dirty="0">
                <a:solidFill>
                  <a:srgbClr val="13233A"/>
                </a:solidFill>
                <a:latin typeface="Aptos" pitchFamily="34" charset="0"/>
                <a:ea typeface="Aptos" pitchFamily="34" charset="-122"/>
                <a:cs typeface="Aptos" pitchFamily="34" charset="-120"/>
              </a:rPr>
              <a:t>Open marketplaces can expose students to unreviewed course content.</a:t>
            </a:r>
            <a:endParaRPr lang="en-US" sz="1600" dirty="0"/>
          </a:p>
          <a:p>
            <a:pPr marL="228600" indent="-228600">
              <a:buSzPct val="100000"/>
              <a:buChar char="•"/>
            </a:pPr>
            <a:r>
              <a:rPr lang="en-US" sz="1600" dirty="0">
                <a:solidFill>
                  <a:srgbClr val="13233A"/>
                </a:solidFill>
                <a:latin typeface="Aptos" pitchFamily="34" charset="0"/>
                <a:ea typeface="Aptos" pitchFamily="34" charset="-122"/>
                <a:cs typeface="Aptos" pitchFamily="34" charset="-120"/>
              </a:rPr>
              <a:t>A platform handling money needs strong security, clear access control, and traceable actions.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964DA"/>
          </a:solidFill>
          <a:ln w="12700">
            <a:solidFill>
              <a:srgbClr val="0964DA"/>
            </a:solidFill>
            <a:prstDash val="solid"/>
          </a:ln>
        </p:spPr>
        <p:txBody>
          <a:bodyPr/>
          <a:lstStyle/>
          <a:p>
            <a:endParaRPr lang="en-US"/>
          </a:p>
        </p:txBody>
      </p:sp>
      <p:sp>
        <p:nvSpPr>
          <p:cNvPr id="3" name="Text 1"/>
          <p:cNvSpPr/>
          <p:nvPr/>
        </p:nvSpPr>
        <p:spPr>
          <a:xfrm>
            <a:off x="411480" y="6510528"/>
            <a:ext cx="5120640" cy="164592"/>
          </a:xfrm>
          <a:prstGeom prst="rect">
            <a:avLst/>
          </a:prstGeom>
          <a:noFill/>
          <a:ln/>
        </p:spPr>
        <p:txBody>
          <a:bodyPr wrap="square" lIns="0" tIns="0" rIns="0" bIns="0" rtlCol="0" anchor="ctr"/>
          <a:lstStyle/>
          <a:p>
            <a:pPr marL="0" indent="0">
              <a:buNone/>
            </a:pPr>
            <a:r>
              <a:rPr lang="en-US" sz="750" dirty="0">
                <a:solidFill>
                  <a:srgbClr val="5A6675"/>
                </a:solidFill>
                <a:latin typeface="Aptos" pitchFamily="34" charset="0"/>
                <a:ea typeface="Aptos" pitchFamily="34" charset="-122"/>
                <a:cs typeface="Aptos" pitchFamily="34" charset="-120"/>
              </a:rPr>
              <a:t>E-Learning Platform Project Defence</a:t>
            </a:r>
            <a:endParaRPr lang="en-US" sz="750" dirty="0"/>
          </a:p>
        </p:txBody>
      </p:sp>
      <p:sp>
        <p:nvSpPr>
          <p:cNvPr id="4" name="Text 2"/>
          <p:cNvSpPr/>
          <p:nvPr/>
        </p:nvSpPr>
        <p:spPr>
          <a:xfrm>
            <a:off x="11384280" y="6492240"/>
            <a:ext cx="365760" cy="164592"/>
          </a:xfrm>
          <a:prstGeom prst="rect">
            <a:avLst/>
          </a:prstGeom>
          <a:noFill/>
          <a:ln/>
        </p:spPr>
        <p:txBody>
          <a:bodyPr wrap="square" lIns="0" tIns="0" rIns="0" bIns="0" rtlCol="0" anchor="ctr"/>
          <a:lstStyle/>
          <a:p>
            <a:pPr marL="0" indent="0" algn="r">
              <a:buNone/>
            </a:pPr>
            <a:r>
              <a:rPr lang="en-US" sz="800" dirty="0">
                <a:solidFill>
                  <a:srgbClr val="5A6675"/>
                </a:solidFill>
                <a:latin typeface="Aptos" pitchFamily="34" charset="0"/>
                <a:ea typeface="Aptos" pitchFamily="34" charset="-122"/>
                <a:cs typeface="Aptos" pitchFamily="34" charset="-120"/>
              </a:rPr>
              <a:t>3</a:t>
            </a:r>
            <a:endParaRPr lang="en-US" sz="800" dirty="0"/>
          </a:p>
        </p:txBody>
      </p:sp>
      <p:sp>
        <p:nvSpPr>
          <p:cNvPr id="5" name="Text 3"/>
          <p:cNvSpPr/>
          <p:nvPr/>
        </p:nvSpPr>
        <p:spPr>
          <a:xfrm>
            <a:off x="502920" y="411480"/>
            <a:ext cx="11064240" cy="411480"/>
          </a:xfrm>
          <a:prstGeom prst="rect">
            <a:avLst/>
          </a:prstGeom>
          <a:noFill/>
          <a:ln/>
        </p:spPr>
        <p:txBody>
          <a:bodyPr wrap="square" lIns="0" tIns="0" rIns="0" bIns="0" rtlCol="0" anchor="ctr"/>
          <a:lstStyle/>
          <a:p>
            <a:pPr marL="0" indent="0">
              <a:buNone/>
            </a:pPr>
            <a:r>
              <a:rPr lang="en-US" sz="2500" b="1" dirty="0">
                <a:solidFill>
                  <a:srgbClr val="082E67"/>
                </a:solidFill>
                <a:latin typeface="Aptos Display" pitchFamily="34" charset="0"/>
                <a:ea typeface="Aptos Display" pitchFamily="34" charset="-122"/>
                <a:cs typeface="Aptos Display" pitchFamily="34" charset="-120"/>
              </a:rPr>
              <a:t>Aim and Objectives</a:t>
            </a:r>
            <a:endParaRPr lang="en-US" sz="2500" dirty="0"/>
          </a:p>
        </p:txBody>
      </p:sp>
      <p:sp>
        <p:nvSpPr>
          <p:cNvPr id="6" name="Text 4"/>
          <p:cNvSpPr/>
          <p:nvPr/>
        </p:nvSpPr>
        <p:spPr>
          <a:xfrm>
            <a:off x="530352" y="868680"/>
            <a:ext cx="10789920" cy="228600"/>
          </a:xfrm>
          <a:prstGeom prst="rect">
            <a:avLst/>
          </a:prstGeom>
          <a:noFill/>
          <a:ln/>
        </p:spPr>
        <p:txBody>
          <a:bodyPr wrap="square" lIns="0" tIns="0" rIns="0" bIns="0" rtlCol="0" anchor="ctr"/>
          <a:lstStyle/>
          <a:p>
            <a:pPr marL="0" indent="0">
              <a:buNone/>
            </a:pPr>
            <a:r>
              <a:rPr lang="en-US" sz="1050" dirty="0">
                <a:solidFill>
                  <a:srgbClr val="5A6675"/>
                </a:solidFill>
                <a:latin typeface="Aptos" pitchFamily="34" charset="0"/>
                <a:ea typeface="Aptos" pitchFamily="34" charset="-122"/>
                <a:cs typeface="Aptos" pitchFamily="34" charset="-120"/>
              </a:rPr>
              <a:t>What the project set out to achieve</a:t>
            </a:r>
            <a:endParaRPr lang="en-US" sz="1050" dirty="0"/>
          </a:p>
        </p:txBody>
      </p:sp>
      <p:sp>
        <p:nvSpPr>
          <p:cNvPr id="7" name="Shape 5"/>
          <p:cNvSpPr/>
          <p:nvPr/>
        </p:nvSpPr>
        <p:spPr>
          <a:xfrm>
            <a:off x="502920" y="1170432"/>
            <a:ext cx="11155680" cy="0"/>
          </a:xfrm>
          <a:prstGeom prst="line">
            <a:avLst/>
          </a:prstGeom>
          <a:noFill/>
          <a:ln w="12700">
            <a:solidFill>
              <a:srgbClr val="D9E2EF"/>
            </a:solidFill>
            <a:prstDash val="solid"/>
          </a:ln>
        </p:spPr>
        <p:txBody>
          <a:bodyPr/>
          <a:lstStyle/>
          <a:p>
            <a:endParaRPr lang="en-US"/>
          </a:p>
        </p:txBody>
      </p:sp>
      <p:sp>
        <p:nvSpPr>
          <p:cNvPr id="8" name="Shape 6"/>
          <p:cNvSpPr/>
          <p:nvPr/>
        </p:nvSpPr>
        <p:spPr>
          <a:xfrm>
            <a:off x="594360" y="1417320"/>
            <a:ext cx="10972800" cy="868680"/>
          </a:xfrm>
          <a:prstGeom prst="roundRect">
            <a:avLst>
              <a:gd name="adj" fmla="val 6316"/>
            </a:avLst>
          </a:prstGeom>
          <a:solidFill>
            <a:srgbClr val="EAF2FF"/>
          </a:solidFill>
          <a:ln w="12700">
            <a:solidFill>
              <a:srgbClr val="C9DCF8"/>
            </a:solidFill>
            <a:prstDash val="solid"/>
          </a:ln>
        </p:spPr>
        <p:txBody>
          <a:bodyPr/>
          <a:lstStyle/>
          <a:p>
            <a:endParaRPr lang="en-US"/>
          </a:p>
        </p:txBody>
      </p:sp>
      <p:sp>
        <p:nvSpPr>
          <p:cNvPr id="9" name="Text 7"/>
          <p:cNvSpPr/>
          <p:nvPr/>
        </p:nvSpPr>
        <p:spPr>
          <a:xfrm>
            <a:off x="868680" y="1664208"/>
            <a:ext cx="10378440" cy="347472"/>
          </a:xfrm>
          <a:prstGeom prst="rect">
            <a:avLst/>
          </a:prstGeom>
          <a:noFill/>
          <a:ln/>
        </p:spPr>
        <p:txBody>
          <a:bodyPr wrap="square" lIns="0" tIns="0" rIns="0" bIns="0" rtlCol="0" anchor="ctr"/>
          <a:lstStyle/>
          <a:p>
            <a:pPr marL="0" indent="0">
              <a:buNone/>
            </a:pPr>
            <a:r>
              <a:rPr lang="en-US" sz="1650" b="1" dirty="0">
                <a:solidFill>
                  <a:srgbClr val="082E67"/>
                </a:solidFill>
              </a:rPr>
              <a:t>Aim: To design and implement a secure web-based e-learning marketplace with role-based course management, local payment, automated assessment, and transparent revenue sharing.</a:t>
            </a:r>
            <a:endParaRPr lang="en-US" sz="1650" dirty="0"/>
          </a:p>
        </p:txBody>
      </p:sp>
      <p:sp>
        <p:nvSpPr>
          <p:cNvPr id="10" name="Shape 8"/>
          <p:cNvSpPr/>
          <p:nvPr/>
        </p:nvSpPr>
        <p:spPr>
          <a:xfrm>
            <a:off x="822960" y="2715768"/>
            <a:ext cx="347472" cy="347472"/>
          </a:xfrm>
          <a:prstGeom prst="ellipse">
            <a:avLst/>
          </a:prstGeom>
          <a:solidFill>
            <a:srgbClr val="0964DA"/>
          </a:solidFill>
          <a:ln w="12700">
            <a:solidFill>
              <a:srgbClr val="0964DA"/>
            </a:solidFill>
            <a:prstDash val="solid"/>
          </a:ln>
        </p:spPr>
        <p:txBody>
          <a:bodyPr/>
          <a:lstStyle/>
          <a:p>
            <a:endParaRPr lang="en-US"/>
          </a:p>
        </p:txBody>
      </p:sp>
      <p:sp>
        <p:nvSpPr>
          <p:cNvPr id="11" name="Text 9"/>
          <p:cNvSpPr/>
          <p:nvPr/>
        </p:nvSpPr>
        <p:spPr>
          <a:xfrm>
            <a:off x="822960" y="2802636"/>
            <a:ext cx="347472" cy="91440"/>
          </a:xfrm>
          <a:prstGeom prst="rect">
            <a:avLst/>
          </a:prstGeom>
          <a:noFill/>
          <a:ln/>
        </p:spPr>
        <p:txBody>
          <a:bodyPr wrap="square" lIns="0" tIns="0" rIns="0" bIns="0" rtlCol="0" anchor="ctr"/>
          <a:lstStyle/>
          <a:p>
            <a:pPr marL="0" indent="0" algn="ctr">
              <a:buNone/>
            </a:pPr>
            <a:r>
              <a:rPr lang="en-US" sz="850" b="1" dirty="0">
                <a:solidFill>
                  <a:srgbClr val="FFFFFF"/>
                </a:solidFill>
              </a:rPr>
              <a:t>1</a:t>
            </a:r>
            <a:endParaRPr lang="en-US" sz="850" dirty="0"/>
          </a:p>
        </p:txBody>
      </p:sp>
      <p:sp>
        <p:nvSpPr>
          <p:cNvPr id="12" name="Text 10"/>
          <p:cNvSpPr/>
          <p:nvPr/>
        </p:nvSpPr>
        <p:spPr>
          <a:xfrm>
            <a:off x="1325880" y="2670048"/>
            <a:ext cx="4663440" cy="594360"/>
          </a:xfrm>
          <a:prstGeom prst="rect">
            <a:avLst/>
          </a:prstGeom>
          <a:noFill/>
          <a:ln/>
        </p:spPr>
        <p:txBody>
          <a:bodyPr wrap="square" lIns="0" tIns="0" rIns="0" bIns="0" rtlCol="0" anchor="ctr"/>
          <a:lstStyle/>
          <a:p>
            <a:pPr marL="0" indent="0">
              <a:buNone/>
            </a:pPr>
            <a:r>
              <a:rPr lang="en-US" sz="1400" dirty="0">
                <a:solidFill>
                  <a:srgbClr val="13233A"/>
                </a:solidFill>
              </a:rPr>
              <a:t>Separate student, instructor, and administrator privileges.</a:t>
            </a:r>
            <a:endParaRPr lang="en-US" sz="1400" dirty="0"/>
          </a:p>
        </p:txBody>
      </p:sp>
      <p:sp>
        <p:nvSpPr>
          <p:cNvPr id="13" name="Shape 11"/>
          <p:cNvSpPr/>
          <p:nvPr/>
        </p:nvSpPr>
        <p:spPr>
          <a:xfrm>
            <a:off x="822960" y="3703320"/>
            <a:ext cx="347472" cy="347472"/>
          </a:xfrm>
          <a:prstGeom prst="ellipse">
            <a:avLst/>
          </a:prstGeom>
          <a:solidFill>
            <a:srgbClr val="0964DA"/>
          </a:solidFill>
          <a:ln w="12700">
            <a:solidFill>
              <a:srgbClr val="0964DA"/>
            </a:solidFill>
            <a:prstDash val="solid"/>
          </a:ln>
        </p:spPr>
        <p:txBody>
          <a:bodyPr/>
          <a:lstStyle/>
          <a:p>
            <a:endParaRPr lang="en-US"/>
          </a:p>
        </p:txBody>
      </p:sp>
      <p:sp>
        <p:nvSpPr>
          <p:cNvPr id="14" name="Text 12"/>
          <p:cNvSpPr/>
          <p:nvPr/>
        </p:nvSpPr>
        <p:spPr>
          <a:xfrm>
            <a:off x="822960" y="3790188"/>
            <a:ext cx="347472" cy="91440"/>
          </a:xfrm>
          <a:prstGeom prst="rect">
            <a:avLst/>
          </a:prstGeom>
          <a:noFill/>
          <a:ln/>
        </p:spPr>
        <p:txBody>
          <a:bodyPr wrap="square" lIns="0" tIns="0" rIns="0" bIns="0" rtlCol="0" anchor="ctr"/>
          <a:lstStyle/>
          <a:p>
            <a:pPr marL="0" indent="0" algn="ctr">
              <a:buNone/>
            </a:pPr>
            <a:r>
              <a:rPr lang="en-US" sz="850" b="1" dirty="0">
                <a:solidFill>
                  <a:srgbClr val="FFFFFF"/>
                </a:solidFill>
              </a:rPr>
              <a:t>2</a:t>
            </a:r>
            <a:endParaRPr lang="en-US" sz="850" dirty="0"/>
          </a:p>
        </p:txBody>
      </p:sp>
      <p:sp>
        <p:nvSpPr>
          <p:cNvPr id="15" name="Text 13"/>
          <p:cNvSpPr/>
          <p:nvPr/>
        </p:nvSpPr>
        <p:spPr>
          <a:xfrm>
            <a:off x="1325880" y="3657600"/>
            <a:ext cx="4663440" cy="594360"/>
          </a:xfrm>
          <a:prstGeom prst="rect">
            <a:avLst/>
          </a:prstGeom>
          <a:noFill/>
          <a:ln/>
        </p:spPr>
        <p:txBody>
          <a:bodyPr wrap="square" lIns="0" tIns="0" rIns="0" bIns="0" rtlCol="0" anchor="ctr"/>
          <a:lstStyle/>
          <a:p>
            <a:pPr marL="0" indent="0">
              <a:buNone/>
            </a:pPr>
            <a:r>
              <a:rPr lang="en-US" sz="1400" dirty="0">
                <a:solidFill>
                  <a:srgbClr val="13233A"/>
                </a:solidFill>
              </a:rPr>
              <a:t>Support course creation, review, approval, and publication.</a:t>
            </a:r>
            <a:endParaRPr lang="en-US" sz="1400" dirty="0"/>
          </a:p>
        </p:txBody>
      </p:sp>
      <p:sp>
        <p:nvSpPr>
          <p:cNvPr id="16" name="Shape 14"/>
          <p:cNvSpPr/>
          <p:nvPr/>
        </p:nvSpPr>
        <p:spPr>
          <a:xfrm>
            <a:off x="822960" y="4690872"/>
            <a:ext cx="347472" cy="347472"/>
          </a:xfrm>
          <a:prstGeom prst="ellipse">
            <a:avLst/>
          </a:prstGeom>
          <a:solidFill>
            <a:srgbClr val="0964DA"/>
          </a:solidFill>
          <a:ln w="12700">
            <a:solidFill>
              <a:srgbClr val="0964DA"/>
            </a:solidFill>
            <a:prstDash val="solid"/>
          </a:ln>
        </p:spPr>
        <p:txBody>
          <a:bodyPr/>
          <a:lstStyle/>
          <a:p>
            <a:endParaRPr lang="en-US"/>
          </a:p>
        </p:txBody>
      </p:sp>
      <p:sp>
        <p:nvSpPr>
          <p:cNvPr id="17" name="Text 15"/>
          <p:cNvSpPr/>
          <p:nvPr/>
        </p:nvSpPr>
        <p:spPr>
          <a:xfrm>
            <a:off x="822960" y="4777740"/>
            <a:ext cx="347472" cy="91440"/>
          </a:xfrm>
          <a:prstGeom prst="rect">
            <a:avLst/>
          </a:prstGeom>
          <a:noFill/>
          <a:ln/>
        </p:spPr>
        <p:txBody>
          <a:bodyPr wrap="square" lIns="0" tIns="0" rIns="0" bIns="0" rtlCol="0" anchor="ctr"/>
          <a:lstStyle/>
          <a:p>
            <a:pPr marL="0" indent="0" algn="ctr">
              <a:buNone/>
            </a:pPr>
            <a:r>
              <a:rPr lang="en-US" sz="850" b="1" dirty="0">
                <a:solidFill>
                  <a:srgbClr val="FFFFFF"/>
                </a:solidFill>
              </a:rPr>
              <a:t>3</a:t>
            </a:r>
            <a:endParaRPr lang="en-US" sz="850" dirty="0"/>
          </a:p>
        </p:txBody>
      </p:sp>
      <p:sp>
        <p:nvSpPr>
          <p:cNvPr id="18" name="Text 16"/>
          <p:cNvSpPr/>
          <p:nvPr/>
        </p:nvSpPr>
        <p:spPr>
          <a:xfrm>
            <a:off x="1325880" y="4645152"/>
            <a:ext cx="4663440" cy="594360"/>
          </a:xfrm>
          <a:prstGeom prst="rect">
            <a:avLst/>
          </a:prstGeom>
          <a:noFill/>
          <a:ln/>
        </p:spPr>
        <p:txBody>
          <a:bodyPr wrap="square" lIns="0" tIns="0" rIns="0" bIns="0" rtlCol="0" anchor="ctr"/>
          <a:lstStyle/>
          <a:p>
            <a:pPr marL="0" indent="0">
              <a:buNone/>
            </a:pPr>
            <a:r>
              <a:rPr lang="en-US" sz="1400" dirty="0">
                <a:solidFill>
                  <a:srgbClr val="13233A"/>
                </a:solidFill>
              </a:rPr>
              <a:t>Protect accounts with secure authentication and auditing.</a:t>
            </a:r>
            <a:endParaRPr lang="en-US" sz="1400" dirty="0"/>
          </a:p>
        </p:txBody>
      </p:sp>
      <p:sp>
        <p:nvSpPr>
          <p:cNvPr id="19" name="Shape 17"/>
          <p:cNvSpPr/>
          <p:nvPr/>
        </p:nvSpPr>
        <p:spPr>
          <a:xfrm>
            <a:off x="6309360" y="2715768"/>
            <a:ext cx="347472" cy="347472"/>
          </a:xfrm>
          <a:prstGeom prst="ellipse">
            <a:avLst/>
          </a:prstGeom>
          <a:solidFill>
            <a:srgbClr val="0964DA"/>
          </a:solidFill>
          <a:ln w="12700">
            <a:solidFill>
              <a:srgbClr val="0964DA"/>
            </a:solidFill>
            <a:prstDash val="solid"/>
          </a:ln>
        </p:spPr>
        <p:txBody>
          <a:bodyPr/>
          <a:lstStyle/>
          <a:p>
            <a:endParaRPr lang="en-US"/>
          </a:p>
        </p:txBody>
      </p:sp>
      <p:sp>
        <p:nvSpPr>
          <p:cNvPr id="20" name="Text 18"/>
          <p:cNvSpPr/>
          <p:nvPr/>
        </p:nvSpPr>
        <p:spPr>
          <a:xfrm>
            <a:off x="6309360" y="2802636"/>
            <a:ext cx="347472" cy="91440"/>
          </a:xfrm>
          <a:prstGeom prst="rect">
            <a:avLst/>
          </a:prstGeom>
          <a:noFill/>
          <a:ln/>
        </p:spPr>
        <p:txBody>
          <a:bodyPr wrap="square" lIns="0" tIns="0" rIns="0" bIns="0" rtlCol="0" anchor="ctr"/>
          <a:lstStyle/>
          <a:p>
            <a:pPr marL="0" indent="0" algn="ctr">
              <a:buNone/>
            </a:pPr>
            <a:r>
              <a:rPr lang="en-US" sz="850" b="1" dirty="0">
                <a:solidFill>
                  <a:srgbClr val="FFFFFF"/>
                </a:solidFill>
              </a:rPr>
              <a:t>4</a:t>
            </a:r>
            <a:endParaRPr lang="en-US" sz="850" dirty="0"/>
          </a:p>
        </p:txBody>
      </p:sp>
      <p:sp>
        <p:nvSpPr>
          <p:cNvPr id="21" name="Text 19"/>
          <p:cNvSpPr/>
          <p:nvPr/>
        </p:nvSpPr>
        <p:spPr>
          <a:xfrm>
            <a:off x="6812280" y="2670048"/>
            <a:ext cx="4663440" cy="594360"/>
          </a:xfrm>
          <a:prstGeom prst="rect">
            <a:avLst/>
          </a:prstGeom>
          <a:noFill/>
          <a:ln/>
        </p:spPr>
        <p:txBody>
          <a:bodyPr wrap="square" lIns="0" tIns="0" rIns="0" bIns="0" rtlCol="0" anchor="ctr"/>
          <a:lstStyle/>
          <a:p>
            <a:pPr marL="0" indent="0">
              <a:buNone/>
            </a:pPr>
            <a:r>
              <a:rPr lang="en-US" sz="1400" dirty="0">
                <a:solidFill>
                  <a:srgbClr val="13233A"/>
                </a:solidFill>
              </a:rPr>
              <a:t>Support free/paid enrolment and automatic revenue sharing.</a:t>
            </a:r>
            <a:endParaRPr lang="en-US" sz="1400" dirty="0"/>
          </a:p>
        </p:txBody>
      </p:sp>
      <p:sp>
        <p:nvSpPr>
          <p:cNvPr id="22" name="Shape 20"/>
          <p:cNvSpPr/>
          <p:nvPr/>
        </p:nvSpPr>
        <p:spPr>
          <a:xfrm>
            <a:off x="6309360" y="3703320"/>
            <a:ext cx="347472" cy="347472"/>
          </a:xfrm>
          <a:prstGeom prst="ellipse">
            <a:avLst/>
          </a:prstGeom>
          <a:solidFill>
            <a:srgbClr val="0964DA"/>
          </a:solidFill>
          <a:ln w="12700">
            <a:solidFill>
              <a:srgbClr val="0964DA"/>
            </a:solidFill>
            <a:prstDash val="solid"/>
          </a:ln>
        </p:spPr>
        <p:txBody>
          <a:bodyPr/>
          <a:lstStyle/>
          <a:p>
            <a:endParaRPr lang="en-US"/>
          </a:p>
        </p:txBody>
      </p:sp>
      <p:sp>
        <p:nvSpPr>
          <p:cNvPr id="23" name="Text 21"/>
          <p:cNvSpPr/>
          <p:nvPr/>
        </p:nvSpPr>
        <p:spPr>
          <a:xfrm>
            <a:off x="6309360" y="3790188"/>
            <a:ext cx="347472" cy="91440"/>
          </a:xfrm>
          <a:prstGeom prst="rect">
            <a:avLst/>
          </a:prstGeom>
          <a:noFill/>
          <a:ln/>
        </p:spPr>
        <p:txBody>
          <a:bodyPr wrap="square" lIns="0" tIns="0" rIns="0" bIns="0" rtlCol="0" anchor="ctr"/>
          <a:lstStyle/>
          <a:p>
            <a:pPr marL="0" indent="0" algn="ctr">
              <a:buNone/>
            </a:pPr>
            <a:r>
              <a:rPr lang="en-US" sz="850" b="1" dirty="0">
                <a:solidFill>
                  <a:srgbClr val="FFFFFF"/>
                </a:solidFill>
              </a:rPr>
              <a:t>5</a:t>
            </a:r>
            <a:endParaRPr lang="en-US" sz="850" dirty="0"/>
          </a:p>
        </p:txBody>
      </p:sp>
      <p:sp>
        <p:nvSpPr>
          <p:cNvPr id="24" name="Text 22"/>
          <p:cNvSpPr/>
          <p:nvPr/>
        </p:nvSpPr>
        <p:spPr>
          <a:xfrm>
            <a:off x="6812280" y="3657600"/>
            <a:ext cx="4663440" cy="594360"/>
          </a:xfrm>
          <a:prstGeom prst="rect">
            <a:avLst/>
          </a:prstGeom>
          <a:noFill/>
          <a:ln/>
        </p:spPr>
        <p:txBody>
          <a:bodyPr wrap="square" lIns="0" tIns="0" rIns="0" bIns="0" rtlCol="0" anchor="ctr"/>
          <a:lstStyle/>
          <a:p>
            <a:pPr marL="0" indent="0">
              <a:buNone/>
            </a:pPr>
            <a:r>
              <a:rPr lang="en-US" sz="1400" dirty="0">
                <a:solidFill>
                  <a:srgbClr val="13233A"/>
                </a:solidFill>
              </a:rPr>
              <a:t>Provide timed quizzes, auto-grading, and progress tracking.</a:t>
            </a:r>
            <a:endParaRPr lang="en-US" sz="1400" dirty="0"/>
          </a:p>
        </p:txBody>
      </p:sp>
      <p:sp>
        <p:nvSpPr>
          <p:cNvPr id="25" name="Shape 23"/>
          <p:cNvSpPr/>
          <p:nvPr/>
        </p:nvSpPr>
        <p:spPr>
          <a:xfrm>
            <a:off x="6309360" y="4690872"/>
            <a:ext cx="347472" cy="347472"/>
          </a:xfrm>
          <a:prstGeom prst="ellipse">
            <a:avLst/>
          </a:prstGeom>
          <a:solidFill>
            <a:srgbClr val="0964DA"/>
          </a:solidFill>
          <a:ln w="12700">
            <a:solidFill>
              <a:srgbClr val="0964DA"/>
            </a:solidFill>
            <a:prstDash val="solid"/>
          </a:ln>
        </p:spPr>
        <p:txBody>
          <a:bodyPr/>
          <a:lstStyle/>
          <a:p>
            <a:endParaRPr lang="en-US"/>
          </a:p>
        </p:txBody>
      </p:sp>
      <p:sp>
        <p:nvSpPr>
          <p:cNvPr id="26" name="Text 24"/>
          <p:cNvSpPr/>
          <p:nvPr/>
        </p:nvSpPr>
        <p:spPr>
          <a:xfrm>
            <a:off x="6309360" y="4777740"/>
            <a:ext cx="347472" cy="91440"/>
          </a:xfrm>
          <a:prstGeom prst="rect">
            <a:avLst/>
          </a:prstGeom>
          <a:noFill/>
          <a:ln/>
        </p:spPr>
        <p:txBody>
          <a:bodyPr wrap="square" lIns="0" tIns="0" rIns="0" bIns="0" rtlCol="0" anchor="ctr"/>
          <a:lstStyle/>
          <a:p>
            <a:pPr marL="0" indent="0" algn="ctr">
              <a:buNone/>
            </a:pPr>
            <a:r>
              <a:rPr lang="en-US" sz="850" b="1" dirty="0">
                <a:solidFill>
                  <a:srgbClr val="FFFFFF"/>
                </a:solidFill>
              </a:rPr>
              <a:t>6</a:t>
            </a:r>
            <a:endParaRPr lang="en-US" sz="850" dirty="0"/>
          </a:p>
        </p:txBody>
      </p:sp>
      <p:sp>
        <p:nvSpPr>
          <p:cNvPr id="27" name="Text 25"/>
          <p:cNvSpPr/>
          <p:nvPr/>
        </p:nvSpPr>
        <p:spPr>
          <a:xfrm>
            <a:off x="6812280" y="4645152"/>
            <a:ext cx="4663440" cy="594360"/>
          </a:xfrm>
          <a:prstGeom prst="rect">
            <a:avLst/>
          </a:prstGeom>
          <a:noFill/>
          <a:ln/>
        </p:spPr>
        <p:txBody>
          <a:bodyPr wrap="square" lIns="0" tIns="0" rIns="0" bIns="0" rtlCol="0" anchor="ctr"/>
          <a:lstStyle/>
          <a:p>
            <a:pPr marL="0" indent="0">
              <a:buNone/>
            </a:pPr>
            <a:r>
              <a:rPr lang="en-US" sz="1400" dirty="0">
                <a:solidFill>
                  <a:srgbClr val="13233A"/>
                </a:solidFill>
              </a:rPr>
              <a:t>Evaluate the system through functional and security testing.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964DA"/>
          </a:solidFill>
          <a:ln w="12700">
            <a:solidFill>
              <a:srgbClr val="0964DA"/>
            </a:solidFill>
            <a:prstDash val="solid"/>
          </a:ln>
        </p:spPr>
        <p:txBody>
          <a:bodyPr/>
          <a:lstStyle/>
          <a:p>
            <a:endParaRPr lang="en-US"/>
          </a:p>
        </p:txBody>
      </p:sp>
      <p:sp>
        <p:nvSpPr>
          <p:cNvPr id="3" name="Text 1"/>
          <p:cNvSpPr/>
          <p:nvPr/>
        </p:nvSpPr>
        <p:spPr>
          <a:xfrm>
            <a:off x="411480" y="6510528"/>
            <a:ext cx="5120640" cy="164592"/>
          </a:xfrm>
          <a:prstGeom prst="rect">
            <a:avLst/>
          </a:prstGeom>
          <a:noFill/>
          <a:ln/>
        </p:spPr>
        <p:txBody>
          <a:bodyPr wrap="square" lIns="0" tIns="0" rIns="0" bIns="0" rtlCol="0" anchor="ctr"/>
          <a:lstStyle/>
          <a:p>
            <a:pPr marL="0" indent="0">
              <a:buNone/>
            </a:pPr>
            <a:r>
              <a:rPr lang="en-US" sz="750" dirty="0">
                <a:solidFill>
                  <a:srgbClr val="5A6675"/>
                </a:solidFill>
                <a:latin typeface="Aptos" pitchFamily="34" charset="0"/>
                <a:ea typeface="Aptos" pitchFamily="34" charset="-122"/>
                <a:cs typeface="Aptos" pitchFamily="34" charset="-120"/>
              </a:rPr>
              <a:t>E-Learning Platform Project Defence</a:t>
            </a:r>
            <a:endParaRPr lang="en-US" sz="750" dirty="0"/>
          </a:p>
        </p:txBody>
      </p:sp>
      <p:sp>
        <p:nvSpPr>
          <p:cNvPr id="4" name="Text 2"/>
          <p:cNvSpPr/>
          <p:nvPr/>
        </p:nvSpPr>
        <p:spPr>
          <a:xfrm>
            <a:off x="11384280" y="6492240"/>
            <a:ext cx="365760" cy="164592"/>
          </a:xfrm>
          <a:prstGeom prst="rect">
            <a:avLst/>
          </a:prstGeom>
          <a:noFill/>
          <a:ln/>
        </p:spPr>
        <p:txBody>
          <a:bodyPr wrap="square" lIns="0" tIns="0" rIns="0" bIns="0" rtlCol="0" anchor="ctr"/>
          <a:lstStyle/>
          <a:p>
            <a:pPr marL="0" indent="0" algn="r">
              <a:buNone/>
            </a:pPr>
            <a:r>
              <a:rPr lang="en-US" sz="800" dirty="0">
                <a:solidFill>
                  <a:srgbClr val="5A6675"/>
                </a:solidFill>
                <a:latin typeface="Aptos" pitchFamily="34" charset="0"/>
                <a:ea typeface="Aptos" pitchFamily="34" charset="-122"/>
                <a:cs typeface="Aptos" pitchFamily="34" charset="-120"/>
              </a:rPr>
              <a:t>4</a:t>
            </a:r>
            <a:endParaRPr lang="en-US" sz="800" dirty="0"/>
          </a:p>
        </p:txBody>
      </p:sp>
      <p:sp>
        <p:nvSpPr>
          <p:cNvPr id="5" name="Text 3"/>
          <p:cNvSpPr/>
          <p:nvPr/>
        </p:nvSpPr>
        <p:spPr>
          <a:xfrm>
            <a:off x="502920" y="411480"/>
            <a:ext cx="11064240" cy="411480"/>
          </a:xfrm>
          <a:prstGeom prst="rect">
            <a:avLst/>
          </a:prstGeom>
          <a:noFill/>
          <a:ln/>
        </p:spPr>
        <p:txBody>
          <a:bodyPr wrap="square" lIns="0" tIns="0" rIns="0" bIns="0" rtlCol="0" anchor="ctr"/>
          <a:lstStyle/>
          <a:p>
            <a:pPr marL="0" indent="0">
              <a:buNone/>
            </a:pPr>
            <a:r>
              <a:rPr lang="en-US" sz="2500" b="1" dirty="0">
                <a:solidFill>
                  <a:srgbClr val="082E67"/>
                </a:solidFill>
                <a:latin typeface="Aptos Display" pitchFamily="34" charset="0"/>
                <a:ea typeface="Aptos Display" pitchFamily="34" charset="-122"/>
                <a:cs typeface="Aptos Display" pitchFamily="34" charset="-120"/>
              </a:rPr>
              <a:t>Proposed Solution</a:t>
            </a:r>
            <a:endParaRPr lang="en-US" sz="2500" dirty="0"/>
          </a:p>
        </p:txBody>
      </p:sp>
      <p:sp>
        <p:nvSpPr>
          <p:cNvPr id="6" name="Text 4"/>
          <p:cNvSpPr/>
          <p:nvPr/>
        </p:nvSpPr>
        <p:spPr>
          <a:xfrm>
            <a:off x="530352" y="868680"/>
            <a:ext cx="10789920" cy="228600"/>
          </a:xfrm>
          <a:prstGeom prst="rect">
            <a:avLst/>
          </a:prstGeom>
          <a:noFill/>
          <a:ln/>
        </p:spPr>
        <p:txBody>
          <a:bodyPr wrap="square" lIns="0" tIns="0" rIns="0" bIns="0" rtlCol="0" anchor="ctr"/>
          <a:lstStyle/>
          <a:p>
            <a:pPr marL="0" indent="0">
              <a:buNone/>
            </a:pPr>
            <a:r>
              <a:rPr lang="en-US" sz="1050" dirty="0">
                <a:solidFill>
                  <a:srgbClr val="5A6675"/>
                </a:solidFill>
                <a:latin typeface="Aptos" pitchFamily="34" charset="0"/>
                <a:ea typeface="Aptos" pitchFamily="34" charset="-122"/>
                <a:cs typeface="Aptos" pitchFamily="34" charset="-120"/>
              </a:rPr>
              <a:t>One platform, three roles, controlled access</a:t>
            </a:r>
            <a:endParaRPr lang="en-US" sz="1050" dirty="0"/>
          </a:p>
        </p:txBody>
      </p:sp>
      <p:sp>
        <p:nvSpPr>
          <p:cNvPr id="7" name="Shape 5"/>
          <p:cNvSpPr/>
          <p:nvPr/>
        </p:nvSpPr>
        <p:spPr>
          <a:xfrm>
            <a:off x="502920" y="1170432"/>
            <a:ext cx="11155680" cy="0"/>
          </a:xfrm>
          <a:prstGeom prst="line">
            <a:avLst/>
          </a:prstGeom>
          <a:noFill/>
          <a:ln w="12700">
            <a:solidFill>
              <a:srgbClr val="D9E2EF"/>
            </a:solidFill>
            <a:prstDash val="solid"/>
          </a:ln>
        </p:spPr>
        <p:txBody>
          <a:bodyPr/>
          <a:lstStyle/>
          <a:p>
            <a:endParaRPr lang="en-US"/>
          </a:p>
        </p:txBody>
      </p:sp>
      <p:sp>
        <p:nvSpPr>
          <p:cNvPr id="8" name="Shape 6"/>
          <p:cNvSpPr/>
          <p:nvPr/>
        </p:nvSpPr>
        <p:spPr>
          <a:xfrm>
            <a:off x="731520" y="1554480"/>
            <a:ext cx="2880360" cy="4343400"/>
          </a:xfrm>
          <a:prstGeom prst="roundRect">
            <a:avLst>
              <a:gd name="adj" fmla="val 2540"/>
            </a:avLst>
          </a:prstGeom>
          <a:solidFill>
            <a:srgbClr val="F9FBFE"/>
          </a:solidFill>
          <a:ln w="12700">
            <a:solidFill>
              <a:srgbClr val="D9E2EF"/>
            </a:solidFill>
            <a:prstDash val="solid"/>
          </a:ln>
        </p:spPr>
        <p:txBody>
          <a:bodyPr/>
          <a:lstStyle/>
          <a:p>
            <a:endParaRPr lang="en-US"/>
          </a:p>
        </p:txBody>
      </p:sp>
      <p:sp>
        <p:nvSpPr>
          <p:cNvPr id="9" name="Shape 7"/>
          <p:cNvSpPr/>
          <p:nvPr/>
        </p:nvSpPr>
        <p:spPr>
          <a:xfrm>
            <a:off x="731520" y="1554480"/>
            <a:ext cx="2880360" cy="713232"/>
          </a:xfrm>
          <a:prstGeom prst="roundRect">
            <a:avLst>
              <a:gd name="adj" fmla="val 10256"/>
            </a:avLst>
          </a:prstGeom>
          <a:solidFill>
            <a:srgbClr val="0964DA"/>
          </a:solidFill>
          <a:ln w="12700">
            <a:solidFill>
              <a:srgbClr val="0964DA"/>
            </a:solidFill>
            <a:prstDash val="solid"/>
          </a:ln>
        </p:spPr>
        <p:txBody>
          <a:bodyPr/>
          <a:lstStyle/>
          <a:p>
            <a:endParaRPr lang="en-US"/>
          </a:p>
        </p:txBody>
      </p:sp>
      <p:sp>
        <p:nvSpPr>
          <p:cNvPr id="10" name="Text 8"/>
          <p:cNvSpPr/>
          <p:nvPr/>
        </p:nvSpPr>
        <p:spPr>
          <a:xfrm>
            <a:off x="960120" y="1783080"/>
            <a:ext cx="2423160" cy="219456"/>
          </a:xfrm>
          <a:prstGeom prst="rect">
            <a:avLst/>
          </a:prstGeom>
          <a:noFill/>
          <a:ln/>
        </p:spPr>
        <p:txBody>
          <a:bodyPr wrap="square" lIns="0" tIns="0" rIns="0" bIns="0" rtlCol="0" anchor="ctr"/>
          <a:lstStyle/>
          <a:p>
            <a:pPr marL="0" indent="0" algn="ctr">
              <a:buNone/>
            </a:pPr>
            <a:r>
              <a:rPr lang="en-US" sz="1900" b="1" dirty="0">
                <a:solidFill>
                  <a:srgbClr val="FFFFFF"/>
                </a:solidFill>
              </a:rPr>
              <a:t>Student</a:t>
            </a:r>
            <a:endParaRPr lang="en-US" sz="1900" dirty="0"/>
          </a:p>
        </p:txBody>
      </p:sp>
      <p:sp>
        <p:nvSpPr>
          <p:cNvPr id="11" name="Text 9"/>
          <p:cNvSpPr/>
          <p:nvPr/>
        </p:nvSpPr>
        <p:spPr>
          <a:xfrm>
            <a:off x="960120" y="2606040"/>
            <a:ext cx="2423160" cy="2651760"/>
          </a:xfrm>
          <a:prstGeom prst="rect">
            <a:avLst/>
          </a:prstGeom>
          <a:noFill/>
          <a:ln/>
        </p:spPr>
        <p:txBody>
          <a:bodyPr wrap="square" lIns="508" tIns="508" rIns="508" bIns="508" rtlCol="0" anchor="t"/>
          <a:lstStyle/>
          <a:p>
            <a:pPr marL="228600" indent="-228600">
              <a:buSzPct val="100000"/>
              <a:buChar char="•"/>
            </a:pPr>
            <a:r>
              <a:rPr lang="en-US" sz="1400" dirty="0">
                <a:solidFill>
                  <a:srgbClr val="13233A"/>
                </a:solidFill>
                <a:latin typeface="Aptos" pitchFamily="34" charset="0"/>
                <a:ea typeface="Aptos" pitchFamily="34" charset="-122"/>
                <a:cs typeface="Aptos" pitchFamily="34" charset="-120"/>
              </a:rPr>
              <a:t>Browse approved courses</a:t>
            </a:r>
            <a:endParaRPr lang="en-US" sz="1400" dirty="0"/>
          </a:p>
          <a:p>
            <a:pPr marL="228600" indent="-228600">
              <a:buSzPct val="100000"/>
              <a:buChar char="•"/>
            </a:pPr>
            <a:r>
              <a:rPr lang="en-US" sz="1400" dirty="0">
                <a:solidFill>
                  <a:srgbClr val="13233A"/>
                </a:solidFill>
                <a:latin typeface="Aptos" pitchFamily="34" charset="0"/>
                <a:ea typeface="Aptos" pitchFamily="34" charset="-122"/>
                <a:cs typeface="Aptos" pitchFamily="34" charset="-120"/>
              </a:rPr>
              <a:t>Enrol and learn</a:t>
            </a:r>
            <a:endParaRPr lang="en-US" sz="1400" dirty="0"/>
          </a:p>
          <a:p>
            <a:pPr marL="228600" indent="-228600">
              <a:buSzPct val="100000"/>
              <a:buChar char="•"/>
            </a:pPr>
            <a:r>
              <a:rPr lang="en-US" sz="1400" dirty="0">
                <a:solidFill>
                  <a:srgbClr val="13233A"/>
                </a:solidFill>
                <a:latin typeface="Aptos" pitchFamily="34" charset="0"/>
                <a:ea typeface="Aptos" pitchFamily="34" charset="-122"/>
                <a:cs typeface="Aptos" pitchFamily="34" charset="-120"/>
              </a:rPr>
              <a:t>Take quizzes and track progress</a:t>
            </a:r>
            <a:endParaRPr lang="en-US" sz="1400" dirty="0"/>
          </a:p>
          <a:p>
            <a:pPr marL="228600" indent="-228600">
              <a:buSzPct val="100000"/>
              <a:buChar char="•"/>
            </a:pPr>
            <a:r>
              <a:rPr lang="en-US" sz="1400" dirty="0">
                <a:solidFill>
                  <a:srgbClr val="13233A"/>
                </a:solidFill>
                <a:latin typeface="Aptos" pitchFamily="34" charset="0"/>
                <a:ea typeface="Aptos" pitchFamily="34" charset="-122"/>
                <a:cs typeface="Aptos" pitchFamily="34" charset="-120"/>
              </a:rPr>
              <a:t>Review and message</a:t>
            </a:r>
            <a:endParaRPr lang="en-US" sz="1400" dirty="0"/>
          </a:p>
        </p:txBody>
      </p:sp>
      <p:sp>
        <p:nvSpPr>
          <p:cNvPr id="12" name="Shape 10"/>
          <p:cNvSpPr/>
          <p:nvPr/>
        </p:nvSpPr>
        <p:spPr>
          <a:xfrm>
            <a:off x="4251960" y="1554480"/>
            <a:ext cx="2880360" cy="4343400"/>
          </a:xfrm>
          <a:prstGeom prst="roundRect">
            <a:avLst>
              <a:gd name="adj" fmla="val 2540"/>
            </a:avLst>
          </a:prstGeom>
          <a:solidFill>
            <a:srgbClr val="F9FBFE"/>
          </a:solidFill>
          <a:ln w="12700">
            <a:solidFill>
              <a:srgbClr val="D9E2EF"/>
            </a:solidFill>
            <a:prstDash val="solid"/>
          </a:ln>
        </p:spPr>
        <p:txBody>
          <a:bodyPr/>
          <a:lstStyle/>
          <a:p>
            <a:endParaRPr lang="en-US"/>
          </a:p>
        </p:txBody>
      </p:sp>
      <p:sp>
        <p:nvSpPr>
          <p:cNvPr id="13" name="Shape 11"/>
          <p:cNvSpPr/>
          <p:nvPr/>
        </p:nvSpPr>
        <p:spPr>
          <a:xfrm>
            <a:off x="4251960" y="1554480"/>
            <a:ext cx="2880360" cy="713232"/>
          </a:xfrm>
          <a:prstGeom prst="roundRect">
            <a:avLst>
              <a:gd name="adj" fmla="val 10256"/>
            </a:avLst>
          </a:prstGeom>
          <a:solidFill>
            <a:srgbClr val="0E9F6E"/>
          </a:solidFill>
          <a:ln w="12700">
            <a:solidFill>
              <a:srgbClr val="0E9F6E"/>
            </a:solidFill>
            <a:prstDash val="solid"/>
          </a:ln>
        </p:spPr>
        <p:txBody>
          <a:bodyPr/>
          <a:lstStyle/>
          <a:p>
            <a:endParaRPr lang="en-US"/>
          </a:p>
        </p:txBody>
      </p:sp>
      <p:sp>
        <p:nvSpPr>
          <p:cNvPr id="14" name="Text 12"/>
          <p:cNvSpPr/>
          <p:nvPr/>
        </p:nvSpPr>
        <p:spPr>
          <a:xfrm>
            <a:off x="4480560" y="1783080"/>
            <a:ext cx="2423160" cy="219456"/>
          </a:xfrm>
          <a:prstGeom prst="rect">
            <a:avLst/>
          </a:prstGeom>
          <a:noFill/>
          <a:ln/>
        </p:spPr>
        <p:txBody>
          <a:bodyPr wrap="square" lIns="0" tIns="0" rIns="0" bIns="0" rtlCol="0" anchor="ctr"/>
          <a:lstStyle/>
          <a:p>
            <a:pPr marL="0" indent="0" algn="ctr">
              <a:buNone/>
            </a:pPr>
            <a:r>
              <a:rPr lang="en-US" sz="1900" b="1" dirty="0">
                <a:solidFill>
                  <a:srgbClr val="FFFFFF"/>
                </a:solidFill>
              </a:rPr>
              <a:t>Instructor</a:t>
            </a:r>
            <a:endParaRPr lang="en-US" sz="1900" dirty="0"/>
          </a:p>
        </p:txBody>
      </p:sp>
      <p:sp>
        <p:nvSpPr>
          <p:cNvPr id="15" name="Text 13"/>
          <p:cNvSpPr/>
          <p:nvPr/>
        </p:nvSpPr>
        <p:spPr>
          <a:xfrm>
            <a:off x="4480560" y="2606040"/>
            <a:ext cx="2423160" cy="2651760"/>
          </a:xfrm>
          <a:prstGeom prst="rect">
            <a:avLst/>
          </a:prstGeom>
          <a:noFill/>
          <a:ln/>
        </p:spPr>
        <p:txBody>
          <a:bodyPr wrap="square" lIns="508" tIns="508" rIns="508" bIns="508" rtlCol="0" anchor="t"/>
          <a:lstStyle/>
          <a:p>
            <a:pPr marL="228600" indent="-228600">
              <a:buSzPct val="100000"/>
              <a:buChar char="•"/>
            </a:pPr>
            <a:r>
              <a:rPr lang="en-US" sz="1400" dirty="0">
                <a:solidFill>
                  <a:srgbClr val="13233A"/>
                </a:solidFill>
                <a:latin typeface="Aptos" pitchFamily="34" charset="0"/>
                <a:ea typeface="Aptos" pitchFamily="34" charset="-122"/>
                <a:cs typeface="Aptos" pitchFamily="34" charset="-120"/>
              </a:rPr>
              <a:t>Apply for approval</a:t>
            </a:r>
            <a:endParaRPr lang="en-US" sz="1400" dirty="0"/>
          </a:p>
          <a:p>
            <a:pPr marL="228600" indent="-228600">
              <a:buSzPct val="100000"/>
              <a:buChar char="•"/>
            </a:pPr>
            <a:r>
              <a:rPr lang="en-US" sz="1400" dirty="0">
                <a:solidFill>
                  <a:srgbClr val="13233A"/>
                </a:solidFill>
                <a:latin typeface="Aptos" pitchFamily="34" charset="0"/>
                <a:ea typeface="Aptos" pitchFamily="34" charset="-122"/>
                <a:cs typeface="Aptos" pitchFamily="34" charset="-120"/>
              </a:rPr>
              <a:t>Create courses and quizzes</a:t>
            </a:r>
            <a:endParaRPr lang="en-US" sz="1400" dirty="0"/>
          </a:p>
          <a:p>
            <a:pPr marL="228600" indent="-228600">
              <a:buSzPct val="100000"/>
              <a:buChar char="•"/>
            </a:pPr>
            <a:r>
              <a:rPr lang="en-US" sz="1400" dirty="0">
                <a:solidFill>
                  <a:srgbClr val="13233A"/>
                </a:solidFill>
                <a:latin typeface="Aptos" pitchFamily="34" charset="0"/>
                <a:ea typeface="Aptos" pitchFamily="34" charset="-122"/>
                <a:cs typeface="Aptos" pitchFamily="34" charset="-120"/>
              </a:rPr>
              <a:t>Track learners and earnings</a:t>
            </a:r>
            <a:endParaRPr lang="en-US" sz="1400" dirty="0"/>
          </a:p>
          <a:p>
            <a:pPr marL="228600" indent="-228600">
              <a:buSzPct val="100000"/>
              <a:buChar char="•"/>
            </a:pPr>
            <a:r>
              <a:rPr lang="en-US" sz="1400" dirty="0">
                <a:solidFill>
                  <a:srgbClr val="13233A"/>
                </a:solidFill>
                <a:latin typeface="Aptos" pitchFamily="34" charset="0"/>
                <a:ea typeface="Aptos" pitchFamily="34" charset="-122"/>
                <a:cs typeface="Aptos" pitchFamily="34" charset="-120"/>
              </a:rPr>
              <a:t>Request withdrawals</a:t>
            </a:r>
            <a:endParaRPr lang="en-US" sz="1400" dirty="0"/>
          </a:p>
        </p:txBody>
      </p:sp>
      <p:sp>
        <p:nvSpPr>
          <p:cNvPr id="16" name="Shape 14"/>
          <p:cNvSpPr/>
          <p:nvPr/>
        </p:nvSpPr>
        <p:spPr>
          <a:xfrm>
            <a:off x="7772400" y="1554480"/>
            <a:ext cx="2880360" cy="4343400"/>
          </a:xfrm>
          <a:prstGeom prst="roundRect">
            <a:avLst>
              <a:gd name="adj" fmla="val 2540"/>
            </a:avLst>
          </a:prstGeom>
          <a:solidFill>
            <a:srgbClr val="F9FBFE"/>
          </a:solidFill>
          <a:ln w="12700">
            <a:solidFill>
              <a:srgbClr val="D9E2EF"/>
            </a:solidFill>
            <a:prstDash val="solid"/>
          </a:ln>
        </p:spPr>
        <p:txBody>
          <a:bodyPr/>
          <a:lstStyle/>
          <a:p>
            <a:endParaRPr lang="en-US"/>
          </a:p>
        </p:txBody>
      </p:sp>
      <p:sp>
        <p:nvSpPr>
          <p:cNvPr id="17" name="Shape 15"/>
          <p:cNvSpPr/>
          <p:nvPr/>
        </p:nvSpPr>
        <p:spPr>
          <a:xfrm>
            <a:off x="7772400" y="1554480"/>
            <a:ext cx="2880360" cy="713232"/>
          </a:xfrm>
          <a:prstGeom prst="roundRect">
            <a:avLst>
              <a:gd name="adj" fmla="val 10256"/>
            </a:avLst>
          </a:prstGeom>
          <a:solidFill>
            <a:srgbClr val="F59E0B"/>
          </a:solidFill>
          <a:ln w="12700">
            <a:solidFill>
              <a:srgbClr val="F59E0B"/>
            </a:solidFill>
            <a:prstDash val="solid"/>
          </a:ln>
        </p:spPr>
        <p:txBody>
          <a:bodyPr/>
          <a:lstStyle/>
          <a:p>
            <a:endParaRPr lang="en-US"/>
          </a:p>
        </p:txBody>
      </p:sp>
      <p:sp>
        <p:nvSpPr>
          <p:cNvPr id="18" name="Text 16"/>
          <p:cNvSpPr/>
          <p:nvPr/>
        </p:nvSpPr>
        <p:spPr>
          <a:xfrm>
            <a:off x="8001000" y="1783080"/>
            <a:ext cx="2423160" cy="219456"/>
          </a:xfrm>
          <a:prstGeom prst="rect">
            <a:avLst/>
          </a:prstGeom>
          <a:noFill/>
          <a:ln/>
        </p:spPr>
        <p:txBody>
          <a:bodyPr wrap="square" lIns="0" tIns="0" rIns="0" bIns="0" rtlCol="0" anchor="ctr"/>
          <a:lstStyle/>
          <a:p>
            <a:pPr marL="0" indent="0" algn="ctr">
              <a:buNone/>
            </a:pPr>
            <a:r>
              <a:rPr lang="en-US" sz="1900" b="1" dirty="0">
                <a:solidFill>
                  <a:srgbClr val="FFFFFF"/>
                </a:solidFill>
              </a:rPr>
              <a:t>Administrator</a:t>
            </a:r>
            <a:endParaRPr lang="en-US" sz="1900" dirty="0"/>
          </a:p>
        </p:txBody>
      </p:sp>
      <p:sp>
        <p:nvSpPr>
          <p:cNvPr id="19" name="Text 17"/>
          <p:cNvSpPr/>
          <p:nvPr/>
        </p:nvSpPr>
        <p:spPr>
          <a:xfrm>
            <a:off x="8001000" y="2606040"/>
            <a:ext cx="2423160" cy="2651760"/>
          </a:xfrm>
          <a:prstGeom prst="rect">
            <a:avLst/>
          </a:prstGeom>
          <a:noFill/>
          <a:ln/>
        </p:spPr>
        <p:txBody>
          <a:bodyPr wrap="square" lIns="508" tIns="508" rIns="508" bIns="508" rtlCol="0" anchor="t"/>
          <a:lstStyle/>
          <a:p>
            <a:pPr marL="228600" indent="-228600">
              <a:buSzPct val="100000"/>
              <a:buChar char="•"/>
            </a:pPr>
            <a:r>
              <a:rPr lang="en-US" sz="1400" dirty="0">
                <a:solidFill>
                  <a:srgbClr val="13233A"/>
                </a:solidFill>
                <a:latin typeface="Aptos" pitchFamily="34" charset="0"/>
                <a:ea typeface="Aptos" pitchFamily="34" charset="-122"/>
                <a:cs typeface="Aptos" pitchFamily="34" charset="-120"/>
              </a:rPr>
              <a:t>Approve instructors/courses</a:t>
            </a:r>
            <a:endParaRPr lang="en-US" sz="1400" dirty="0"/>
          </a:p>
          <a:p>
            <a:pPr marL="228600" indent="-228600">
              <a:buSzPct val="100000"/>
              <a:buChar char="•"/>
            </a:pPr>
            <a:r>
              <a:rPr lang="en-US" sz="1400" dirty="0">
                <a:solidFill>
                  <a:srgbClr val="13233A"/>
                </a:solidFill>
                <a:latin typeface="Aptos" pitchFamily="34" charset="0"/>
                <a:ea typeface="Aptos" pitchFamily="34" charset="-122"/>
                <a:cs typeface="Aptos" pitchFamily="34" charset="-120"/>
              </a:rPr>
              <a:t>Manage users and reviews</a:t>
            </a:r>
            <a:endParaRPr lang="en-US" sz="1400" dirty="0"/>
          </a:p>
          <a:p>
            <a:pPr marL="228600" indent="-228600">
              <a:buSzPct val="100000"/>
              <a:buChar char="•"/>
            </a:pPr>
            <a:r>
              <a:rPr lang="en-US" sz="1400" dirty="0">
                <a:solidFill>
                  <a:srgbClr val="13233A"/>
                </a:solidFill>
                <a:latin typeface="Aptos" pitchFamily="34" charset="0"/>
                <a:ea typeface="Aptos" pitchFamily="34" charset="-122"/>
                <a:cs typeface="Aptos" pitchFamily="34" charset="-120"/>
              </a:rPr>
              <a:t>Process withdrawals</a:t>
            </a:r>
            <a:endParaRPr lang="en-US" sz="1400" dirty="0"/>
          </a:p>
          <a:p>
            <a:pPr marL="228600" indent="-228600">
              <a:buSzPct val="100000"/>
              <a:buChar char="•"/>
            </a:pPr>
            <a:r>
              <a:rPr lang="en-US" sz="1400" dirty="0">
                <a:solidFill>
                  <a:srgbClr val="13233A"/>
                </a:solidFill>
                <a:latin typeface="Aptos" pitchFamily="34" charset="0"/>
                <a:ea typeface="Aptos" pitchFamily="34" charset="-122"/>
                <a:cs typeface="Aptos" pitchFamily="34" charset="-120"/>
              </a:rPr>
              <a:t>Monitor audit logs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964DA"/>
          </a:solidFill>
          <a:ln w="12700">
            <a:solidFill>
              <a:srgbClr val="0964DA"/>
            </a:solidFill>
            <a:prstDash val="solid"/>
          </a:ln>
        </p:spPr>
        <p:txBody>
          <a:bodyPr/>
          <a:lstStyle/>
          <a:p>
            <a:endParaRPr lang="en-US"/>
          </a:p>
        </p:txBody>
      </p:sp>
      <p:sp>
        <p:nvSpPr>
          <p:cNvPr id="3" name="Text 1"/>
          <p:cNvSpPr/>
          <p:nvPr/>
        </p:nvSpPr>
        <p:spPr>
          <a:xfrm>
            <a:off x="411480" y="6510528"/>
            <a:ext cx="5120640" cy="164592"/>
          </a:xfrm>
          <a:prstGeom prst="rect">
            <a:avLst/>
          </a:prstGeom>
          <a:noFill/>
          <a:ln/>
        </p:spPr>
        <p:txBody>
          <a:bodyPr wrap="square" lIns="0" tIns="0" rIns="0" bIns="0" rtlCol="0" anchor="ctr"/>
          <a:lstStyle/>
          <a:p>
            <a:pPr marL="0" indent="0">
              <a:buNone/>
            </a:pPr>
            <a:r>
              <a:rPr lang="en-US" sz="750" dirty="0">
                <a:solidFill>
                  <a:srgbClr val="5A6675"/>
                </a:solidFill>
                <a:latin typeface="Aptos" pitchFamily="34" charset="0"/>
                <a:ea typeface="Aptos" pitchFamily="34" charset="-122"/>
                <a:cs typeface="Aptos" pitchFamily="34" charset="-120"/>
              </a:rPr>
              <a:t>E-Learning Platform Project Defence</a:t>
            </a:r>
            <a:endParaRPr lang="en-US" sz="750" dirty="0"/>
          </a:p>
        </p:txBody>
      </p:sp>
      <p:sp>
        <p:nvSpPr>
          <p:cNvPr id="4" name="Text 2"/>
          <p:cNvSpPr/>
          <p:nvPr/>
        </p:nvSpPr>
        <p:spPr>
          <a:xfrm>
            <a:off x="11384280" y="6492240"/>
            <a:ext cx="365760" cy="164592"/>
          </a:xfrm>
          <a:prstGeom prst="rect">
            <a:avLst/>
          </a:prstGeom>
          <a:noFill/>
          <a:ln/>
        </p:spPr>
        <p:txBody>
          <a:bodyPr wrap="square" lIns="0" tIns="0" rIns="0" bIns="0" rtlCol="0" anchor="ctr"/>
          <a:lstStyle/>
          <a:p>
            <a:pPr marL="0" indent="0" algn="r">
              <a:buNone/>
            </a:pPr>
            <a:r>
              <a:rPr lang="en-US" sz="800" dirty="0">
                <a:solidFill>
                  <a:srgbClr val="5A6675"/>
                </a:solidFill>
                <a:latin typeface="Aptos" pitchFamily="34" charset="0"/>
                <a:ea typeface="Aptos" pitchFamily="34" charset="-122"/>
                <a:cs typeface="Aptos" pitchFamily="34" charset="-120"/>
              </a:rPr>
              <a:t>5</a:t>
            </a:r>
            <a:endParaRPr lang="en-US" sz="800" dirty="0"/>
          </a:p>
        </p:txBody>
      </p:sp>
      <p:sp>
        <p:nvSpPr>
          <p:cNvPr id="5" name="Text 3"/>
          <p:cNvSpPr/>
          <p:nvPr/>
        </p:nvSpPr>
        <p:spPr>
          <a:xfrm>
            <a:off x="502920" y="411480"/>
            <a:ext cx="11064240" cy="411480"/>
          </a:xfrm>
          <a:prstGeom prst="rect">
            <a:avLst/>
          </a:prstGeom>
          <a:noFill/>
          <a:ln/>
        </p:spPr>
        <p:txBody>
          <a:bodyPr wrap="square" lIns="0" tIns="0" rIns="0" bIns="0" rtlCol="0" anchor="ctr"/>
          <a:lstStyle/>
          <a:p>
            <a:pPr marL="0" indent="0">
              <a:buNone/>
            </a:pPr>
            <a:r>
              <a:rPr lang="en-US" sz="2500" b="1" dirty="0">
                <a:solidFill>
                  <a:srgbClr val="082E67"/>
                </a:solidFill>
                <a:latin typeface="Aptos Display" pitchFamily="34" charset="0"/>
                <a:ea typeface="Aptos Display" pitchFamily="34" charset="-122"/>
                <a:cs typeface="Aptos Display" pitchFamily="34" charset="-120"/>
              </a:rPr>
              <a:t>System Architecture</a:t>
            </a:r>
            <a:endParaRPr lang="en-US" sz="2500" dirty="0"/>
          </a:p>
        </p:txBody>
      </p:sp>
      <p:sp>
        <p:nvSpPr>
          <p:cNvPr id="6" name="Text 4"/>
          <p:cNvSpPr/>
          <p:nvPr/>
        </p:nvSpPr>
        <p:spPr>
          <a:xfrm>
            <a:off x="530352" y="868680"/>
            <a:ext cx="10789920" cy="228600"/>
          </a:xfrm>
          <a:prstGeom prst="rect">
            <a:avLst/>
          </a:prstGeom>
          <a:noFill/>
          <a:ln/>
        </p:spPr>
        <p:txBody>
          <a:bodyPr wrap="square" lIns="0" tIns="0" rIns="0" bIns="0" rtlCol="0" anchor="ctr"/>
          <a:lstStyle/>
          <a:p>
            <a:pPr marL="0" indent="0">
              <a:buNone/>
            </a:pPr>
            <a:r>
              <a:rPr lang="en-US" sz="1050" dirty="0">
                <a:solidFill>
                  <a:srgbClr val="5A6675"/>
                </a:solidFill>
                <a:latin typeface="Aptos" pitchFamily="34" charset="0"/>
                <a:ea typeface="Aptos" pitchFamily="34" charset="-122"/>
                <a:cs typeface="Aptos" pitchFamily="34" charset="-120"/>
              </a:rPr>
              <a:t>Three-tier architecture with external services</a:t>
            </a:r>
            <a:endParaRPr lang="en-US" sz="1050" dirty="0"/>
          </a:p>
        </p:txBody>
      </p:sp>
      <p:sp>
        <p:nvSpPr>
          <p:cNvPr id="7" name="Shape 5"/>
          <p:cNvSpPr/>
          <p:nvPr/>
        </p:nvSpPr>
        <p:spPr>
          <a:xfrm>
            <a:off x="502920" y="1170432"/>
            <a:ext cx="11155680" cy="0"/>
          </a:xfrm>
          <a:prstGeom prst="line">
            <a:avLst/>
          </a:prstGeom>
          <a:noFill/>
          <a:ln w="12700">
            <a:solidFill>
              <a:srgbClr val="D9E2EF"/>
            </a:solidFill>
            <a:prstDash val="solid"/>
          </a:ln>
        </p:spPr>
        <p:txBody>
          <a:bodyPr/>
          <a:lstStyle/>
          <a:p>
            <a:endParaRPr lang="en-US"/>
          </a:p>
        </p:txBody>
      </p:sp>
      <p:sp>
        <p:nvSpPr>
          <p:cNvPr id="8" name="Shape 6"/>
          <p:cNvSpPr/>
          <p:nvPr/>
        </p:nvSpPr>
        <p:spPr>
          <a:xfrm>
            <a:off x="685800" y="2514600"/>
            <a:ext cx="1965960" cy="914400"/>
          </a:xfrm>
          <a:prstGeom prst="roundRect">
            <a:avLst>
              <a:gd name="adj" fmla="val 6000"/>
            </a:avLst>
          </a:prstGeom>
          <a:solidFill>
            <a:srgbClr val="EAF2FF"/>
          </a:solidFill>
          <a:ln w="15240">
            <a:solidFill>
              <a:srgbClr val="0964DA"/>
            </a:solidFill>
            <a:prstDash val="solid"/>
          </a:ln>
        </p:spPr>
        <p:txBody>
          <a:bodyPr/>
          <a:lstStyle/>
          <a:p>
            <a:endParaRPr lang="en-US"/>
          </a:p>
        </p:txBody>
      </p:sp>
      <p:sp>
        <p:nvSpPr>
          <p:cNvPr id="9" name="Text 7"/>
          <p:cNvSpPr/>
          <p:nvPr/>
        </p:nvSpPr>
        <p:spPr>
          <a:xfrm>
            <a:off x="822960" y="2670048"/>
            <a:ext cx="1691640" cy="182880"/>
          </a:xfrm>
          <a:prstGeom prst="rect">
            <a:avLst/>
          </a:prstGeom>
          <a:noFill/>
          <a:ln/>
        </p:spPr>
        <p:txBody>
          <a:bodyPr wrap="square" lIns="0" tIns="0" rIns="0" bIns="0" rtlCol="0" anchor="ctr"/>
          <a:lstStyle/>
          <a:p>
            <a:pPr marL="0" indent="0" algn="ctr">
              <a:buNone/>
            </a:pPr>
            <a:r>
              <a:rPr lang="en-US" sz="1300" b="1" dirty="0">
                <a:solidFill>
                  <a:srgbClr val="082E67"/>
                </a:solidFill>
              </a:rPr>
              <a:t>Presentation Tier</a:t>
            </a:r>
            <a:endParaRPr lang="en-US" sz="1300" dirty="0"/>
          </a:p>
        </p:txBody>
      </p:sp>
      <p:sp>
        <p:nvSpPr>
          <p:cNvPr id="10" name="Text 8"/>
          <p:cNvSpPr/>
          <p:nvPr/>
        </p:nvSpPr>
        <p:spPr>
          <a:xfrm>
            <a:off x="850392" y="2935224"/>
            <a:ext cx="1636776" cy="420624"/>
          </a:xfrm>
          <a:prstGeom prst="rect">
            <a:avLst/>
          </a:prstGeom>
          <a:noFill/>
          <a:ln/>
        </p:spPr>
        <p:txBody>
          <a:bodyPr wrap="square" lIns="0" tIns="0" rIns="0" bIns="0" rtlCol="0" anchor="ctr"/>
          <a:lstStyle/>
          <a:p>
            <a:pPr marL="0" indent="0" algn="ctr">
              <a:buNone/>
            </a:pPr>
            <a:r>
              <a:rPr lang="en-US" sz="1100" dirty="0">
                <a:solidFill>
                  <a:srgbClr val="13233A"/>
                </a:solidFill>
              </a:rPr>
              <a:t>Browser</a:t>
            </a:r>
            <a:endParaRPr lang="en-US" sz="1100" dirty="0"/>
          </a:p>
          <a:p>
            <a:pPr marL="0" indent="0" algn="ctr">
              <a:buNone/>
            </a:pPr>
            <a:r>
              <a:rPr lang="en-US" sz="1100" dirty="0">
                <a:solidFill>
                  <a:srgbClr val="13233A"/>
                </a:solidFill>
              </a:rPr>
              <a:t>React interface</a:t>
            </a:r>
            <a:endParaRPr lang="en-US" sz="1100" dirty="0"/>
          </a:p>
        </p:txBody>
      </p:sp>
      <p:sp>
        <p:nvSpPr>
          <p:cNvPr id="11" name="Shape 9"/>
          <p:cNvSpPr/>
          <p:nvPr/>
        </p:nvSpPr>
        <p:spPr>
          <a:xfrm>
            <a:off x="3703320" y="2011680"/>
            <a:ext cx="2514600" cy="1920240"/>
          </a:xfrm>
          <a:prstGeom prst="roundRect">
            <a:avLst>
              <a:gd name="adj" fmla="val 2857"/>
            </a:avLst>
          </a:prstGeom>
          <a:solidFill>
            <a:srgbClr val="DDEBFF"/>
          </a:solidFill>
          <a:ln w="15240">
            <a:solidFill>
              <a:srgbClr val="0964DA"/>
            </a:solidFill>
            <a:prstDash val="solid"/>
          </a:ln>
        </p:spPr>
        <p:txBody>
          <a:bodyPr/>
          <a:lstStyle/>
          <a:p>
            <a:endParaRPr lang="en-US"/>
          </a:p>
        </p:txBody>
      </p:sp>
      <p:sp>
        <p:nvSpPr>
          <p:cNvPr id="12" name="Text 10"/>
          <p:cNvSpPr/>
          <p:nvPr/>
        </p:nvSpPr>
        <p:spPr>
          <a:xfrm>
            <a:off x="3840480" y="2167128"/>
            <a:ext cx="2240280" cy="182880"/>
          </a:xfrm>
          <a:prstGeom prst="rect">
            <a:avLst/>
          </a:prstGeom>
          <a:noFill/>
          <a:ln/>
        </p:spPr>
        <p:txBody>
          <a:bodyPr wrap="square" lIns="0" tIns="0" rIns="0" bIns="0" rtlCol="0" anchor="ctr"/>
          <a:lstStyle/>
          <a:p>
            <a:pPr marL="0" indent="0" algn="ctr">
              <a:buNone/>
            </a:pPr>
            <a:r>
              <a:rPr lang="en-US" sz="1300" b="1" dirty="0">
                <a:solidFill>
                  <a:srgbClr val="082E67"/>
                </a:solidFill>
              </a:rPr>
              <a:t>Application Tier</a:t>
            </a:r>
            <a:endParaRPr lang="en-US" sz="1300" dirty="0"/>
          </a:p>
        </p:txBody>
      </p:sp>
      <p:sp>
        <p:nvSpPr>
          <p:cNvPr id="13" name="Text 11"/>
          <p:cNvSpPr/>
          <p:nvPr/>
        </p:nvSpPr>
        <p:spPr>
          <a:xfrm>
            <a:off x="3867912" y="2432304"/>
            <a:ext cx="2185416" cy="1426464"/>
          </a:xfrm>
          <a:prstGeom prst="rect">
            <a:avLst/>
          </a:prstGeom>
          <a:noFill/>
          <a:ln/>
        </p:spPr>
        <p:txBody>
          <a:bodyPr wrap="square" lIns="0" tIns="0" rIns="0" bIns="0" rtlCol="0" anchor="ctr"/>
          <a:lstStyle/>
          <a:p>
            <a:pPr marL="0" indent="0" algn="ctr">
              <a:buNone/>
            </a:pPr>
            <a:r>
              <a:rPr lang="en-US" sz="1100" dirty="0">
                <a:solidFill>
                  <a:srgbClr val="13233A"/>
                </a:solidFill>
              </a:rPr>
              <a:t>Next.js</a:t>
            </a:r>
            <a:endParaRPr lang="en-US" sz="1100" dirty="0"/>
          </a:p>
          <a:p>
            <a:pPr marL="0" indent="0" algn="ctr">
              <a:buNone/>
            </a:pPr>
            <a:r>
              <a:rPr lang="en-US" sz="1100" dirty="0">
                <a:solidFill>
                  <a:srgbClr val="13233A"/>
                </a:solidFill>
              </a:rPr>
              <a:t>Server Actions</a:t>
            </a:r>
            <a:endParaRPr lang="en-US" sz="1100" dirty="0"/>
          </a:p>
          <a:p>
            <a:pPr marL="0" indent="0" algn="ctr">
              <a:buNone/>
            </a:pPr>
            <a:r>
              <a:rPr lang="en-US" sz="1100" dirty="0">
                <a:solidFill>
                  <a:srgbClr val="13233A"/>
                </a:solidFill>
              </a:rPr>
              <a:t>API Routes</a:t>
            </a:r>
            <a:endParaRPr lang="en-US" sz="1100" dirty="0"/>
          </a:p>
          <a:p>
            <a:pPr marL="0" indent="0" algn="ctr">
              <a:buNone/>
            </a:pPr>
            <a:r>
              <a:rPr lang="en-US" sz="1100" dirty="0">
                <a:solidFill>
                  <a:srgbClr val="13233A"/>
                </a:solidFill>
              </a:rPr>
              <a:t>Middleware</a:t>
            </a:r>
            <a:endParaRPr lang="en-US" sz="1100" dirty="0"/>
          </a:p>
        </p:txBody>
      </p:sp>
      <p:sp>
        <p:nvSpPr>
          <p:cNvPr id="14" name="Shape 12"/>
          <p:cNvSpPr/>
          <p:nvPr/>
        </p:nvSpPr>
        <p:spPr>
          <a:xfrm>
            <a:off x="7269480" y="2514600"/>
            <a:ext cx="1965960" cy="914400"/>
          </a:xfrm>
          <a:prstGeom prst="roundRect">
            <a:avLst>
              <a:gd name="adj" fmla="val 6000"/>
            </a:avLst>
          </a:prstGeom>
          <a:solidFill>
            <a:srgbClr val="E8F8F0"/>
          </a:solidFill>
          <a:ln w="15240">
            <a:solidFill>
              <a:srgbClr val="0964DA"/>
            </a:solidFill>
            <a:prstDash val="solid"/>
          </a:ln>
        </p:spPr>
        <p:txBody>
          <a:bodyPr/>
          <a:lstStyle/>
          <a:p>
            <a:endParaRPr lang="en-US"/>
          </a:p>
        </p:txBody>
      </p:sp>
      <p:sp>
        <p:nvSpPr>
          <p:cNvPr id="15" name="Text 13"/>
          <p:cNvSpPr/>
          <p:nvPr/>
        </p:nvSpPr>
        <p:spPr>
          <a:xfrm>
            <a:off x="7406640" y="2670048"/>
            <a:ext cx="1691640" cy="182880"/>
          </a:xfrm>
          <a:prstGeom prst="rect">
            <a:avLst/>
          </a:prstGeom>
          <a:noFill/>
          <a:ln/>
        </p:spPr>
        <p:txBody>
          <a:bodyPr wrap="square" lIns="0" tIns="0" rIns="0" bIns="0" rtlCol="0" anchor="ctr"/>
          <a:lstStyle/>
          <a:p>
            <a:pPr marL="0" indent="0" algn="ctr">
              <a:buNone/>
            </a:pPr>
            <a:r>
              <a:rPr lang="en-US" sz="1300" b="1" dirty="0">
                <a:solidFill>
                  <a:srgbClr val="082E67"/>
                </a:solidFill>
              </a:rPr>
              <a:t>Data Tier</a:t>
            </a:r>
            <a:endParaRPr lang="en-US" sz="1300" dirty="0"/>
          </a:p>
        </p:txBody>
      </p:sp>
      <p:sp>
        <p:nvSpPr>
          <p:cNvPr id="16" name="Text 14"/>
          <p:cNvSpPr/>
          <p:nvPr/>
        </p:nvSpPr>
        <p:spPr>
          <a:xfrm>
            <a:off x="7434072" y="2935224"/>
            <a:ext cx="1636776" cy="420624"/>
          </a:xfrm>
          <a:prstGeom prst="rect">
            <a:avLst/>
          </a:prstGeom>
          <a:noFill/>
          <a:ln/>
        </p:spPr>
        <p:txBody>
          <a:bodyPr wrap="square" lIns="0" tIns="0" rIns="0" bIns="0" rtlCol="0" anchor="ctr"/>
          <a:lstStyle/>
          <a:p>
            <a:pPr marL="0" indent="0" algn="ctr">
              <a:buNone/>
            </a:pPr>
            <a:r>
              <a:rPr lang="en-US" sz="1100" dirty="0">
                <a:solidFill>
                  <a:srgbClr val="13233A"/>
                </a:solidFill>
              </a:rPr>
              <a:t>PostgreSQL</a:t>
            </a:r>
            <a:endParaRPr lang="en-US" sz="1100" dirty="0"/>
          </a:p>
          <a:p>
            <a:pPr marL="0" indent="0" algn="ctr">
              <a:buNone/>
            </a:pPr>
            <a:r>
              <a:rPr lang="en-US" sz="1100" dirty="0">
                <a:solidFill>
                  <a:srgbClr val="13233A"/>
                </a:solidFill>
              </a:rPr>
              <a:t>via Prisma</a:t>
            </a:r>
            <a:endParaRPr lang="en-US" sz="1100" dirty="0"/>
          </a:p>
        </p:txBody>
      </p:sp>
      <p:sp>
        <p:nvSpPr>
          <p:cNvPr id="17" name="Shape 15"/>
          <p:cNvSpPr/>
          <p:nvPr/>
        </p:nvSpPr>
        <p:spPr>
          <a:xfrm>
            <a:off x="2852928" y="2688336"/>
            <a:ext cx="548640" cy="502920"/>
          </a:xfrm>
          <a:prstGeom prst="chevron">
            <a:avLst/>
          </a:prstGeom>
          <a:solidFill>
            <a:srgbClr val="0964DA"/>
          </a:solidFill>
          <a:ln w="12700">
            <a:solidFill>
              <a:srgbClr val="0964DA"/>
            </a:solidFill>
            <a:prstDash val="solid"/>
          </a:ln>
        </p:spPr>
        <p:txBody>
          <a:bodyPr/>
          <a:lstStyle/>
          <a:p>
            <a:endParaRPr lang="en-US"/>
          </a:p>
        </p:txBody>
      </p:sp>
      <p:sp>
        <p:nvSpPr>
          <p:cNvPr id="18" name="Shape 16"/>
          <p:cNvSpPr/>
          <p:nvPr/>
        </p:nvSpPr>
        <p:spPr>
          <a:xfrm>
            <a:off x="6428232" y="2688336"/>
            <a:ext cx="548640" cy="502920"/>
          </a:xfrm>
          <a:prstGeom prst="chevron">
            <a:avLst/>
          </a:prstGeom>
          <a:solidFill>
            <a:srgbClr val="0964DA"/>
          </a:solidFill>
          <a:ln w="12700">
            <a:solidFill>
              <a:srgbClr val="0964DA"/>
            </a:solidFill>
            <a:prstDash val="solid"/>
          </a:ln>
        </p:spPr>
        <p:txBody>
          <a:bodyPr/>
          <a:lstStyle/>
          <a:p>
            <a:endParaRPr lang="en-US"/>
          </a:p>
        </p:txBody>
      </p:sp>
      <p:sp>
        <p:nvSpPr>
          <p:cNvPr id="19" name="Text 17"/>
          <p:cNvSpPr/>
          <p:nvPr/>
        </p:nvSpPr>
        <p:spPr>
          <a:xfrm>
            <a:off x="2889504" y="3273552"/>
            <a:ext cx="502920" cy="137160"/>
          </a:xfrm>
          <a:prstGeom prst="rect">
            <a:avLst/>
          </a:prstGeom>
          <a:noFill/>
          <a:ln/>
        </p:spPr>
        <p:txBody>
          <a:bodyPr wrap="square" lIns="0" tIns="0" rIns="0" bIns="0" rtlCol="0" anchor="ctr"/>
          <a:lstStyle/>
          <a:p>
            <a:pPr marL="0" indent="0" algn="ctr">
              <a:buNone/>
            </a:pPr>
            <a:r>
              <a:rPr lang="en-US" sz="800" dirty="0">
                <a:solidFill>
                  <a:srgbClr val="5A6675"/>
                </a:solidFill>
              </a:rPr>
              <a:t>HTTPS</a:t>
            </a:r>
            <a:endParaRPr lang="en-US" sz="800" dirty="0"/>
          </a:p>
        </p:txBody>
      </p:sp>
      <p:sp>
        <p:nvSpPr>
          <p:cNvPr id="20" name="Text 18"/>
          <p:cNvSpPr/>
          <p:nvPr/>
        </p:nvSpPr>
        <p:spPr>
          <a:xfrm>
            <a:off x="6464808" y="3273552"/>
            <a:ext cx="502920" cy="137160"/>
          </a:xfrm>
          <a:prstGeom prst="rect">
            <a:avLst/>
          </a:prstGeom>
          <a:noFill/>
          <a:ln/>
        </p:spPr>
        <p:txBody>
          <a:bodyPr wrap="square" lIns="0" tIns="0" rIns="0" bIns="0" rtlCol="0" anchor="ctr"/>
          <a:lstStyle/>
          <a:p>
            <a:pPr marL="0" indent="0" algn="ctr">
              <a:buNone/>
            </a:pPr>
            <a:r>
              <a:rPr lang="en-US" sz="800" dirty="0">
                <a:solidFill>
                  <a:srgbClr val="5A6675"/>
                </a:solidFill>
              </a:rPr>
              <a:t>Prisma</a:t>
            </a:r>
            <a:endParaRPr lang="en-US" sz="800" dirty="0"/>
          </a:p>
        </p:txBody>
      </p:sp>
      <p:sp>
        <p:nvSpPr>
          <p:cNvPr id="21" name="Text 19"/>
          <p:cNvSpPr/>
          <p:nvPr/>
        </p:nvSpPr>
        <p:spPr>
          <a:xfrm>
            <a:off x="9921240" y="1508760"/>
            <a:ext cx="1463040" cy="182880"/>
          </a:xfrm>
          <a:prstGeom prst="rect">
            <a:avLst/>
          </a:prstGeom>
          <a:noFill/>
          <a:ln/>
        </p:spPr>
        <p:txBody>
          <a:bodyPr wrap="square" lIns="0" tIns="0" rIns="0" bIns="0" rtlCol="0" anchor="ctr"/>
          <a:lstStyle/>
          <a:p>
            <a:pPr marL="0" indent="0" algn="ctr">
              <a:buNone/>
            </a:pPr>
            <a:r>
              <a:rPr lang="en-US" sz="1300" b="1" dirty="0">
                <a:solidFill>
                  <a:srgbClr val="082E67"/>
                </a:solidFill>
              </a:rPr>
              <a:t>External services</a:t>
            </a:r>
            <a:endParaRPr lang="en-US" sz="1300" dirty="0"/>
          </a:p>
        </p:txBody>
      </p:sp>
      <p:sp>
        <p:nvSpPr>
          <p:cNvPr id="22" name="Shape 20"/>
          <p:cNvSpPr/>
          <p:nvPr/>
        </p:nvSpPr>
        <p:spPr>
          <a:xfrm>
            <a:off x="9829800" y="1874520"/>
            <a:ext cx="1691640" cy="557784"/>
          </a:xfrm>
          <a:prstGeom prst="roundRect">
            <a:avLst>
              <a:gd name="adj" fmla="val 8197"/>
            </a:avLst>
          </a:prstGeom>
          <a:solidFill>
            <a:srgbClr val="F8FAFC"/>
          </a:solidFill>
          <a:ln w="12700">
            <a:solidFill>
              <a:srgbClr val="D9E2EF"/>
            </a:solidFill>
            <a:prstDash val="solid"/>
          </a:ln>
        </p:spPr>
        <p:txBody>
          <a:bodyPr/>
          <a:lstStyle/>
          <a:p>
            <a:endParaRPr lang="en-US"/>
          </a:p>
        </p:txBody>
      </p:sp>
      <p:sp>
        <p:nvSpPr>
          <p:cNvPr id="23" name="Text 21"/>
          <p:cNvSpPr/>
          <p:nvPr/>
        </p:nvSpPr>
        <p:spPr>
          <a:xfrm>
            <a:off x="9921240" y="2011680"/>
            <a:ext cx="1508760" cy="256032"/>
          </a:xfrm>
          <a:prstGeom prst="rect">
            <a:avLst/>
          </a:prstGeom>
          <a:noFill/>
          <a:ln/>
        </p:spPr>
        <p:txBody>
          <a:bodyPr wrap="square" lIns="0" tIns="0" rIns="0" bIns="0" rtlCol="0" anchor="ctr"/>
          <a:lstStyle/>
          <a:p>
            <a:pPr marL="0" indent="0" algn="ctr">
              <a:buNone/>
            </a:pPr>
            <a:r>
              <a:rPr lang="en-US" sz="1000" dirty="0">
                <a:solidFill>
                  <a:srgbClr val="13233A"/>
                </a:solidFill>
              </a:rPr>
              <a:t>Paystack</a:t>
            </a:r>
            <a:endParaRPr lang="en-US" sz="1000" dirty="0"/>
          </a:p>
          <a:p>
            <a:pPr marL="0" indent="0" algn="ctr">
              <a:buNone/>
            </a:pPr>
            <a:r>
              <a:rPr lang="en-US" sz="1000" dirty="0">
                <a:solidFill>
                  <a:srgbClr val="13233A"/>
                </a:solidFill>
              </a:rPr>
              <a:t>payments</a:t>
            </a:r>
            <a:endParaRPr lang="en-US" sz="1000" dirty="0"/>
          </a:p>
        </p:txBody>
      </p:sp>
      <p:sp>
        <p:nvSpPr>
          <p:cNvPr id="24" name="Shape 22"/>
          <p:cNvSpPr/>
          <p:nvPr/>
        </p:nvSpPr>
        <p:spPr>
          <a:xfrm>
            <a:off x="9829800" y="2706624"/>
            <a:ext cx="1691640" cy="557784"/>
          </a:xfrm>
          <a:prstGeom prst="roundRect">
            <a:avLst>
              <a:gd name="adj" fmla="val 8197"/>
            </a:avLst>
          </a:prstGeom>
          <a:solidFill>
            <a:srgbClr val="F8FAFC"/>
          </a:solidFill>
          <a:ln w="12700">
            <a:solidFill>
              <a:srgbClr val="D9E2EF"/>
            </a:solidFill>
            <a:prstDash val="solid"/>
          </a:ln>
        </p:spPr>
        <p:txBody>
          <a:bodyPr/>
          <a:lstStyle/>
          <a:p>
            <a:endParaRPr lang="en-US"/>
          </a:p>
        </p:txBody>
      </p:sp>
      <p:sp>
        <p:nvSpPr>
          <p:cNvPr id="25" name="Text 23"/>
          <p:cNvSpPr/>
          <p:nvPr/>
        </p:nvSpPr>
        <p:spPr>
          <a:xfrm>
            <a:off x="9921240" y="2843784"/>
            <a:ext cx="1508760" cy="256032"/>
          </a:xfrm>
          <a:prstGeom prst="rect">
            <a:avLst/>
          </a:prstGeom>
          <a:noFill/>
          <a:ln/>
        </p:spPr>
        <p:txBody>
          <a:bodyPr wrap="square" lIns="0" tIns="0" rIns="0" bIns="0" rtlCol="0" anchor="ctr"/>
          <a:lstStyle/>
          <a:p>
            <a:pPr marL="0" indent="0" algn="ctr">
              <a:buNone/>
            </a:pPr>
            <a:r>
              <a:rPr lang="en-US" sz="1000" dirty="0">
                <a:solidFill>
                  <a:srgbClr val="13233A"/>
                </a:solidFill>
              </a:rPr>
              <a:t>Brevo</a:t>
            </a:r>
            <a:endParaRPr lang="en-US" sz="1000" dirty="0"/>
          </a:p>
          <a:p>
            <a:pPr marL="0" indent="0" algn="ctr">
              <a:buNone/>
            </a:pPr>
            <a:r>
              <a:rPr lang="en-US" sz="1000" dirty="0">
                <a:solidFill>
                  <a:srgbClr val="13233A"/>
                </a:solidFill>
              </a:rPr>
              <a:t>email</a:t>
            </a:r>
            <a:endParaRPr lang="en-US" sz="1000" dirty="0"/>
          </a:p>
        </p:txBody>
      </p:sp>
      <p:sp>
        <p:nvSpPr>
          <p:cNvPr id="26" name="Shape 24"/>
          <p:cNvSpPr/>
          <p:nvPr/>
        </p:nvSpPr>
        <p:spPr>
          <a:xfrm>
            <a:off x="9829800" y="3538728"/>
            <a:ext cx="1691640" cy="557784"/>
          </a:xfrm>
          <a:prstGeom prst="roundRect">
            <a:avLst>
              <a:gd name="adj" fmla="val 8197"/>
            </a:avLst>
          </a:prstGeom>
          <a:solidFill>
            <a:srgbClr val="F8FAFC"/>
          </a:solidFill>
          <a:ln w="12700">
            <a:solidFill>
              <a:srgbClr val="D9E2EF"/>
            </a:solidFill>
            <a:prstDash val="solid"/>
          </a:ln>
        </p:spPr>
        <p:txBody>
          <a:bodyPr/>
          <a:lstStyle/>
          <a:p>
            <a:endParaRPr lang="en-US"/>
          </a:p>
        </p:txBody>
      </p:sp>
      <p:sp>
        <p:nvSpPr>
          <p:cNvPr id="27" name="Text 25"/>
          <p:cNvSpPr/>
          <p:nvPr/>
        </p:nvSpPr>
        <p:spPr>
          <a:xfrm>
            <a:off x="9921240" y="3675888"/>
            <a:ext cx="1508760" cy="256032"/>
          </a:xfrm>
          <a:prstGeom prst="rect">
            <a:avLst/>
          </a:prstGeom>
          <a:noFill/>
          <a:ln/>
        </p:spPr>
        <p:txBody>
          <a:bodyPr wrap="square" lIns="0" tIns="0" rIns="0" bIns="0" rtlCol="0" anchor="ctr"/>
          <a:lstStyle/>
          <a:p>
            <a:pPr marL="0" indent="0" algn="ctr">
              <a:buNone/>
            </a:pPr>
            <a:r>
              <a:rPr lang="en-US" sz="1000" dirty="0">
                <a:solidFill>
                  <a:srgbClr val="13233A"/>
                </a:solidFill>
              </a:rPr>
              <a:t>Google</a:t>
            </a:r>
            <a:endParaRPr lang="en-US" sz="1000" dirty="0"/>
          </a:p>
          <a:p>
            <a:pPr marL="0" indent="0" algn="ctr">
              <a:buNone/>
            </a:pPr>
            <a:r>
              <a:rPr lang="en-US" sz="1000" dirty="0">
                <a:solidFill>
                  <a:srgbClr val="13233A"/>
                </a:solidFill>
              </a:rPr>
              <a:t>OAuth</a:t>
            </a:r>
            <a:endParaRPr lang="en-US" sz="1000" dirty="0"/>
          </a:p>
        </p:txBody>
      </p:sp>
      <p:sp>
        <p:nvSpPr>
          <p:cNvPr id="28" name="Shape 26"/>
          <p:cNvSpPr/>
          <p:nvPr/>
        </p:nvSpPr>
        <p:spPr>
          <a:xfrm>
            <a:off x="9829800" y="4370832"/>
            <a:ext cx="1691640" cy="557784"/>
          </a:xfrm>
          <a:prstGeom prst="roundRect">
            <a:avLst>
              <a:gd name="adj" fmla="val 8197"/>
            </a:avLst>
          </a:prstGeom>
          <a:solidFill>
            <a:srgbClr val="F8FAFC"/>
          </a:solidFill>
          <a:ln w="12700">
            <a:solidFill>
              <a:srgbClr val="D9E2EF"/>
            </a:solidFill>
            <a:prstDash val="solid"/>
          </a:ln>
        </p:spPr>
        <p:txBody>
          <a:bodyPr/>
          <a:lstStyle/>
          <a:p>
            <a:endParaRPr lang="en-US"/>
          </a:p>
        </p:txBody>
      </p:sp>
      <p:sp>
        <p:nvSpPr>
          <p:cNvPr id="29" name="Text 27"/>
          <p:cNvSpPr/>
          <p:nvPr/>
        </p:nvSpPr>
        <p:spPr>
          <a:xfrm>
            <a:off x="9921240" y="4507992"/>
            <a:ext cx="1508760" cy="256032"/>
          </a:xfrm>
          <a:prstGeom prst="rect">
            <a:avLst/>
          </a:prstGeom>
          <a:noFill/>
          <a:ln/>
        </p:spPr>
        <p:txBody>
          <a:bodyPr wrap="square" lIns="0" tIns="0" rIns="0" bIns="0" rtlCol="0" anchor="ctr"/>
          <a:lstStyle/>
          <a:p>
            <a:pPr marL="0" indent="0" algn="ctr">
              <a:buNone/>
            </a:pPr>
            <a:r>
              <a:rPr lang="en-US" sz="1000" dirty="0">
                <a:solidFill>
                  <a:srgbClr val="13233A"/>
                </a:solidFill>
              </a:rPr>
              <a:t>Blob/file</a:t>
            </a:r>
            <a:endParaRPr lang="en-US" sz="1000" dirty="0"/>
          </a:p>
          <a:p>
            <a:pPr marL="0" indent="0" algn="ctr">
              <a:buNone/>
            </a:pPr>
            <a:r>
              <a:rPr lang="en-US" sz="1000" dirty="0">
                <a:solidFill>
                  <a:srgbClr val="13233A"/>
                </a:solidFill>
              </a:rPr>
              <a:t>storage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964DA"/>
          </a:solidFill>
          <a:ln w="12700">
            <a:solidFill>
              <a:srgbClr val="0964DA"/>
            </a:solidFill>
            <a:prstDash val="solid"/>
          </a:ln>
        </p:spPr>
        <p:txBody>
          <a:bodyPr/>
          <a:lstStyle/>
          <a:p>
            <a:endParaRPr lang="en-US"/>
          </a:p>
        </p:txBody>
      </p:sp>
      <p:sp>
        <p:nvSpPr>
          <p:cNvPr id="3" name="Text 1"/>
          <p:cNvSpPr/>
          <p:nvPr/>
        </p:nvSpPr>
        <p:spPr>
          <a:xfrm>
            <a:off x="411480" y="6510528"/>
            <a:ext cx="5120640" cy="164592"/>
          </a:xfrm>
          <a:prstGeom prst="rect">
            <a:avLst/>
          </a:prstGeom>
          <a:noFill/>
          <a:ln/>
        </p:spPr>
        <p:txBody>
          <a:bodyPr wrap="square" lIns="0" tIns="0" rIns="0" bIns="0" rtlCol="0" anchor="ctr"/>
          <a:lstStyle/>
          <a:p>
            <a:pPr marL="0" indent="0">
              <a:buNone/>
            </a:pPr>
            <a:r>
              <a:rPr lang="en-US" sz="750" dirty="0">
                <a:solidFill>
                  <a:srgbClr val="5A6675"/>
                </a:solidFill>
                <a:latin typeface="Aptos" pitchFamily="34" charset="0"/>
                <a:ea typeface="Aptos" pitchFamily="34" charset="-122"/>
                <a:cs typeface="Aptos" pitchFamily="34" charset="-120"/>
              </a:rPr>
              <a:t>E-Learning Platform Project Defence</a:t>
            </a:r>
            <a:endParaRPr lang="en-US" sz="750" dirty="0"/>
          </a:p>
        </p:txBody>
      </p:sp>
      <p:sp>
        <p:nvSpPr>
          <p:cNvPr id="4" name="Text 2"/>
          <p:cNvSpPr/>
          <p:nvPr/>
        </p:nvSpPr>
        <p:spPr>
          <a:xfrm>
            <a:off x="11384280" y="6492240"/>
            <a:ext cx="365760" cy="164592"/>
          </a:xfrm>
          <a:prstGeom prst="rect">
            <a:avLst/>
          </a:prstGeom>
          <a:noFill/>
          <a:ln/>
        </p:spPr>
        <p:txBody>
          <a:bodyPr wrap="square" lIns="0" tIns="0" rIns="0" bIns="0" rtlCol="0" anchor="ctr"/>
          <a:lstStyle/>
          <a:p>
            <a:pPr marL="0" indent="0" algn="r">
              <a:buNone/>
            </a:pPr>
            <a:r>
              <a:rPr lang="en-US" sz="800" dirty="0">
                <a:solidFill>
                  <a:srgbClr val="5A6675"/>
                </a:solidFill>
                <a:latin typeface="Aptos" pitchFamily="34" charset="0"/>
                <a:ea typeface="Aptos" pitchFamily="34" charset="-122"/>
                <a:cs typeface="Aptos" pitchFamily="34" charset="-120"/>
              </a:rPr>
              <a:t>6</a:t>
            </a:r>
            <a:endParaRPr lang="en-US" sz="800" dirty="0"/>
          </a:p>
        </p:txBody>
      </p:sp>
      <p:sp>
        <p:nvSpPr>
          <p:cNvPr id="5" name="Text 3"/>
          <p:cNvSpPr/>
          <p:nvPr/>
        </p:nvSpPr>
        <p:spPr>
          <a:xfrm>
            <a:off x="502920" y="411480"/>
            <a:ext cx="11064240" cy="411480"/>
          </a:xfrm>
          <a:prstGeom prst="rect">
            <a:avLst/>
          </a:prstGeom>
          <a:noFill/>
          <a:ln/>
        </p:spPr>
        <p:txBody>
          <a:bodyPr wrap="square" lIns="0" tIns="0" rIns="0" bIns="0" rtlCol="0" anchor="ctr"/>
          <a:lstStyle/>
          <a:p>
            <a:pPr marL="0" indent="0">
              <a:buNone/>
            </a:pPr>
            <a:r>
              <a:rPr lang="en-US" sz="2500" b="1" dirty="0">
                <a:solidFill>
                  <a:srgbClr val="082E67"/>
                </a:solidFill>
                <a:latin typeface="Aptos Display" pitchFamily="34" charset="0"/>
                <a:ea typeface="Aptos Display" pitchFamily="34" charset="-122"/>
                <a:cs typeface="Aptos Display" pitchFamily="34" charset="-120"/>
              </a:rPr>
              <a:t>Tools and Technologies</a:t>
            </a:r>
            <a:endParaRPr lang="en-US" sz="2500" dirty="0"/>
          </a:p>
        </p:txBody>
      </p:sp>
      <p:sp>
        <p:nvSpPr>
          <p:cNvPr id="6" name="Text 4"/>
          <p:cNvSpPr/>
          <p:nvPr/>
        </p:nvSpPr>
        <p:spPr>
          <a:xfrm>
            <a:off x="530352" y="868680"/>
            <a:ext cx="10789920" cy="228600"/>
          </a:xfrm>
          <a:prstGeom prst="rect">
            <a:avLst/>
          </a:prstGeom>
          <a:noFill/>
          <a:ln/>
        </p:spPr>
        <p:txBody>
          <a:bodyPr wrap="square" lIns="0" tIns="0" rIns="0" bIns="0" rtlCol="0" anchor="ctr"/>
          <a:lstStyle/>
          <a:p>
            <a:pPr marL="0" indent="0">
              <a:buNone/>
            </a:pPr>
            <a:r>
              <a:rPr lang="en-US" sz="1050" dirty="0">
                <a:solidFill>
                  <a:srgbClr val="5A6675"/>
                </a:solidFill>
                <a:latin typeface="Aptos" pitchFamily="34" charset="0"/>
                <a:ea typeface="Aptos" pitchFamily="34" charset="-122"/>
                <a:cs typeface="Aptos" pitchFamily="34" charset="-120"/>
              </a:rPr>
              <a:t>Chosen for security, maintainability, and low-cost deployment</a:t>
            </a:r>
            <a:endParaRPr lang="en-US" sz="1050" dirty="0"/>
          </a:p>
        </p:txBody>
      </p:sp>
      <p:sp>
        <p:nvSpPr>
          <p:cNvPr id="7" name="Shape 5"/>
          <p:cNvSpPr/>
          <p:nvPr/>
        </p:nvSpPr>
        <p:spPr>
          <a:xfrm>
            <a:off x="502920" y="1170432"/>
            <a:ext cx="11155680" cy="0"/>
          </a:xfrm>
          <a:prstGeom prst="line">
            <a:avLst/>
          </a:prstGeom>
          <a:noFill/>
          <a:ln w="12700">
            <a:solidFill>
              <a:srgbClr val="D9E2EF"/>
            </a:solidFill>
            <a:prstDash val="solid"/>
          </a:ln>
        </p:spPr>
        <p:txBody>
          <a:bodyPr/>
          <a:lstStyle/>
          <a:p>
            <a:endParaRPr lang="en-US"/>
          </a:p>
        </p:txBody>
      </p:sp>
      <p:sp>
        <p:nvSpPr>
          <p:cNvPr id="8" name="Shape 6"/>
          <p:cNvSpPr/>
          <p:nvPr/>
        </p:nvSpPr>
        <p:spPr>
          <a:xfrm>
            <a:off x="685800" y="1600200"/>
            <a:ext cx="5212080" cy="960120"/>
          </a:xfrm>
          <a:prstGeom prst="roundRect">
            <a:avLst>
              <a:gd name="adj" fmla="val 5714"/>
            </a:avLst>
          </a:prstGeom>
          <a:solidFill>
            <a:srgbClr val="F4F8FF"/>
          </a:solidFill>
          <a:ln w="12700">
            <a:solidFill>
              <a:srgbClr val="D9E2EF"/>
            </a:solidFill>
            <a:prstDash val="solid"/>
          </a:ln>
        </p:spPr>
        <p:txBody>
          <a:bodyPr/>
          <a:lstStyle/>
          <a:p>
            <a:endParaRPr lang="en-US"/>
          </a:p>
        </p:txBody>
      </p:sp>
      <p:sp>
        <p:nvSpPr>
          <p:cNvPr id="9" name="Text 7"/>
          <p:cNvSpPr/>
          <p:nvPr/>
        </p:nvSpPr>
        <p:spPr>
          <a:xfrm>
            <a:off x="914400" y="1783080"/>
            <a:ext cx="1143000" cy="201168"/>
          </a:xfrm>
          <a:prstGeom prst="rect">
            <a:avLst/>
          </a:prstGeom>
          <a:noFill/>
          <a:ln/>
        </p:spPr>
        <p:txBody>
          <a:bodyPr wrap="square" lIns="0" tIns="0" rIns="0" bIns="0" rtlCol="0" anchor="ctr"/>
          <a:lstStyle/>
          <a:p>
            <a:pPr marL="0" indent="0">
              <a:buNone/>
            </a:pPr>
            <a:r>
              <a:rPr lang="en-US" sz="1300" b="1" dirty="0">
                <a:solidFill>
                  <a:srgbClr val="0964DA"/>
                </a:solidFill>
              </a:rPr>
              <a:t>Frontend</a:t>
            </a:r>
            <a:endParaRPr lang="en-US" sz="1300" dirty="0"/>
          </a:p>
        </p:txBody>
      </p:sp>
      <p:sp>
        <p:nvSpPr>
          <p:cNvPr id="10" name="Text 8"/>
          <p:cNvSpPr/>
          <p:nvPr/>
        </p:nvSpPr>
        <p:spPr>
          <a:xfrm>
            <a:off x="2103120" y="1764792"/>
            <a:ext cx="3520440" cy="411480"/>
          </a:xfrm>
          <a:prstGeom prst="rect">
            <a:avLst/>
          </a:prstGeom>
          <a:noFill/>
          <a:ln/>
        </p:spPr>
        <p:txBody>
          <a:bodyPr wrap="square" lIns="0" tIns="0" rIns="0" bIns="0" rtlCol="0" anchor="ctr"/>
          <a:lstStyle/>
          <a:p>
            <a:pPr marL="0" indent="0">
              <a:buNone/>
            </a:pPr>
            <a:r>
              <a:rPr lang="en-US" sz="1350" dirty="0">
                <a:solidFill>
                  <a:srgbClr val="13233A"/>
                </a:solidFill>
              </a:rPr>
              <a:t>Next.js 16, React 19, TypeScript, Tailwind CSS</a:t>
            </a:r>
            <a:endParaRPr lang="en-US" sz="1350" dirty="0"/>
          </a:p>
        </p:txBody>
      </p:sp>
      <p:sp>
        <p:nvSpPr>
          <p:cNvPr id="11" name="Shape 9"/>
          <p:cNvSpPr/>
          <p:nvPr/>
        </p:nvSpPr>
        <p:spPr>
          <a:xfrm>
            <a:off x="6263640" y="1600200"/>
            <a:ext cx="5212080" cy="960120"/>
          </a:xfrm>
          <a:prstGeom prst="roundRect">
            <a:avLst>
              <a:gd name="adj" fmla="val 5714"/>
            </a:avLst>
          </a:prstGeom>
          <a:solidFill>
            <a:srgbClr val="F8FAFC"/>
          </a:solidFill>
          <a:ln w="12700">
            <a:solidFill>
              <a:srgbClr val="D9E2EF"/>
            </a:solidFill>
            <a:prstDash val="solid"/>
          </a:ln>
        </p:spPr>
        <p:txBody>
          <a:bodyPr/>
          <a:lstStyle/>
          <a:p>
            <a:endParaRPr lang="en-US"/>
          </a:p>
        </p:txBody>
      </p:sp>
      <p:sp>
        <p:nvSpPr>
          <p:cNvPr id="12" name="Text 10"/>
          <p:cNvSpPr/>
          <p:nvPr/>
        </p:nvSpPr>
        <p:spPr>
          <a:xfrm>
            <a:off x="6492240" y="1783080"/>
            <a:ext cx="1143000" cy="201168"/>
          </a:xfrm>
          <a:prstGeom prst="rect">
            <a:avLst/>
          </a:prstGeom>
          <a:noFill/>
          <a:ln/>
        </p:spPr>
        <p:txBody>
          <a:bodyPr wrap="square" lIns="0" tIns="0" rIns="0" bIns="0" rtlCol="0" anchor="ctr"/>
          <a:lstStyle/>
          <a:p>
            <a:pPr marL="0" indent="0">
              <a:buNone/>
            </a:pPr>
            <a:r>
              <a:rPr lang="en-US" sz="1300" b="1" dirty="0">
                <a:solidFill>
                  <a:srgbClr val="0964DA"/>
                </a:solidFill>
              </a:rPr>
              <a:t>Backend</a:t>
            </a:r>
            <a:endParaRPr lang="en-US" sz="1300" dirty="0"/>
          </a:p>
        </p:txBody>
      </p:sp>
      <p:sp>
        <p:nvSpPr>
          <p:cNvPr id="13" name="Text 11"/>
          <p:cNvSpPr/>
          <p:nvPr/>
        </p:nvSpPr>
        <p:spPr>
          <a:xfrm>
            <a:off x="7680960" y="1764792"/>
            <a:ext cx="3520440" cy="411480"/>
          </a:xfrm>
          <a:prstGeom prst="rect">
            <a:avLst/>
          </a:prstGeom>
          <a:noFill/>
          <a:ln/>
        </p:spPr>
        <p:txBody>
          <a:bodyPr wrap="square" lIns="0" tIns="0" rIns="0" bIns="0" rtlCol="0" anchor="ctr"/>
          <a:lstStyle/>
          <a:p>
            <a:pPr marL="0" indent="0">
              <a:buNone/>
            </a:pPr>
            <a:r>
              <a:rPr lang="en-US" sz="1350" dirty="0">
                <a:solidFill>
                  <a:srgbClr val="13233A"/>
                </a:solidFill>
              </a:rPr>
              <a:t>Server Actions, API Routes, Auth.js</a:t>
            </a:r>
            <a:endParaRPr lang="en-US" sz="1350" dirty="0"/>
          </a:p>
        </p:txBody>
      </p:sp>
      <p:sp>
        <p:nvSpPr>
          <p:cNvPr id="14" name="Shape 12"/>
          <p:cNvSpPr/>
          <p:nvPr/>
        </p:nvSpPr>
        <p:spPr>
          <a:xfrm>
            <a:off x="685800" y="2971800"/>
            <a:ext cx="5212080" cy="960120"/>
          </a:xfrm>
          <a:prstGeom prst="roundRect">
            <a:avLst>
              <a:gd name="adj" fmla="val 5714"/>
            </a:avLst>
          </a:prstGeom>
          <a:solidFill>
            <a:srgbClr val="F4F8FF"/>
          </a:solidFill>
          <a:ln w="12700">
            <a:solidFill>
              <a:srgbClr val="D9E2EF"/>
            </a:solidFill>
            <a:prstDash val="solid"/>
          </a:ln>
        </p:spPr>
        <p:txBody>
          <a:bodyPr/>
          <a:lstStyle/>
          <a:p>
            <a:endParaRPr lang="en-US"/>
          </a:p>
        </p:txBody>
      </p:sp>
      <p:sp>
        <p:nvSpPr>
          <p:cNvPr id="15" name="Text 13"/>
          <p:cNvSpPr/>
          <p:nvPr/>
        </p:nvSpPr>
        <p:spPr>
          <a:xfrm>
            <a:off x="914400" y="3154680"/>
            <a:ext cx="1143000" cy="201168"/>
          </a:xfrm>
          <a:prstGeom prst="rect">
            <a:avLst/>
          </a:prstGeom>
          <a:noFill/>
          <a:ln/>
        </p:spPr>
        <p:txBody>
          <a:bodyPr wrap="square" lIns="0" tIns="0" rIns="0" bIns="0" rtlCol="0" anchor="ctr"/>
          <a:lstStyle/>
          <a:p>
            <a:pPr marL="0" indent="0">
              <a:buNone/>
            </a:pPr>
            <a:r>
              <a:rPr lang="en-US" sz="1300" b="1" dirty="0">
                <a:solidFill>
                  <a:srgbClr val="0964DA"/>
                </a:solidFill>
              </a:rPr>
              <a:t>Data</a:t>
            </a:r>
            <a:endParaRPr lang="en-US" sz="1300" dirty="0"/>
          </a:p>
        </p:txBody>
      </p:sp>
      <p:sp>
        <p:nvSpPr>
          <p:cNvPr id="16" name="Text 14"/>
          <p:cNvSpPr/>
          <p:nvPr/>
        </p:nvSpPr>
        <p:spPr>
          <a:xfrm>
            <a:off x="2103120" y="3136392"/>
            <a:ext cx="3520440" cy="411480"/>
          </a:xfrm>
          <a:prstGeom prst="rect">
            <a:avLst/>
          </a:prstGeom>
          <a:noFill/>
          <a:ln/>
        </p:spPr>
        <p:txBody>
          <a:bodyPr wrap="square" lIns="0" tIns="0" rIns="0" bIns="0" rtlCol="0" anchor="ctr"/>
          <a:lstStyle/>
          <a:p>
            <a:pPr marL="0" indent="0">
              <a:buNone/>
            </a:pPr>
            <a:r>
              <a:rPr lang="en-US" sz="1350" dirty="0">
                <a:solidFill>
                  <a:srgbClr val="13233A"/>
                </a:solidFill>
              </a:rPr>
              <a:t>PostgreSQL and Prisma ORM</a:t>
            </a:r>
            <a:endParaRPr lang="en-US" sz="1350" dirty="0"/>
          </a:p>
        </p:txBody>
      </p:sp>
      <p:sp>
        <p:nvSpPr>
          <p:cNvPr id="17" name="Shape 15"/>
          <p:cNvSpPr/>
          <p:nvPr/>
        </p:nvSpPr>
        <p:spPr>
          <a:xfrm>
            <a:off x="6263640" y="2971800"/>
            <a:ext cx="5212080" cy="960120"/>
          </a:xfrm>
          <a:prstGeom prst="roundRect">
            <a:avLst>
              <a:gd name="adj" fmla="val 5714"/>
            </a:avLst>
          </a:prstGeom>
          <a:solidFill>
            <a:srgbClr val="F8FAFC"/>
          </a:solidFill>
          <a:ln w="12700">
            <a:solidFill>
              <a:srgbClr val="D9E2EF"/>
            </a:solidFill>
            <a:prstDash val="solid"/>
          </a:ln>
        </p:spPr>
        <p:txBody>
          <a:bodyPr/>
          <a:lstStyle/>
          <a:p>
            <a:endParaRPr lang="en-US"/>
          </a:p>
        </p:txBody>
      </p:sp>
      <p:sp>
        <p:nvSpPr>
          <p:cNvPr id="18" name="Text 16"/>
          <p:cNvSpPr/>
          <p:nvPr/>
        </p:nvSpPr>
        <p:spPr>
          <a:xfrm>
            <a:off x="6492240" y="3154680"/>
            <a:ext cx="1143000" cy="201168"/>
          </a:xfrm>
          <a:prstGeom prst="rect">
            <a:avLst/>
          </a:prstGeom>
          <a:noFill/>
          <a:ln/>
        </p:spPr>
        <p:txBody>
          <a:bodyPr wrap="square" lIns="0" tIns="0" rIns="0" bIns="0" rtlCol="0" anchor="ctr"/>
          <a:lstStyle/>
          <a:p>
            <a:pPr marL="0" indent="0">
              <a:buNone/>
            </a:pPr>
            <a:r>
              <a:rPr lang="en-US" sz="1300" b="1" dirty="0">
                <a:solidFill>
                  <a:srgbClr val="0964DA"/>
                </a:solidFill>
              </a:rPr>
              <a:t>Security</a:t>
            </a:r>
            <a:endParaRPr lang="en-US" sz="1300" dirty="0"/>
          </a:p>
        </p:txBody>
      </p:sp>
      <p:sp>
        <p:nvSpPr>
          <p:cNvPr id="19" name="Text 17"/>
          <p:cNvSpPr/>
          <p:nvPr/>
        </p:nvSpPr>
        <p:spPr>
          <a:xfrm>
            <a:off x="7680960" y="3136392"/>
            <a:ext cx="3520440" cy="411480"/>
          </a:xfrm>
          <a:prstGeom prst="rect">
            <a:avLst/>
          </a:prstGeom>
          <a:noFill/>
          <a:ln/>
        </p:spPr>
        <p:txBody>
          <a:bodyPr wrap="square" lIns="0" tIns="0" rIns="0" bIns="0" rtlCol="0" anchor="ctr"/>
          <a:lstStyle/>
          <a:p>
            <a:pPr marL="0" indent="0">
              <a:buNone/>
            </a:pPr>
            <a:r>
              <a:rPr lang="en-US" sz="1350" dirty="0">
                <a:solidFill>
                  <a:srgbClr val="13233A"/>
                </a:solidFill>
              </a:rPr>
              <a:t>bcrypt, role-based access, rate limiting, audit logs</a:t>
            </a:r>
            <a:endParaRPr lang="en-US" sz="1350" dirty="0"/>
          </a:p>
        </p:txBody>
      </p:sp>
      <p:sp>
        <p:nvSpPr>
          <p:cNvPr id="20" name="Shape 18"/>
          <p:cNvSpPr/>
          <p:nvPr/>
        </p:nvSpPr>
        <p:spPr>
          <a:xfrm>
            <a:off x="685800" y="4343400"/>
            <a:ext cx="5212080" cy="960120"/>
          </a:xfrm>
          <a:prstGeom prst="roundRect">
            <a:avLst>
              <a:gd name="adj" fmla="val 5714"/>
            </a:avLst>
          </a:prstGeom>
          <a:solidFill>
            <a:srgbClr val="F4F8FF"/>
          </a:solidFill>
          <a:ln w="12700">
            <a:solidFill>
              <a:srgbClr val="D9E2EF"/>
            </a:solidFill>
            <a:prstDash val="solid"/>
          </a:ln>
        </p:spPr>
        <p:txBody>
          <a:bodyPr/>
          <a:lstStyle/>
          <a:p>
            <a:endParaRPr lang="en-US"/>
          </a:p>
        </p:txBody>
      </p:sp>
      <p:sp>
        <p:nvSpPr>
          <p:cNvPr id="21" name="Text 19"/>
          <p:cNvSpPr/>
          <p:nvPr/>
        </p:nvSpPr>
        <p:spPr>
          <a:xfrm>
            <a:off x="914400" y="4526280"/>
            <a:ext cx="1143000" cy="201168"/>
          </a:xfrm>
          <a:prstGeom prst="rect">
            <a:avLst/>
          </a:prstGeom>
          <a:noFill/>
          <a:ln/>
        </p:spPr>
        <p:txBody>
          <a:bodyPr wrap="square" lIns="0" tIns="0" rIns="0" bIns="0" rtlCol="0" anchor="ctr"/>
          <a:lstStyle/>
          <a:p>
            <a:pPr marL="0" indent="0">
              <a:buNone/>
            </a:pPr>
            <a:r>
              <a:rPr lang="en-US" sz="1300" b="1" dirty="0">
                <a:solidFill>
                  <a:srgbClr val="0964DA"/>
                </a:solidFill>
              </a:rPr>
              <a:t>Payments</a:t>
            </a:r>
            <a:endParaRPr lang="en-US" sz="1300" dirty="0"/>
          </a:p>
        </p:txBody>
      </p:sp>
      <p:sp>
        <p:nvSpPr>
          <p:cNvPr id="22" name="Text 20"/>
          <p:cNvSpPr/>
          <p:nvPr/>
        </p:nvSpPr>
        <p:spPr>
          <a:xfrm>
            <a:off x="2103120" y="4507992"/>
            <a:ext cx="3520440" cy="411480"/>
          </a:xfrm>
          <a:prstGeom prst="rect">
            <a:avLst/>
          </a:prstGeom>
          <a:noFill/>
          <a:ln/>
        </p:spPr>
        <p:txBody>
          <a:bodyPr wrap="square" lIns="0" tIns="0" rIns="0" bIns="0" rtlCol="0" anchor="ctr"/>
          <a:lstStyle/>
          <a:p>
            <a:pPr marL="0" indent="0">
              <a:buNone/>
            </a:pPr>
            <a:r>
              <a:rPr lang="en-US" sz="1350" dirty="0">
                <a:solidFill>
                  <a:srgbClr val="13233A"/>
                </a:solidFill>
              </a:rPr>
              <a:t>Paystack test environment</a:t>
            </a:r>
            <a:endParaRPr lang="en-US" sz="1350" dirty="0"/>
          </a:p>
        </p:txBody>
      </p:sp>
      <p:sp>
        <p:nvSpPr>
          <p:cNvPr id="23" name="Shape 21"/>
          <p:cNvSpPr/>
          <p:nvPr/>
        </p:nvSpPr>
        <p:spPr>
          <a:xfrm>
            <a:off x="6263640" y="4343400"/>
            <a:ext cx="5212080" cy="960120"/>
          </a:xfrm>
          <a:prstGeom prst="roundRect">
            <a:avLst>
              <a:gd name="adj" fmla="val 5714"/>
            </a:avLst>
          </a:prstGeom>
          <a:solidFill>
            <a:srgbClr val="F8FAFC"/>
          </a:solidFill>
          <a:ln w="12700">
            <a:solidFill>
              <a:srgbClr val="D9E2EF"/>
            </a:solidFill>
            <a:prstDash val="solid"/>
          </a:ln>
        </p:spPr>
        <p:txBody>
          <a:bodyPr/>
          <a:lstStyle/>
          <a:p>
            <a:endParaRPr lang="en-US"/>
          </a:p>
        </p:txBody>
      </p:sp>
      <p:sp>
        <p:nvSpPr>
          <p:cNvPr id="24" name="Text 22"/>
          <p:cNvSpPr/>
          <p:nvPr/>
        </p:nvSpPr>
        <p:spPr>
          <a:xfrm>
            <a:off x="6492240" y="4526280"/>
            <a:ext cx="1143000" cy="201168"/>
          </a:xfrm>
          <a:prstGeom prst="rect">
            <a:avLst/>
          </a:prstGeom>
          <a:noFill/>
          <a:ln/>
        </p:spPr>
        <p:txBody>
          <a:bodyPr wrap="square" lIns="0" tIns="0" rIns="0" bIns="0" rtlCol="0" anchor="ctr"/>
          <a:lstStyle/>
          <a:p>
            <a:pPr marL="0" indent="0">
              <a:buNone/>
            </a:pPr>
            <a:r>
              <a:rPr lang="en-US" sz="1300" b="1" dirty="0">
                <a:solidFill>
                  <a:srgbClr val="0964DA"/>
                </a:solidFill>
              </a:rPr>
              <a:t>Deployment</a:t>
            </a:r>
            <a:endParaRPr lang="en-US" sz="1300" dirty="0"/>
          </a:p>
        </p:txBody>
      </p:sp>
      <p:sp>
        <p:nvSpPr>
          <p:cNvPr id="25" name="Text 23"/>
          <p:cNvSpPr/>
          <p:nvPr/>
        </p:nvSpPr>
        <p:spPr>
          <a:xfrm>
            <a:off x="7680960" y="4507992"/>
            <a:ext cx="3520440" cy="411480"/>
          </a:xfrm>
          <a:prstGeom prst="rect">
            <a:avLst/>
          </a:prstGeom>
          <a:noFill/>
          <a:ln/>
        </p:spPr>
        <p:txBody>
          <a:bodyPr wrap="square" lIns="0" tIns="0" rIns="0" bIns="0" rtlCol="0" anchor="ctr"/>
          <a:lstStyle/>
          <a:p>
            <a:pPr marL="0" indent="0">
              <a:buNone/>
            </a:pPr>
            <a:r>
              <a:rPr lang="en-US" sz="1350" dirty="0">
                <a:solidFill>
                  <a:srgbClr val="13233A"/>
                </a:solidFill>
              </a:rPr>
              <a:t>Vercel and managed PostgreSQL</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964DA"/>
          </a:solidFill>
          <a:ln w="12700">
            <a:solidFill>
              <a:srgbClr val="0964DA"/>
            </a:solidFill>
            <a:prstDash val="solid"/>
          </a:ln>
        </p:spPr>
        <p:txBody>
          <a:bodyPr/>
          <a:lstStyle/>
          <a:p>
            <a:endParaRPr lang="en-US"/>
          </a:p>
        </p:txBody>
      </p:sp>
      <p:sp>
        <p:nvSpPr>
          <p:cNvPr id="3" name="Text 1"/>
          <p:cNvSpPr/>
          <p:nvPr/>
        </p:nvSpPr>
        <p:spPr>
          <a:xfrm>
            <a:off x="411480" y="6510528"/>
            <a:ext cx="5120640" cy="164592"/>
          </a:xfrm>
          <a:prstGeom prst="rect">
            <a:avLst/>
          </a:prstGeom>
          <a:noFill/>
          <a:ln/>
        </p:spPr>
        <p:txBody>
          <a:bodyPr wrap="square" lIns="0" tIns="0" rIns="0" bIns="0" rtlCol="0" anchor="ctr"/>
          <a:lstStyle/>
          <a:p>
            <a:pPr marL="0" indent="0">
              <a:buNone/>
            </a:pPr>
            <a:r>
              <a:rPr lang="en-US" sz="750" dirty="0">
                <a:solidFill>
                  <a:srgbClr val="5A6675"/>
                </a:solidFill>
                <a:latin typeface="Aptos" pitchFamily="34" charset="0"/>
                <a:ea typeface="Aptos" pitchFamily="34" charset="-122"/>
                <a:cs typeface="Aptos" pitchFamily="34" charset="-120"/>
              </a:rPr>
              <a:t>E-Learning Platform Project Defence</a:t>
            </a:r>
            <a:endParaRPr lang="en-US" sz="750" dirty="0"/>
          </a:p>
        </p:txBody>
      </p:sp>
      <p:sp>
        <p:nvSpPr>
          <p:cNvPr id="4" name="Text 2"/>
          <p:cNvSpPr/>
          <p:nvPr/>
        </p:nvSpPr>
        <p:spPr>
          <a:xfrm>
            <a:off x="11384280" y="6492240"/>
            <a:ext cx="365760" cy="164592"/>
          </a:xfrm>
          <a:prstGeom prst="rect">
            <a:avLst/>
          </a:prstGeom>
          <a:noFill/>
          <a:ln/>
        </p:spPr>
        <p:txBody>
          <a:bodyPr wrap="square" lIns="0" tIns="0" rIns="0" bIns="0" rtlCol="0" anchor="ctr"/>
          <a:lstStyle/>
          <a:p>
            <a:pPr marL="0" indent="0" algn="r">
              <a:buNone/>
            </a:pPr>
            <a:r>
              <a:rPr lang="en-US" sz="800" dirty="0">
                <a:solidFill>
                  <a:srgbClr val="5A6675"/>
                </a:solidFill>
                <a:latin typeface="Aptos" pitchFamily="34" charset="0"/>
                <a:ea typeface="Aptos" pitchFamily="34" charset="-122"/>
                <a:cs typeface="Aptos" pitchFamily="34" charset="-120"/>
              </a:rPr>
              <a:t>7</a:t>
            </a:r>
            <a:endParaRPr lang="en-US" sz="800" dirty="0"/>
          </a:p>
        </p:txBody>
      </p:sp>
      <p:sp>
        <p:nvSpPr>
          <p:cNvPr id="5" name="Text 3"/>
          <p:cNvSpPr/>
          <p:nvPr/>
        </p:nvSpPr>
        <p:spPr>
          <a:xfrm>
            <a:off x="502920" y="411480"/>
            <a:ext cx="11064240" cy="411480"/>
          </a:xfrm>
          <a:prstGeom prst="rect">
            <a:avLst/>
          </a:prstGeom>
          <a:noFill/>
          <a:ln/>
        </p:spPr>
        <p:txBody>
          <a:bodyPr wrap="square" lIns="0" tIns="0" rIns="0" bIns="0" rtlCol="0" anchor="ctr"/>
          <a:lstStyle/>
          <a:p>
            <a:pPr marL="0" indent="0">
              <a:buNone/>
            </a:pPr>
            <a:r>
              <a:rPr lang="en-US" sz="2500" b="1" dirty="0">
                <a:solidFill>
                  <a:srgbClr val="082E67"/>
                </a:solidFill>
                <a:latin typeface="Aptos Display" pitchFamily="34" charset="0"/>
                <a:ea typeface="Aptos Display" pitchFamily="34" charset="-122"/>
                <a:cs typeface="Aptos Display" pitchFamily="34" charset="-120"/>
              </a:rPr>
              <a:t>Security and Reliability Controls</a:t>
            </a:r>
            <a:endParaRPr lang="en-US" sz="2500" dirty="0"/>
          </a:p>
        </p:txBody>
      </p:sp>
      <p:sp>
        <p:nvSpPr>
          <p:cNvPr id="6" name="Text 4"/>
          <p:cNvSpPr/>
          <p:nvPr/>
        </p:nvSpPr>
        <p:spPr>
          <a:xfrm>
            <a:off x="530352" y="868680"/>
            <a:ext cx="10789920" cy="228600"/>
          </a:xfrm>
          <a:prstGeom prst="rect">
            <a:avLst/>
          </a:prstGeom>
          <a:noFill/>
          <a:ln/>
        </p:spPr>
        <p:txBody>
          <a:bodyPr wrap="square" lIns="0" tIns="0" rIns="0" bIns="0" rtlCol="0" anchor="ctr"/>
          <a:lstStyle/>
          <a:p>
            <a:pPr marL="0" indent="0">
              <a:buNone/>
            </a:pPr>
            <a:r>
              <a:rPr lang="en-US" sz="1050" dirty="0">
                <a:solidFill>
                  <a:srgbClr val="5A6675"/>
                </a:solidFill>
                <a:latin typeface="Aptos" pitchFamily="34" charset="0"/>
                <a:ea typeface="Aptos" pitchFamily="34" charset="-122"/>
                <a:cs typeface="Aptos" pitchFamily="34" charset="-120"/>
              </a:rPr>
              <a:t>Controls implemented to protect users, content, and payments</a:t>
            </a:r>
            <a:endParaRPr lang="en-US" sz="1050" dirty="0"/>
          </a:p>
        </p:txBody>
      </p:sp>
      <p:sp>
        <p:nvSpPr>
          <p:cNvPr id="7" name="Shape 5"/>
          <p:cNvSpPr/>
          <p:nvPr/>
        </p:nvSpPr>
        <p:spPr>
          <a:xfrm>
            <a:off x="502920" y="1170432"/>
            <a:ext cx="11155680" cy="0"/>
          </a:xfrm>
          <a:prstGeom prst="line">
            <a:avLst/>
          </a:prstGeom>
          <a:noFill/>
          <a:ln w="12700">
            <a:solidFill>
              <a:srgbClr val="D9E2EF"/>
            </a:solidFill>
            <a:prstDash val="solid"/>
          </a:ln>
        </p:spPr>
        <p:txBody>
          <a:bodyPr/>
          <a:lstStyle/>
          <a:p>
            <a:endParaRPr lang="en-US"/>
          </a:p>
        </p:txBody>
      </p:sp>
      <p:sp>
        <p:nvSpPr>
          <p:cNvPr id="8" name="Shape 6"/>
          <p:cNvSpPr/>
          <p:nvPr/>
        </p:nvSpPr>
        <p:spPr>
          <a:xfrm>
            <a:off x="658368" y="1481328"/>
            <a:ext cx="5349240" cy="1069848"/>
          </a:xfrm>
          <a:prstGeom prst="roundRect">
            <a:avLst>
              <a:gd name="adj" fmla="val 5128"/>
            </a:avLst>
          </a:prstGeom>
          <a:solidFill>
            <a:srgbClr val="F8FAFC"/>
          </a:solidFill>
          <a:ln w="12700">
            <a:solidFill>
              <a:srgbClr val="D9E2EF"/>
            </a:solidFill>
            <a:prstDash val="solid"/>
          </a:ln>
        </p:spPr>
        <p:txBody>
          <a:bodyPr/>
          <a:lstStyle/>
          <a:p>
            <a:endParaRPr lang="en-US"/>
          </a:p>
        </p:txBody>
      </p:sp>
      <p:sp>
        <p:nvSpPr>
          <p:cNvPr id="9" name="Shape 7"/>
          <p:cNvSpPr/>
          <p:nvPr/>
        </p:nvSpPr>
        <p:spPr>
          <a:xfrm>
            <a:off x="886968" y="1737360"/>
            <a:ext cx="347472" cy="347472"/>
          </a:xfrm>
          <a:prstGeom prst="ellipse">
            <a:avLst/>
          </a:prstGeom>
          <a:solidFill>
            <a:srgbClr val="0964DA"/>
          </a:solidFill>
          <a:ln w="12700">
            <a:solidFill>
              <a:srgbClr val="0964DA"/>
            </a:solidFill>
            <a:prstDash val="solid"/>
          </a:ln>
        </p:spPr>
        <p:txBody>
          <a:bodyPr/>
          <a:lstStyle/>
          <a:p>
            <a:endParaRPr lang="en-US"/>
          </a:p>
        </p:txBody>
      </p:sp>
      <p:sp>
        <p:nvSpPr>
          <p:cNvPr id="10" name="Text 8"/>
          <p:cNvSpPr/>
          <p:nvPr/>
        </p:nvSpPr>
        <p:spPr>
          <a:xfrm>
            <a:off x="886968" y="1792224"/>
            <a:ext cx="347472" cy="109728"/>
          </a:xfrm>
          <a:prstGeom prst="rect">
            <a:avLst/>
          </a:prstGeom>
          <a:noFill/>
          <a:ln/>
        </p:spPr>
        <p:txBody>
          <a:bodyPr wrap="square" lIns="0" tIns="0" rIns="0" bIns="0" rtlCol="0" anchor="ctr"/>
          <a:lstStyle/>
          <a:p>
            <a:pPr marL="0" indent="0" algn="ctr">
              <a:buNone/>
            </a:pPr>
            <a:r>
              <a:rPr lang="en-US" sz="800" b="1" dirty="0">
                <a:solidFill>
                  <a:srgbClr val="FFFFFF"/>
                </a:solidFill>
              </a:rPr>
              <a:t>✓</a:t>
            </a:r>
            <a:endParaRPr lang="en-US" sz="800" dirty="0"/>
          </a:p>
        </p:txBody>
      </p:sp>
      <p:sp>
        <p:nvSpPr>
          <p:cNvPr id="11" name="Text 9"/>
          <p:cNvSpPr/>
          <p:nvPr/>
        </p:nvSpPr>
        <p:spPr>
          <a:xfrm>
            <a:off x="1408176" y="1655064"/>
            <a:ext cx="4251960" cy="182880"/>
          </a:xfrm>
          <a:prstGeom prst="rect">
            <a:avLst/>
          </a:prstGeom>
          <a:noFill/>
          <a:ln/>
        </p:spPr>
        <p:txBody>
          <a:bodyPr wrap="square" lIns="0" tIns="0" rIns="0" bIns="0" rtlCol="0" anchor="ctr"/>
          <a:lstStyle/>
          <a:p>
            <a:pPr marL="0" indent="0">
              <a:buNone/>
            </a:pPr>
            <a:r>
              <a:rPr lang="en-US" sz="1400" b="1" dirty="0">
                <a:solidFill>
                  <a:srgbClr val="082E67"/>
                </a:solidFill>
              </a:rPr>
              <a:t>Role-based access</a:t>
            </a:r>
            <a:endParaRPr lang="en-US" sz="1400" dirty="0"/>
          </a:p>
        </p:txBody>
      </p:sp>
      <p:sp>
        <p:nvSpPr>
          <p:cNvPr id="12" name="Text 10"/>
          <p:cNvSpPr/>
          <p:nvPr/>
        </p:nvSpPr>
        <p:spPr>
          <a:xfrm>
            <a:off x="1408176" y="1920240"/>
            <a:ext cx="4251960" cy="393192"/>
          </a:xfrm>
          <a:prstGeom prst="rect">
            <a:avLst/>
          </a:prstGeom>
          <a:noFill/>
          <a:ln/>
        </p:spPr>
        <p:txBody>
          <a:bodyPr wrap="square" lIns="0" tIns="0" rIns="0" bIns="0" rtlCol="0" anchor="ctr"/>
          <a:lstStyle/>
          <a:p>
            <a:pPr marL="0" indent="0">
              <a:buNone/>
            </a:pPr>
            <a:r>
              <a:rPr lang="en-US" sz="1050" dirty="0">
                <a:solidFill>
                  <a:srgbClr val="5A6675"/>
                </a:solidFill>
              </a:rPr>
              <a:t>Students, instructors, and admins are restricted by middleware and server-side checks.</a:t>
            </a:r>
            <a:endParaRPr lang="en-US" sz="1050" dirty="0"/>
          </a:p>
        </p:txBody>
      </p:sp>
      <p:sp>
        <p:nvSpPr>
          <p:cNvPr id="13" name="Shape 11"/>
          <p:cNvSpPr/>
          <p:nvPr/>
        </p:nvSpPr>
        <p:spPr>
          <a:xfrm>
            <a:off x="6172200" y="1481328"/>
            <a:ext cx="5349240" cy="1069848"/>
          </a:xfrm>
          <a:prstGeom prst="roundRect">
            <a:avLst>
              <a:gd name="adj" fmla="val 5128"/>
            </a:avLst>
          </a:prstGeom>
          <a:solidFill>
            <a:srgbClr val="F8FAFC"/>
          </a:solidFill>
          <a:ln w="12700">
            <a:solidFill>
              <a:srgbClr val="D9E2EF"/>
            </a:solidFill>
            <a:prstDash val="solid"/>
          </a:ln>
        </p:spPr>
        <p:txBody>
          <a:bodyPr/>
          <a:lstStyle/>
          <a:p>
            <a:endParaRPr lang="en-US"/>
          </a:p>
        </p:txBody>
      </p:sp>
      <p:sp>
        <p:nvSpPr>
          <p:cNvPr id="14" name="Shape 12"/>
          <p:cNvSpPr/>
          <p:nvPr/>
        </p:nvSpPr>
        <p:spPr>
          <a:xfrm>
            <a:off x="6400800" y="1737360"/>
            <a:ext cx="347472" cy="347472"/>
          </a:xfrm>
          <a:prstGeom prst="ellipse">
            <a:avLst/>
          </a:prstGeom>
          <a:solidFill>
            <a:srgbClr val="0964DA"/>
          </a:solidFill>
          <a:ln w="12700">
            <a:solidFill>
              <a:srgbClr val="0964DA"/>
            </a:solidFill>
            <a:prstDash val="solid"/>
          </a:ln>
        </p:spPr>
        <p:txBody>
          <a:bodyPr/>
          <a:lstStyle/>
          <a:p>
            <a:endParaRPr lang="en-US"/>
          </a:p>
        </p:txBody>
      </p:sp>
      <p:sp>
        <p:nvSpPr>
          <p:cNvPr id="15" name="Text 13"/>
          <p:cNvSpPr/>
          <p:nvPr/>
        </p:nvSpPr>
        <p:spPr>
          <a:xfrm>
            <a:off x="6400800" y="1792224"/>
            <a:ext cx="347472" cy="109728"/>
          </a:xfrm>
          <a:prstGeom prst="rect">
            <a:avLst/>
          </a:prstGeom>
          <a:noFill/>
          <a:ln/>
        </p:spPr>
        <p:txBody>
          <a:bodyPr wrap="square" lIns="0" tIns="0" rIns="0" bIns="0" rtlCol="0" anchor="ctr"/>
          <a:lstStyle/>
          <a:p>
            <a:pPr marL="0" indent="0" algn="ctr">
              <a:buNone/>
            </a:pPr>
            <a:r>
              <a:rPr lang="en-US" sz="800" b="1" dirty="0">
                <a:solidFill>
                  <a:srgbClr val="FFFFFF"/>
                </a:solidFill>
              </a:rPr>
              <a:t>✓</a:t>
            </a:r>
            <a:endParaRPr lang="en-US" sz="800" dirty="0"/>
          </a:p>
        </p:txBody>
      </p:sp>
      <p:sp>
        <p:nvSpPr>
          <p:cNvPr id="16" name="Text 14"/>
          <p:cNvSpPr/>
          <p:nvPr/>
        </p:nvSpPr>
        <p:spPr>
          <a:xfrm>
            <a:off x="6922008" y="1655064"/>
            <a:ext cx="4251960" cy="182880"/>
          </a:xfrm>
          <a:prstGeom prst="rect">
            <a:avLst/>
          </a:prstGeom>
          <a:noFill/>
          <a:ln/>
        </p:spPr>
        <p:txBody>
          <a:bodyPr wrap="square" lIns="0" tIns="0" rIns="0" bIns="0" rtlCol="0" anchor="ctr"/>
          <a:lstStyle/>
          <a:p>
            <a:pPr marL="0" indent="0">
              <a:buNone/>
            </a:pPr>
            <a:r>
              <a:rPr lang="en-US" sz="1400" b="1" dirty="0">
                <a:solidFill>
                  <a:srgbClr val="082E67"/>
                </a:solidFill>
              </a:rPr>
              <a:t>Password protection</a:t>
            </a:r>
            <a:endParaRPr lang="en-US" sz="1400" dirty="0"/>
          </a:p>
        </p:txBody>
      </p:sp>
      <p:sp>
        <p:nvSpPr>
          <p:cNvPr id="17" name="Text 15"/>
          <p:cNvSpPr/>
          <p:nvPr/>
        </p:nvSpPr>
        <p:spPr>
          <a:xfrm>
            <a:off x="6922008" y="1920240"/>
            <a:ext cx="4251960" cy="393192"/>
          </a:xfrm>
          <a:prstGeom prst="rect">
            <a:avLst/>
          </a:prstGeom>
          <a:noFill/>
          <a:ln/>
        </p:spPr>
        <p:txBody>
          <a:bodyPr wrap="square" lIns="0" tIns="0" rIns="0" bIns="0" rtlCol="0" anchor="ctr"/>
          <a:lstStyle/>
          <a:p>
            <a:pPr marL="0" indent="0">
              <a:buNone/>
            </a:pPr>
            <a:r>
              <a:rPr lang="en-US" sz="1050" dirty="0">
                <a:solidFill>
                  <a:srgbClr val="5A6675"/>
                </a:solidFill>
              </a:rPr>
              <a:t>Passwords are hashed with bcrypt; inactive accounts cannot sign in.</a:t>
            </a:r>
            <a:endParaRPr lang="en-US" sz="1050" dirty="0"/>
          </a:p>
        </p:txBody>
      </p:sp>
      <p:sp>
        <p:nvSpPr>
          <p:cNvPr id="18" name="Shape 16"/>
          <p:cNvSpPr/>
          <p:nvPr/>
        </p:nvSpPr>
        <p:spPr>
          <a:xfrm>
            <a:off x="658368" y="2926080"/>
            <a:ext cx="5349240" cy="1069848"/>
          </a:xfrm>
          <a:prstGeom prst="roundRect">
            <a:avLst>
              <a:gd name="adj" fmla="val 5128"/>
            </a:avLst>
          </a:prstGeom>
          <a:solidFill>
            <a:srgbClr val="F8FAFC"/>
          </a:solidFill>
          <a:ln w="12700">
            <a:solidFill>
              <a:srgbClr val="D9E2EF"/>
            </a:solidFill>
            <a:prstDash val="solid"/>
          </a:ln>
        </p:spPr>
        <p:txBody>
          <a:bodyPr/>
          <a:lstStyle/>
          <a:p>
            <a:endParaRPr lang="en-US"/>
          </a:p>
        </p:txBody>
      </p:sp>
      <p:sp>
        <p:nvSpPr>
          <p:cNvPr id="19" name="Shape 17"/>
          <p:cNvSpPr/>
          <p:nvPr/>
        </p:nvSpPr>
        <p:spPr>
          <a:xfrm>
            <a:off x="886968" y="3182112"/>
            <a:ext cx="347472" cy="347472"/>
          </a:xfrm>
          <a:prstGeom prst="ellipse">
            <a:avLst/>
          </a:prstGeom>
          <a:solidFill>
            <a:srgbClr val="0964DA"/>
          </a:solidFill>
          <a:ln w="12700">
            <a:solidFill>
              <a:srgbClr val="0964DA"/>
            </a:solidFill>
            <a:prstDash val="solid"/>
          </a:ln>
        </p:spPr>
        <p:txBody>
          <a:bodyPr/>
          <a:lstStyle/>
          <a:p>
            <a:endParaRPr lang="en-US"/>
          </a:p>
        </p:txBody>
      </p:sp>
      <p:sp>
        <p:nvSpPr>
          <p:cNvPr id="20" name="Text 18"/>
          <p:cNvSpPr/>
          <p:nvPr/>
        </p:nvSpPr>
        <p:spPr>
          <a:xfrm>
            <a:off x="886968" y="3236976"/>
            <a:ext cx="347472" cy="109728"/>
          </a:xfrm>
          <a:prstGeom prst="rect">
            <a:avLst/>
          </a:prstGeom>
          <a:noFill/>
          <a:ln/>
        </p:spPr>
        <p:txBody>
          <a:bodyPr wrap="square" lIns="0" tIns="0" rIns="0" bIns="0" rtlCol="0" anchor="ctr"/>
          <a:lstStyle/>
          <a:p>
            <a:pPr marL="0" indent="0" algn="ctr">
              <a:buNone/>
            </a:pPr>
            <a:r>
              <a:rPr lang="en-US" sz="800" b="1" dirty="0">
                <a:solidFill>
                  <a:srgbClr val="FFFFFF"/>
                </a:solidFill>
              </a:rPr>
              <a:t>✓</a:t>
            </a:r>
            <a:endParaRPr lang="en-US" sz="800" dirty="0"/>
          </a:p>
        </p:txBody>
      </p:sp>
      <p:sp>
        <p:nvSpPr>
          <p:cNvPr id="21" name="Text 19"/>
          <p:cNvSpPr/>
          <p:nvPr/>
        </p:nvSpPr>
        <p:spPr>
          <a:xfrm>
            <a:off x="1408176" y="3099816"/>
            <a:ext cx="4251960" cy="182880"/>
          </a:xfrm>
          <a:prstGeom prst="rect">
            <a:avLst/>
          </a:prstGeom>
          <a:noFill/>
          <a:ln/>
        </p:spPr>
        <p:txBody>
          <a:bodyPr wrap="square" lIns="0" tIns="0" rIns="0" bIns="0" rtlCol="0" anchor="ctr"/>
          <a:lstStyle/>
          <a:p>
            <a:pPr marL="0" indent="0">
              <a:buNone/>
            </a:pPr>
            <a:r>
              <a:rPr lang="en-US" sz="1400" b="1" dirty="0">
                <a:solidFill>
                  <a:srgbClr val="082E67"/>
                </a:solidFill>
              </a:rPr>
              <a:t>Rate limiting</a:t>
            </a:r>
            <a:endParaRPr lang="en-US" sz="1400" dirty="0"/>
          </a:p>
        </p:txBody>
      </p:sp>
      <p:sp>
        <p:nvSpPr>
          <p:cNvPr id="22" name="Text 20"/>
          <p:cNvSpPr/>
          <p:nvPr/>
        </p:nvSpPr>
        <p:spPr>
          <a:xfrm>
            <a:off x="1408176" y="3364992"/>
            <a:ext cx="4251960" cy="393192"/>
          </a:xfrm>
          <a:prstGeom prst="rect">
            <a:avLst/>
          </a:prstGeom>
          <a:noFill/>
          <a:ln/>
        </p:spPr>
        <p:txBody>
          <a:bodyPr wrap="square" lIns="0" tIns="0" rIns="0" bIns="0" rtlCol="0" anchor="ctr"/>
          <a:lstStyle/>
          <a:p>
            <a:pPr marL="0" indent="0">
              <a:buNone/>
            </a:pPr>
            <a:r>
              <a:rPr lang="en-US" sz="1050" dirty="0">
                <a:solidFill>
                  <a:srgbClr val="5A6675"/>
                </a:solidFill>
              </a:rPr>
              <a:t>Database-backed limits resist repeated login, OTP, reset, and message abuse.</a:t>
            </a:r>
            <a:endParaRPr lang="en-US" sz="1050" dirty="0"/>
          </a:p>
        </p:txBody>
      </p:sp>
      <p:sp>
        <p:nvSpPr>
          <p:cNvPr id="23" name="Shape 21"/>
          <p:cNvSpPr/>
          <p:nvPr/>
        </p:nvSpPr>
        <p:spPr>
          <a:xfrm>
            <a:off x="6172200" y="2926080"/>
            <a:ext cx="5349240" cy="1069848"/>
          </a:xfrm>
          <a:prstGeom prst="roundRect">
            <a:avLst>
              <a:gd name="adj" fmla="val 5128"/>
            </a:avLst>
          </a:prstGeom>
          <a:solidFill>
            <a:srgbClr val="F8FAFC"/>
          </a:solidFill>
          <a:ln w="12700">
            <a:solidFill>
              <a:srgbClr val="D9E2EF"/>
            </a:solidFill>
            <a:prstDash val="solid"/>
          </a:ln>
        </p:spPr>
        <p:txBody>
          <a:bodyPr/>
          <a:lstStyle/>
          <a:p>
            <a:endParaRPr lang="en-US"/>
          </a:p>
        </p:txBody>
      </p:sp>
      <p:sp>
        <p:nvSpPr>
          <p:cNvPr id="24" name="Shape 22"/>
          <p:cNvSpPr/>
          <p:nvPr/>
        </p:nvSpPr>
        <p:spPr>
          <a:xfrm>
            <a:off x="6400800" y="3182112"/>
            <a:ext cx="347472" cy="347472"/>
          </a:xfrm>
          <a:prstGeom prst="ellipse">
            <a:avLst/>
          </a:prstGeom>
          <a:solidFill>
            <a:srgbClr val="0964DA"/>
          </a:solidFill>
          <a:ln w="12700">
            <a:solidFill>
              <a:srgbClr val="0964DA"/>
            </a:solidFill>
            <a:prstDash val="solid"/>
          </a:ln>
        </p:spPr>
        <p:txBody>
          <a:bodyPr/>
          <a:lstStyle/>
          <a:p>
            <a:endParaRPr lang="en-US"/>
          </a:p>
        </p:txBody>
      </p:sp>
      <p:sp>
        <p:nvSpPr>
          <p:cNvPr id="25" name="Text 23"/>
          <p:cNvSpPr/>
          <p:nvPr/>
        </p:nvSpPr>
        <p:spPr>
          <a:xfrm>
            <a:off x="6400800" y="3236976"/>
            <a:ext cx="347472" cy="109728"/>
          </a:xfrm>
          <a:prstGeom prst="rect">
            <a:avLst/>
          </a:prstGeom>
          <a:noFill/>
          <a:ln/>
        </p:spPr>
        <p:txBody>
          <a:bodyPr wrap="square" lIns="0" tIns="0" rIns="0" bIns="0" rtlCol="0" anchor="ctr"/>
          <a:lstStyle/>
          <a:p>
            <a:pPr marL="0" indent="0" algn="ctr">
              <a:buNone/>
            </a:pPr>
            <a:r>
              <a:rPr lang="en-US" sz="800" b="1" dirty="0">
                <a:solidFill>
                  <a:srgbClr val="FFFFFF"/>
                </a:solidFill>
              </a:rPr>
              <a:t>✓</a:t>
            </a:r>
            <a:endParaRPr lang="en-US" sz="800" dirty="0"/>
          </a:p>
        </p:txBody>
      </p:sp>
      <p:sp>
        <p:nvSpPr>
          <p:cNvPr id="26" name="Text 24"/>
          <p:cNvSpPr/>
          <p:nvPr/>
        </p:nvSpPr>
        <p:spPr>
          <a:xfrm>
            <a:off x="6922008" y="3099816"/>
            <a:ext cx="4251960" cy="182880"/>
          </a:xfrm>
          <a:prstGeom prst="rect">
            <a:avLst/>
          </a:prstGeom>
          <a:noFill/>
          <a:ln/>
        </p:spPr>
        <p:txBody>
          <a:bodyPr wrap="square" lIns="0" tIns="0" rIns="0" bIns="0" rtlCol="0" anchor="ctr"/>
          <a:lstStyle/>
          <a:p>
            <a:pPr marL="0" indent="0">
              <a:buNone/>
            </a:pPr>
            <a:r>
              <a:rPr lang="en-US" sz="1400" b="1" dirty="0">
                <a:solidFill>
                  <a:srgbClr val="082E67"/>
                </a:solidFill>
              </a:rPr>
              <a:t>Safe payments</a:t>
            </a:r>
            <a:endParaRPr lang="en-US" sz="1400" dirty="0"/>
          </a:p>
        </p:txBody>
      </p:sp>
      <p:sp>
        <p:nvSpPr>
          <p:cNvPr id="27" name="Text 25"/>
          <p:cNvSpPr/>
          <p:nvPr/>
        </p:nvSpPr>
        <p:spPr>
          <a:xfrm>
            <a:off x="6922008" y="3364992"/>
            <a:ext cx="4251960" cy="393192"/>
          </a:xfrm>
          <a:prstGeom prst="rect">
            <a:avLst/>
          </a:prstGeom>
          <a:noFill/>
          <a:ln/>
        </p:spPr>
        <p:txBody>
          <a:bodyPr wrap="square" lIns="0" tIns="0" rIns="0" bIns="0" rtlCol="0" anchor="ctr"/>
          <a:lstStyle/>
          <a:p>
            <a:pPr marL="0" indent="0">
              <a:buNone/>
            </a:pPr>
            <a:r>
              <a:rPr lang="en-US" sz="1050" dirty="0">
                <a:solidFill>
                  <a:srgbClr val="5A6675"/>
                </a:solidFill>
              </a:rPr>
              <a:t>Server-side Paystack verification and idempotent payment completion prevent duplicate crediting.</a:t>
            </a:r>
            <a:endParaRPr lang="en-US" sz="1050" dirty="0"/>
          </a:p>
        </p:txBody>
      </p:sp>
      <p:sp>
        <p:nvSpPr>
          <p:cNvPr id="28" name="Shape 26"/>
          <p:cNvSpPr/>
          <p:nvPr/>
        </p:nvSpPr>
        <p:spPr>
          <a:xfrm>
            <a:off x="658368" y="4370832"/>
            <a:ext cx="5349240" cy="1069848"/>
          </a:xfrm>
          <a:prstGeom prst="roundRect">
            <a:avLst>
              <a:gd name="adj" fmla="val 5128"/>
            </a:avLst>
          </a:prstGeom>
          <a:solidFill>
            <a:srgbClr val="F8FAFC"/>
          </a:solidFill>
          <a:ln w="12700">
            <a:solidFill>
              <a:srgbClr val="D9E2EF"/>
            </a:solidFill>
            <a:prstDash val="solid"/>
          </a:ln>
        </p:spPr>
        <p:txBody>
          <a:bodyPr/>
          <a:lstStyle/>
          <a:p>
            <a:endParaRPr lang="en-US"/>
          </a:p>
        </p:txBody>
      </p:sp>
      <p:sp>
        <p:nvSpPr>
          <p:cNvPr id="29" name="Shape 27"/>
          <p:cNvSpPr/>
          <p:nvPr/>
        </p:nvSpPr>
        <p:spPr>
          <a:xfrm>
            <a:off x="886968" y="4626864"/>
            <a:ext cx="347472" cy="347472"/>
          </a:xfrm>
          <a:prstGeom prst="ellipse">
            <a:avLst/>
          </a:prstGeom>
          <a:solidFill>
            <a:srgbClr val="0964DA"/>
          </a:solidFill>
          <a:ln w="12700">
            <a:solidFill>
              <a:srgbClr val="0964DA"/>
            </a:solidFill>
            <a:prstDash val="solid"/>
          </a:ln>
        </p:spPr>
        <p:txBody>
          <a:bodyPr/>
          <a:lstStyle/>
          <a:p>
            <a:endParaRPr lang="en-US"/>
          </a:p>
        </p:txBody>
      </p:sp>
      <p:sp>
        <p:nvSpPr>
          <p:cNvPr id="30" name="Text 28"/>
          <p:cNvSpPr/>
          <p:nvPr/>
        </p:nvSpPr>
        <p:spPr>
          <a:xfrm>
            <a:off x="886968" y="4681728"/>
            <a:ext cx="347472" cy="109728"/>
          </a:xfrm>
          <a:prstGeom prst="rect">
            <a:avLst/>
          </a:prstGeom>
          <a:noFill/>
          <a:ln/>
        </p:spPr>
        <p:txBody>
          <a:bodyPr wrap="square" lIns="0" tIns="0" rIns="0" bIns="0" rtlCol="0" anchor="ctr"/>
          <a:lstStyle/>
          <a:p>
            <a:pPr marL="0" indent="0" algn="ctr">
              <a:buNone/>
            </a:pPr>
            <a:r>
              <a:rPr lang="en-US" sz="800" b="1" dirty="0">
                <a:solidFill>
                  <a:srgbClr val="FFFFFF"/>
                </a:solidFill>
              </a:rPr>
              <a:t>✓</a:t>
            </a:r>
            <a:endParaRPr lang="en-US" sz="800" dirty="0"/>
          </a:p>
        </p:txBody>
      </p:sp>
      <p:sp>
        <p:nvSpPr>
          <p:cNvPr id="31" name="Text 29"/>
          <p:cNvSpPr/>
          <p:nvPr/>
        </p:nvSpPr>
        <p:spPr>
          <a:xfrm>
            <a:off x="1408176" y="4544568"/>
            <a:ext cx="4251960" cy="182880"/>
          </a:xfrm>
          <a:prstGeom prst="rect">
            <a:avLst/>
          </a:prstGeom>
          <a:noFill/>
          <a:ln/>
        </p:spPr>
        <p:txBody>
          <a:bodyPr wrap="square" lIns="0" tIns="0" rIns="0" bIns="0" rtlCol="0" anchor="ctr"/>
          <a:lstStyle/>
          <a:p>
            <a:pPr marL="0" indent="0">
              <a:buNone/>
            </a:pPr>
            <a:r>
              <a:rPr lang="en-US" sz="1400" b="1" dirty="0">
                <a:solidFill>
                  <a:srgbClr val="082E67"/>
                </a:solidFill>
              </a:rPr>
              <a:t>Quiz integrity</a:t>
            </a:r>
            <a:endParaRPr lang="en-US" sz="1400" dirty="0"/>
          </a:p>
        </p:txBody>
      </p:sp>
      <p:sp>
        <p:nvSpPr>
          <p:cNvPr id="32" name="Text 30"/>
          <p:cNvSpPr/>
          <p:nvPr/>
        </p:nvSpPr>
        <p:spPr>
          <a:xfrm>
            <a:off x="1408176" y="4809744"/>
            <a:ext cx="4251960" cy="393192"/>
          </a:xfrm>
          <a:prstGeom prst="rect">
            <a:avLst/>
          </a:prstGeom>
          <a:noFill/>
          <a:ln/>
        </p:spPr>
        <p:txBody>
          <a:bodyPr wrap="square" lIns="0" tIns="0" rIns="0" bIns="0" rtlCol="0" anchor="ctr"/>
          <a:lstStyle/>
          <a:p>
            <a:pPr marL="0" indent="0">
              <a:buNone/>
            </a:pPr>
            <a:r>
              <a:rPr lang="en-US" sz="1050" dirty="0">
                <a:solidFill>
                  <a:srgbClr val="5A6675"/>
                </a:solidFill>
              </a:rPr>
              <a:t>HMAC-signed start token and a server-side time check protect timed attempts.</a:t>
            </a:r>
            <a:endParaRPr lang="en-US" sz="1050" dirty="0"/>
          </a:p>
        </p:txBody>
      </p:sp>
      <p:sp>
        <p:nvSpPr>
          <p:cNvPr id="33" name="Shape 31"/>
          <p:cNvSpPr/>
          <p:nvPr/>
        </p:nvSpPr>
        <p:spPr>
          <a:xfrm>
            <a:off x="6172200" y="4370832"/>
            <a:ext cx="5349240" cy="1069848"/>
          </a:xfrm>
          <a:prstGeom prst="roundRect">
            <a:avLst>
              <a:gd name="adj" fmla="val 5128"/>
            </a:avLst>
          </a:prstGeom>
          <a:solidFill>
            <a:srgbClr val="F8FAFC"/>
          </a:solidFill>
          <a:ln w="12700">
            <a:solidFill>
              <a:srgbClr val="D9E2EF"/>
            </a:solidFill>
            <a:prstDash val="solid"/>
          </a:ln>
        </p:spPr>
        <p:txBody>
          <a:bodyPr/>
          <a:lstStyle/>
          <a:p>
            <a:endParaRPr lang="en-US"/>
          </a:p>
        </p:txBody>
      </p:sp>
      <p:sp>
        <p:nvSpPr>
          <p:cNvPr id="34" name="Shape 32"/>
          <p:cNvSpPr/>
          <p:nvPr/>
        </p:nvSpPr>
        <p:spPr>
          <a:xfrm>
            <a:off x="6400800" y="4626864"/>
            <a:ext cx="347472" cy="347472"/>
          </a:xfrm>
          <a:prstGeom prst="ellipse">
            <a:avLst/>
          </a:prstGeom>
          <a:solidFill>
            <a:srgbClr val="0964DA"/>
          </a:solidFill>
          <a:ln w="12700">
            <a:solidFill>
              <a:srgbClr val="0964DA"/>
            </a:solidFill>
            <a:prstDash val="solid"/>
          </a:ln>
        </p:spPr>
        <p:txBody>
          <a:bodyPr/>
          <a:lstStyle/>
          <a:p>
            <a:endParaRPr lang="en-US"/>
          </a:p>
        </p:txBody>
      </p:sp>
      <p:sp>
        <p:nvSpPr>
          <p:cNvPr id="35" name="Text 33"/>
          <p:cNvSpPr/>
          <p:nvPr/>
        </p:nvSpPr>
        <p:spPr>
          <a:xfrm>
            <a:off x="6400800" y="4681728"/>
            <a:ext cx="347472" cy="109728"/>
          </a:xfrm>
          <a:prstGeom prst="rect">
            <a:avLst/>
          </a:prstGeom>
          <a:noFill/>
          <a:ln/>
        </p:spPr>
        <p:txBody>
          <a:bodyPr wrap="square" lIns="0" tIns="0" rIns="0" bIns="0" rtlCol="0" anchor="ctr"/>
          <a:lstStyle/>
          <a:p>
            <a:pPr marL="0" indent="0" algn="ctr">
              <a:buNone/>
            </a:pPr>
            <a:r>
              <a:rPr lang="en-US" sz="800" b="1" dirty="0">
                <a:solidFill>
                  <a:srgbClr val="FFFFFF"/>
                </a:solidFill>
              </a:rPr>
              <a:t>✓</a:t>
            </a:r>
            <a:endParaRPr lang="en-US" sz="800" dirty="0"/>
          </a:p>
        </p:txBody>
      </p:sp>
      <p:sp>
        <p:nvSpPr>
          <p:cNvPr id="36" name="Text 34"/>
          <p:cNvSpPr/>
          <p:nvPr/>
        </p:nvSpPr>
        <p:spPr>
          <a:xfrm>
            <a:off x="6922008" y="4544568"/>
            <a:ext cx="4251960" cy="182880"/>
          </a:xfrm>
          <a:prstGeom prst="rect">
            <a:avLst/>
          </a:prstGeom>
          <a:noFill/>
          <a:ln/>
        </p:spPr>
        <p:txBody>
          <a:bodyPr wrap="square" lIns="0" tIns="0" rIns="0" bIns="0" rtlCol="0" anchor="ctr"/>
          <a:lstStyle/>
          <a:p>
            <a:pPr marL="0" indent="0">
              <a:buNone/>
            </a:pPr>
            <a:r>
              <a:rPr lang="en-US" sz="1400" b="1" dirty="0">
                <a:solidFill>
                  <a:srgbClr val="082E67"/>
                </a:solidFill>
              </a:rPr>
              <a:t>Audit trail</a:t>
            </a:r>
            <a:endParaRPr lang="en-US" sz="1400" dirty="0"/>
          </a:p>
        </p:txBody>
      </p:sp>
      <p:sp>
        <p:nvSpPr>
          <p:cNvPr id="37" name="Text 35"/>
          <p:cNvSpPr/>
          <p:nvPr/>
        </p:nvSpPr>
        <p:spPr>
          <a:xfrm>
            <a:off x="6922008" y="4809744"/>
            <a:ext cx="4251960" cy="393192"/>
          </a:xfrm>
          <a:prstGeom prst="rect">
            <a:avLst/>
          </a:prstGeom>
          <a:noFill/>
          <a:ln/>
        </p:spPr>
        <p:txBody>
          <a:bodyPr wrap="square" lIns="0" tIns="0" rIns="0" bIns="0" rtlCol="0" anchor="ctr"/>
          <a:lstStyle/>
          <a:p>
            <a:pPr marL="0" indent="0">
              <a:buNone/>
            </a:pPr>
            <a:r>
              <a:rPr lang="en-US" sz="1050" dirty="0">
                <a:solidFill>
                  <a:srgbClr val="5A6675"/>
                </a:solidFill>
              </a:rPr>
              <a:t>Sensitive actions are recorded for review and dispute handling.</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964DA"/>
          </a:solidFill>
          <a:ln w="12700">
            <a:solidFill>
              <a:srgbClr val="0964DA"/>
            </a:solidFill>
            <a:prstDash val="solid"/>
          </a:ln>
        </p:spPr>
        <p:txBody>
          <a:bodyPr/>
          <a:lstStyle/>
          <a:p>
            <a:endParaRPr lang="en-US"/>
          </a:p>
        </p:txBody>
      </p:sp>
      <p:sp>
        <p:nvSpPr>
          <p:cNvPr id="3" name="Text 1"/>
          <p:cNvSpPr/>
          <p:nvPr/>
        </p:nvSpPr>
        <p:spPr>
          <a:xfrm>
            <a:off x="411480" y="6510528"/>
            <a:ext cx="5120640" cy="164592"/>
          </a:xfrm>
          <a:prstGeom prst="rect">
            <a:avLst/>
          </a:prstGeom>
          <a:noFill/>
          <a:ln/>
        </p:spPr>
        <p:txBody>
          <a:bodyPr wrap="square" lIns="0" tIns="0" rIns="0" bIns="0" rtlCol="0" anchor="ctr"/>
          <a:lstStyle/>
          <a:p>
            <a:pPr marL="0" indent="0">
              <a:buNone/>
            </a:pPr>
            <a:r>
              <a:rPr lang="en-US" sz="750" dirty="0">
                <a:solidFill>
                  <a:srgbClr val="5A6675"/>
                </a:solidFill>
                <a:latin typeface="Aptos" pitchFamily="34" charset="0"/>
                <a:ea typeface="Aptos" pitchFamily="34" charset="-122"/>
                <a:cs typeface="Aptos" pitchFamily="34" charset="-120"/>
              </a:rPr>
              <a:t>E-Learning Platform Project Defence</a:t>
            </a:r>
            <a:endParaRPr lang="en-US" sz="750" dirty="0"/>
          </a:p>
        </p:txBody>
      </p:sp>
      <p:sp>
        <p:nvSpPr>
          <p:cNvPr id="4" name="Text 2"/>
          <p:cNvSpPr/>
          <p:nvPr/>
        </p:nvSpPr>
        <p:spPr>
          <a:xfrm>
            <a:off x="11384280" y="6492240"/>
            <a:ext cx="365760" cy="164592"/>
          </a:xfrm>
          <a:prstGeom prst="rect">
            <a:avLst/>
          </a:prstGeom>
          <a:noFill/>
          <a:ln/>
        </p:spPr>
        <p:txBody>
          <a:bodyPr wrap="square" lIns="0" tIns="0" rIns="0" bIns="0" rtlCol="0" anchor="ctr"/>
          <a:lstStyle/>
          <a:p>
            <a:pPr marL="0" indent="0" algn="r">
              <a:buNone/>
            </a:pPr>
            <a:r>
              <a:rPr lang="en-US" sz="800" dirty="0">
                <a:solidFill>
                  <a:srgbClr val="5A6675"/>
                </a:solidFill>
                <a:latin typeface="Aptos" pitchFamily="34" charset="0"/>
                <a:ea typeface="Aptos" pitchFamily="34" charset="-122"/>
                <a:cs typeface="Aptos" pitchFamily="34" charset="-120"/>
              </a:rPr>
              <a:t>8</a:t>
            </a:r>
            <a:endParaRPr lang="en-US" sz="800" dirty="0"/>
          </a:p>
        </p:txBody>
      </p:sp>
      <p:sp>
        <p:nvSpPr>
          <p:cNvPr id="5" name="Text 3"/>
          <p:cNvSpPr/>
          <p:nvPr/>
        </p:nvSpPr>
        <p:spPr>
          <a:xfrm>
            <a:off x="502920" y="411480"/>
            <a:ext cx="11064240" cy="411480"/>
          </a:xfrm>
          <a:prstGeom prst="rect">
            <a:avLst/>
          </a:prstGeom>
          <a:noFill/>
          <a:ln/>
        </p:spPr>
        <p:txBody>
          <a:bodyPr wrap="square" lIns="0" tIns="0" rIns="0" bIns="0" rtlCol="0" anchor="ctr"/>
          <a:lstStyle/>
          <a:p>
            <a:pPr marL="0" indent="0">
              <a:buNone/>
            </a:pPr>
            <a:r>
              <a:rPr lang="en-US" sz="2500" b="1" dirty="0">
                <a:solidFill>
                  <a:srgbClr val="082E67"/>
                </a:solidFill>
                <a:latin typeface="Aptos Display" pitchFamily="34" charset="0"/>
                <a:ea typeface="Aptos Display" pitchFamily="34" charset="-122"/>
                <a:cs typeface="Aptos Display" pitchFamily="34" charset="-120"/>
              </a:rPr>
              <a:t>Course Approval and Paid Enrolment</a:t>
            </a:r>
            <a:endParaRPr lang="en-US" sz="2500" dirty="0"/>
          </a:p>
        </p:txBody>
      </p:sp>
      <p:sp>
        <p:nvSpPr>
          <p:cNvPr id="6" name="Text 4"/>
          <p:cNvSpPr/>
          <p:nvPr/>
        </p:nvSpPr>
        <p:spPr>
          <a:xfrm>
            <a:off x="530352" y="868680"/>
            <a:ext cx="10789920" cy="228600"/>
          </a:xfrm>
          <a:prstGeom prst="rect">
            <a:avLst/>
          </a:prstGeom>
          <a:noFill/>
          <a:ln/>
        </p:spPr>
        <p:txBody>
          <a:bodyPr wrap="square" lIns="0" tIns="0" rIns="0" bIns="0" rtlCol="0" anchor="ctr"/>
          <a:lstStyle/>
          <a:p>
            <a:pPr marL="0" indent="0">
              <a:buNone/>
            </a:pPr>
            <a:r>
              <a:rPr lang="en-US" sz="1050" dirty="0">
                <a:solidFill>
                  <a:srgbClr val="5A6675"/>
                </a:solidFill>
                <a:latin typeface="Aptos" pitchFamily="34" charset="0"/>
                <a:ea typeface="Aptos" pitchFamily="34" charset="-122"/>
                <a:cs typeface="Aptos" pitchFamily="34" charset="-120"/>
              </a:rPr>
              <a:t>The two workflows that make the marketplace governable</a:t>
            </a:r>
            <a:endParaRPr lang="en-US" sz="1050" dirty="0"/>
          </a:p>
        </p:txBody>
      </p:sp>
      <p:sp>
        <p:nvSpPr>
          <p:cNvPr id="7" name="Shape 5"/>
          <p:cNvSpPr/>
          <p:nvPr/>
        </p:nvSpPr>
        <p:spPr>
          <a:xfrm>
            <a:off x="502920" y="1170432"/>
            <a:ext cx="11155680" cy="0"/>
          </a:xfrm>
          <a:prstGeom prst="line">
            <a:avLst/>
          </a:prstGeom>
          <a:noFill/>
          <a:ln w="12700">
            <a:solidFill>
              <a:srgbClr val="D9E2EF"/>
            </a:solidFill>
            <a:prstDash val="solid"/>
          </a:ln>
        </p:spPr>
        <p:txBody>
          <a:bodyPr/>
          <a:lstStyle/>
          <a:p>
            <a:endParaRPr lang="en-US"/>
          </a:p>
        </p:txBody>
      </p:sp>
      <p:sp>
        <p:nvSpPr>
          <p:cNvPr id="8" name="Shape 6"/>
          <p:cNvSpPr/>
          <p:nvPr/>
        </p:nvSpPr>
        <p:spPr>
          <a:xfrm>
            <a:off x="658368" y="1828800"/>
            <a:ext cx="960120" cy="731520"/>
          </a:xfrm>
          <a:prstGeom prst="roundRect">
            <a:avLst>
              <a:gd name="adj" fmla="val 6250"/>
            </a:avLst>
          </a:prstGeom>
          <a:solidFill>
            <a:srgbClr val="EAF2FF"/>
          </a:solidFill>
          <a:ln w="12700">
            <a:solidFill>
              <a:srgbClr val="0964DA"/>
            </a:solidFill>
            <a:prstDash val="solid"/>
          </a:ln>
        </p:spPr>
        <p:txBody>
          <a:bodyPr/>
          <a:lstStyle/>
          <a:p>
            <a:endParaRPr lang="en-US"/>
          </a:p>
        </p:txBody>
      </p:sp>
      <p:sp>
        <p:nvSpPr>
          <p:cNvPr id="9" name="Text 7"/>
          <p:cNvSpPr/>
          <p:nvPr/>
        </p:nvSpPr>
        <p:spPr>
          <a:xfrm>
            <a:off x="731520" y="2048256"/>
            <a:ext cx="813816" cy="237744"/>
          </a:xfrm>
          <a:prstGeom prst="rect">
            <a:avLst/>
          </a:prstGeom>
          <a:noFill/>
          <a:ln/>
        </p:spPr>
        <p:txBody>
          <a:bodyPr wrap="square" lIns="0" tIns="0" rIns="0" bIns="0" rtlCol="0" anchor="ctr"/>
          <a:lstStyle/>
          <a:p>
            <a:pPr marL="0" indent="0" algn="ctr">
              <a:buNone/>
            </a:pPr>
            <a:r>
              <a:rPr lang="en-US" sz="1000" b="1" dirty="0">
                <a:solidFill>
                  <a:srgbClr val="082E67"/>
                </a:solidFill>
              </a:rPr>
              <a:t>Create course</a:t>
            </a:r>
            <a:endParaRPr lang="en-US" sz="1000" dirty="0"/>
          </a:p>
        </p:txBody>
      </p:sp>
      <p:sp>
        <p:nvSpPr>
          <p:cNvPr id="10" name="Shape 8"/>
          <p:cNvSpPr/>
          <p:nvPr/>
        </p:nvSpPr>
        <p:spPr>
          <a:xfrm>
            <a:off x="1645920" y="2029968"/>
            <a:ext cx="164592" cy="301752"/>
          </a:xfrm>
          <a:prstGeom prst="chevron">
            <a:avLst/>
          </a:prstGeom>
          <a:solidFill>
            <a:srgbClr val="0964DA"/>
          </a:solidFill>
          <a:ln w="12700">
            <a:solidFill>
              <a:srgbClr val="0964DA"/>
            </a:solidFill>
            <a:prstDash val="solid"/>
          </a:ln>
        </p:spPr>
        <p:txBody>
          <a:bodyPr/>
          <a:lstStyle/>
          <a:p>
            <a:endParaRPr lang="en-US"/>
          </a:p>
        </p:txBody>
      </p:sp>
      <p:sp>
        <p:nvSpPr>
          <p:cNvPr id="11" name="Shape 9"/>
          <p:cNvSpPr/>
          <p:nvPr/>
        </p:nvSpPr>
        <p:spPr>
          <a:xfrm>
            <a:off x="1865376" y="1828800"/>
            <a:ext cx="960120" cy="731520"/>
          </a:xfrm>
          <a:prstGeom prst="roundRect">
            <a:avLst>
              <a:gd name="adj" fmla="val 6250"/>
            </a:avLst>
          </a:prstGeom>
          <a:solidFill>
            <a:srgbClr val="EAF2FF"/>
          </a:solidFill>
          <a:ln w="12700">
            <a:solidFill>
              <a:srgbClr val="0964DA"/>
            </a:solidFill>
            <a:prstDash val="solid"/>
          </a:ln>
        </p:spPr>
        <p:txBody>
          <a:bodyPr/>
          <a:lstStyle/>
          <a:p>
            <a:endParaRPr lang="en-US"/>
          </a:p>
        </p:txBody>
      </p:sp>
      <p:sp>
        <p:nvSpPr>
          <p:cNvPr id="12" name="Text 10"/>
          <p:cNvSpPr/>
          <p:nvPr/>
        </p:nvSpPr>
        <p:spPr>
          <a:xfrm>
            <a:off x="1938528" y="2048256"/>
            <a:ext cx="813816" cy="237744"/>
          </a:xfrm>
          <a:prstGeom prst="rect">
            <a:avLst/>
          </a:prstGeom>
          <a:noFill/>
          <a:ln/>
        </p:spPr>
        <p:txBody>
          <a:bodyPr wrap="square" lIns="0" tIns="0" rIns="0" bIns="0" rtlCol="0" anchor="ctr"/>
          <a:lstStyle/>
          <a:p>
            <a:pPr marL="0" indent="0" algn="ctr">
              <a:buNone/>
            </a:pPr>
            <a:r>
              <a:rPr lang="en-US" sz="1000" b="1" dirty="0">
                <a:solidFill>
                  <a:srgbClr val="082E67"/>
                </a:solidFill>
              </a:rPr>
              <a:t>Submit</a:t>
            </a:r>
            <a:endParaRPr lang="en-US" sz="1000" dirty="0"/>
          </a:p>
          <a:p>
            <a:pPr marL="0" indent="0" algn="ctr">
              <a:buNone/>
            </a:pPr>
            <a:r>
              <a:rPr lang="en-US" sz="1000" b="1" dirty="0">
                <a:solidFill>
                  <a:srgbClr val="082E67"/>
                </a:solidFill>
              </a:rPr>
              <a:t>for review</a:t>
            </a:r>
            <a:endParaRPr lang="en-US" sz="1000" dirty="0"/>
          </a:p>
        </p:txBody>
      </p:sp>
      <p:sp>
        <p:nvSpPr>
          <p:cNvPr id="13" name="Shape 11"/>
          <p:cNvSpPr/>
          <p:nvPr/>
        </p:nvSpPr>
        <p:spPr>
          <a:xfrm>
            <a:off x="2852928" y="2029968"/>
            <a:ext cx="164592" cy="301752"/>
          </a:xfrm>
          <a:prstGeom prst="chevron">
            <a:avLst/>
          </a:prstGeom>
          <a:solidFill>
            <a:srgbClr val="0964DA"/>
          </a:solidFill>
          <a:ln w="12700">
            <a:solidFill>
              <a:srgbClr val="0964DA"/>
            </a:solidFill>
            <a:prstDash val="solid"/>
          </a:ln>
        </p:spPr>
        <p:txBody>
          <a:bodyPr/>
          <a:lstStyle/>
          <a:p>
            <a:endParaRPr lang="en-US"/>
          </a:p>
        </p:txBody>
      </p:sp>
      <p:sp>
        <p:nvSpPr>
          <p:cNvPr id="14" name="Shape 12"/>
          <p:cNvSpPr/>
          <p:nvPr/>
        </p:nvSpPr>
        <p:spPr>
          <a:xfrm>
            <a:off x="3072384" y="1828800"/>
            <a:ext cx="960120" cy="731520"/>
          </a:xfrm>
          <a:prstGeom prst="roundRect">
            <a:avLst>
              <a:gd name="adj" fmla="val 6250"/>
            </a:avLst>
          </a:prstGeom>
          <a:solidFill>
            <a:srgbClr val="E8F8F0"/>
          </a:solidFill>
          <a:ln w="12700">
            <a:solidFill>
              <a:srgbClr val="0964DA"/>
            </a:solidFill>
            <a:prstDash val="solid"/>
          </a:ln>
        </p:spPr>
        <p:txBody>
          <a:bodyPr/>
          <a:lstStyle/>
          <a:p>
            <a:endParaRPr lang="en-US"/>
          </a:p>
        </p:txBody>
      </p:sp>
      <p:sp>
        <p:nvSpPr>
          <p:cNvPr id="15" name="Text 13"/>
          <p:cNvSpPr/>
          <p:nvPr/>
        </p:nvSpPr>
        <p:spPr>
          <a:xfrm>
            <a:off x="3145536" y="2048256"/>
            <a:ext cx="813816" cy="237744"/>
          </a:xfrm>
          <a:prstGeom prst="rect">
            <a:avLst/>
          </a:prstGeom>
          <a:noFill/>
          <a:ln/>
        </p:spPr>
        <p:txBody>
          <a:bodyPr wrap="square" lIns="0" tIns="0" rIns="0" bIns="0" rtlCol="0" anchor="ctr"/>
          <a:lstStyle/>
          <a:p>
            <a:pPr marL="0" indent="0" algn="ctr">
              <a:buNone/>
            </a:pPr>
            <a:r>
              <a:rPr lang="en-US" sz="1000" b="1" dirty="0">
                <a:solidFill>
                  <a:srgbClr val="082E67"/>
                </a:solidFill>
              </a:rPr>
              <a:t>Admin</a:t>
            </a:r>
            <a:endParaRPr lang="en-US" sz="1000" dirty="0"/>
          </a:p>
          <a:p>
            <a:pPr marL="0" indent="0" algn="ctr">
              <a:buNone/>
            </a:pPr>
            <a:r>
              <a:rPr lang="en-US" sz="1000" b="1" dirty="0">
                <a:solidFill>
                  <a:srgbClr val="082E67"/>
                </a:solidFill>
              </a:rPr>
              <a:t>approves</a:t>
            </a:r>
            <a:endParaRPr lang="en-US" sz="1000" dirty="0"/>
          </a:p>
        </p:txBody>
      </p:sp>
      <p:sp>
        <p:nvSpPr>
          <p:cNvPr id="16" name="Shape 14"/>
          <p:cNvSpPr/>
          <p:nvPr/>
        </p:nvSpPr>
        <p:spPr>
          <a:xfrm>
            <a:off x="4059936" y="2029968"/>
            <a:ext cx="164592" cy="301752"/>
          </a:xfrm>
          <a:prstGeom prst="chevron">
            <a:avLst/>
          </a:prstGeom>
          <a:solidFill>
            <a:srgbClr val="0964DA"/>
          </a:solidFill>
          <a:ln w="12700">
            <a:solidFill>
              <a:srgbClr val="0964DA"/>
            </a:solidFill>
            <a:prstDash val="solid"/>
          </a:ln>
        </p:spPr>
        <p:txBody>
          <a:bodyPr/>
          <a:lstStyle/>
          <a:p>
            <a:endParaRPr lang="en-US"/>
          </a:p>
        </p:txBody>
      </p:sp>
      <p:sp>
        <p:nvSpPr>
          <p:cNvPr id="17" name="Shape 15"/>
          <p:cNvSpPr/>
          <p:nvPr/>
        </p:nvSpPr>
        <p:spPr>
          <a:xfrm>
            <a:off x="4279392" y="1828800"/>
            <a:ext cx="960120" cy="731520"/>
          </a:xfrm>
          <a:prstGeom prst="roundRect">
            <a:avLst>
              <a:gd name="adj" fmla="val 6250"/>
            </a:avLst>
          </a:prstGeom>
          <a:solidFill>
            <a:srgbClr val="EAF2FF"/>
          </a:solidFill>
          <a:ln w="12700">
            <a:solidFill>
              <a:srgbClr val="0964DA"/>
            </a:solidFill>
            <a:prstDash val="solid"/>
          </a:ln>
        </p:spPr>
        <p:txBody>
          <a:bodyPr/>
          <a:lstStyle/>
          <a:p>
            <a:endParaRPr lang="en-US"/>
          </a:p>
        </p:txBody>
      </p:sp>
      <p:sp>
        <p:nvSpPr>
          <p:cNvPr id="18" name="Text 16"/>
          <p:cNvSpPr/>
          <p:nvPr/>
        </p:nvSpPr>
        <p:spPr>
          <a:xfrm>
            <a:off x="4352544" y="2048256"/>
            <a:ext cx="813816" cy="237744"/>
          </a:xfrm>
          <a:prstGeom prst="rect">
            <a:avLst/>
          </a:prstGeom>
          <a:noFill/>
          <a:ln/>
        </p:spPr>
        <p:txBody>
          <a:bodyPr wrap="square" lIns="0" tIns="0" rIns="0" bIns="0" rtlCol="0" anchor="ctr"/>
          <a:lstStyle/>
          <a:p>
            <a:pPr marL="0" indent="0" algn="ctr">
              <a:buNone/>
            </a:pPr>
            <a:r>
              <a:rPr lang="en-US" sz="1000" b="1" dirty="0">
                <a:solidFill>
                  <a:srgbClr val="082E67"/>
                </a:solidFill>
              </a:rPr>
              <a:t>Publish</a:t>
            </a:r>
            <a:endParaRPr lang="en-US" sz="1000" dirty="0"/>
          </a:p>
        </p:txBody>
      </p:sp>
      <p:sp>
        <p:nvSpPr>
          <p:cNvPr id="19" name="Shape 17"/>
          <p:cNvSpPr/>
          <p:nvPr/>
        </p:nvSpPr>
        <p:spPr>
          <a:xfrm>
            <a:off x="5266944" y="2029968"/>
            <a:ext cx="164592" cy="301752"/>
          </a:xfrm>
          <a:prstGeom prst="chevron">
            <a:avLst/>
          </a:prstGeom>
          <a:solidFill>
            <a:srgbClr val="0964DA"/>
          </a:solidFill>
          <a:ln w="12700">
            <a:solidFill>
              <a:srgbClr val="0964DA"/>
            </a:solidFill>
            <a:prstDash val="solid"/>
          </a:ln>
        </p:spPr>
        <p:txBody>
          <a:bodyPr/>
          <a:lstStyle/>
          <a:p>
            <a:endParaRPr lang="en-US"/>
          </a:p>
        </p:txBody>
      </p:sp>
      <p:sp>
        <p:nvSpPr>
          <p:cNvPr id="20" name="Shape 18"/>
          <p:cNvSpPr/>
          <p:nvPr/>
        </p:nvSpPr>
        <p:spPr>
          <a:xfrm>
            <a:off x="5486400" y="1828800"/>
            <a:ext cx="960120" cy="731520"/>
          </a:xfrm>
          <a:prstGeom prst="roundRect">
            <a:avLst>
              <a:gd name="adj" fmla="val 6250"/>
            </a:avLst>
          </a:prstGeom>
          <a:solidFill>
            <a:srgbClr val="EAF2FF"/>
          </a:solidFill>
          <a:ln w="12700">
            <a:solidFill>
              <a:srgbClr val="0964DA"/>
            </a:solidFill>
            <a:prstDash val="solid"/>
          </a:ln>
        </p:spPr>
        <p:txBody>
          <a:bodyPr/>
          <a:lstStyle/>
          <a:p>
            <a:endParaRPr lang="en-US"/>
          </a:p>
        </p:txBody>
      </p:sp>
      <p:sp>
        <p:nvSpPr>
          <p:cNvPr id="21" name="Text 19"/>
          <p:cNvSpPr/>
          <p:nvPr/>
        </p:nvSpPr>
        <p:spPr>
          <a:xfrm>
            <a:off x="5559552" y="2048256"/>
            <a:ext cx="813816" cy="237744"/>
          </a:xfrm>
          <a:prstGeom prst="rect">
            <a:avLst/>
          </a:prstGeom>
          <a:noFill/>
          <a:ln/>
        </p:spPr>
        <p:txBody>
          <a:bodyPr wrap="square" lIns="0" tIns="0" rIns="0" bIns="0" rtlCol="0" anchor="ctr"/>
          <a:lstStyle/>
          <a:p>
            <a:pPr marL="0" indent="0" algn="ctr">
              <a:buNone/>
            </a:pPr>
            <a:r>
              <a:rPr lang="en-US" sz="1000" b="1" dirty="0">
                <a:solidFill>
                  <a:srgbClr val="082E67"/>
                </a:solidFill>
              </a:rPr>
              <a:t>Students</a:t>
            </a:r>
            <a:endParaRPr lang="en-US" sz="1000" dirty="0"/>
          </a:p>
          <a:p>
            <a:pPr marL="0" indent="0" algn="ctr">
              <a:buNone/>
            </a:pPr>
            <a:r>
              <a:rPr lang="en-US" sz="1000" b="1" dirty="0">
                <a:solidFill>
                  <a:srgbClr val="082E67"/>
                </a:solidFill>
              </a:rPr>
              <a:t>enrol</a:t>
            </a:r>
            <a:endParaRPr lang="en-US" sz="1000" dirty="0"/>
          </a:p>
        </p:txBody>
      </p:sp>
      <p:sp>
        <p:nvSpPr>
          <p:cNvPr id="22" name="Text 20"/>
          <p:cNvSpPr/>
          <p:nvPr/>
        </p:nvSpPr>
        <p:spPr>
          <a:xfrm>
            <a:off x="658368" y="1417320"/>
            <a:ext cx="2194560" cy="228600"/>
          </a:xfrm>
          <a:prstGeom prst="rect">
            <a:avLst/>
          </a:prstGeom>
          <a:noFill/>
          <a:ln/>
        </p:spPr>
        <p:txBody>
          <a:bodyPr wrap="square" lIns="0" tIns="0" rIns="0" bIns="0" rtlCol="0" anchor="ctr"/>
          <a:lstStyle/>
          <a:p>
            <a:pPr marL="0" indent="0">
              <a:buNone/>
            </a:pPr>
            <a:r>
              <a:rPr lang="en-US" sz="1700" b="1" dirty="0">
                <a:solidFill>
                  <a:srgbClr val="082E67"/>
                </a:solidFill>
              </a:rPr>
              <a:t>Course governance</a:t>
            </a:r>
            <a:endParaRPr lang="en-US" sz="1700" dirty="0"/>
          </a:p>
        </p:txBody>
      </p:sp>
      <p:sp>
        <p:nvSpPr>
          <p:cNvPr id="23" name="Shape 21"/>
          <p:cNvSpPr/>
          <p:nvPr/>
        </p:nvSpPr>
        <p:spPr>
          <a:xfrm>
            <a:off x="658368" y="3108960"/>
            <a:ext cx="10835640" cy="0"/>
          </a:xfrm>
          <a:prstGeom prst="line">
            <a:avLst/>
          </a:prstGeom>
          <a:noFill/>
          <a:ln w="12700">
            <a:solidFill>
              <a:srgbClr val="D9E2EF"/>
            </a:solidFill>
            <a:prstDash val="solid"/>
          </a:ln>
        </p:spPr>
        <p:txBody>
          <a:bodyPr/>
          <a:lstStyle/>
          <a:p>
            <a:endParaRPr lang="en-US"/>
          </a:p>
        </p:txBody>
      </p:sp>
      <p:sp>
        <p:nvSpPr>
          <p:cNvPr id="24" name="Text 22"/>
          <p:cNvSpPr/>
          <p:nvPr/>
        </p:nvSpPr>
        <p:spPr>
          <a:xfrm>
            <a:off x="658368" y="3429000"/>
            <a:ext cx="2194560" cy="228600"/>
          </a:xfrm>
          <a:prstGeom prst="rect">
            <a:avLst/>
          </a:prstGeom>
          <a:noFill/>
          <a:ln/>
        </p:spPr>
        <p:txBody>
          <a:bodyPr wrap="square" lIns="0" tIns="0" rIns="0" bIns="0" rtlCol="0" anchor="ctr"/>
          <a:lstStyle/>
          <a:p>
            <a:pPr marL="0" indent="0">
              <a:buNone/>
            </a:pPr>
            <a:r>
              <a:rPr lang="en-US" sz="1700" b="1" dirty="0">
                <a:solidFill>
                  <a:srgbClr val="082E67"/>
                </a:solidFill>
              </a:rPr>
              <a:t>Paid enrolment</a:t>
            </a:r>
            <a:endParaRPr lang="en-US" sz="1700" dirty="0"/>
          </a:p>
        </p:txBody>
      </p:sp>
      <p:sp>
        <p:nvSpPr>
          <p:cNvPr id="25" name="Shape 23"/>
          <p:cNvSpPr/>
          <p:nvPr/>
        </p:nvSpPr>
        <p:spPr>
          <a:xfrm>
            <a:off x="658368" y="3886200"/>
            <a:ext cx="1645920" cy="749808"/>
          </a:xfrm>
          <a:prstGeom prst="roundRect">
            <a:avLst>
              <a:gd name="adj" fmla="val 6098"/>
            </a:avLst>
          </a:prstGeom>
          <a:solidFill>
            <a:srgbClr val="F8FAFC"/>
          </a:solidFill>
          <a:ln w="12700">
            <a:solidFill>
              <a:srgbClr val="D9E2EF"/>
            </a:solidFill>
            <a:prstDash val="solid"/>
          </a:ln>
        </p:spPr>
        <p:txBody>
          <a:bodyPr/>
          <a:lstStyle/>
          <a:p>
            <a:endParaRPr lang="en-US"/>
          </a:p>
        </p:txBody>
      </p:sp>
      <p:sp>
        <p:nvSpPr>
          <p:cNvPr id="26" name="Text 24"/>
          <p:cNvSpPr/>
          <p:nvPr/>
        </p:nvSpPr>
        <p:spPr>
          <a:xfrm>
            <a:off x="749808" y="4105656"/>
            <a:ext cx="1463040" cy="256032"/>
          </a:xfrm>
          <a:prstGeom prst="rect">
            <a:avLst/>
          </a:prstGeom>
          <a:noFill/>
          <a:ln/>
        </p:spPr>
        <p:txBody>
          <a:bodyPr wrap="square" lIns="0" tIns="0" rIns="0" bIns="0" rtlCol="0" anchor="ctr"/>
          <a:lstStyle/>
          <a:p>
            <a:pPr marL="0" indent="0" algn="ctr">
              <a:buNone/>
            </a:pPr>
            <a:r>
              <a:rPr lang="en-US" sz="1000" b="1" dirty="0">
                <a:solidFill>
                  <a:srgbClr val="13233A"/>
                </a:solidFill>
              </a:rPr>
              <a:t>Student selects</a:t>
            </a:r>
            <a:endParaRPr lang="en-US" sz="1000" dirty="0"/>
          </a:p>
          <a:p>
            <a:pPr marL="0" indent="0" algn="ctr">
              <a:buNone/>
            </a:pPr>
            <a:r>
              <a:rPr lang="en-US" sz="1000" b="1" dirty="0">
                <a:solidFill>
                  <a:srgbClr val="13233A"/>
                </a:solidFill>
              </a:rPr>
              <a:t>paid course</a:t>
            </a:r>
            <a:endParaRPr lang="en-US" sz="1000" dirty="0"/>
          </a:p>
        </p:txBody>
      </p:sp>
      <p:sp>
        <p:nvSpPr>
          <p:cNvPr id="27" name="Shape 25"/>
          <p:cNvSpPr/>
          <p:nvPr/>
        </p:nvSpPr>
        <p:spPr>
          <a:xfrm>
            <a:off x="2414016" y="4114800"/>
            <a:ext cx="228600" cy="310896"/>
          </a:xfrm>
          <a:prstGeom prst="chevron">
            <a:avLst/>
          </a:prstGeom>
          <a:solidFill>
            <a:srgbClr val="0E9F6E"/>
          </a:solidFill>
          <a:ln w="12700">
            <a:solidFill>
              <a:srgbClr val="0E9F6E"/>
            </a:solidFill>
            <a:prstDash val="solid"/>
          </a:ln>
        </p:spPr>
        <p:txBody>
          <a:bodyPr/>
          <a:lstStyle/>
          <a:p>
            <a:endParaRPr lang="en-US"/>
          </a:p>
        </p:txBody>
      </p:sp>
      <p:sp>
        <p:nvSpPr>
          <p:cNvPr id="28" name="Shape 26"/>
          <p:cNvSpPr/>
          <p:nvPr/>
        </p:nvSpPr>
        <p:spPr>
          <a:xfrm>
            <a:off x="2807208" y="3886200"/>
            <a:ext cx="1645920" cy="749808"/>
          </a:xfrm>
          <a:prstGeom prst="roundRect">
            <a:avLst>
              <a:gd name="adj" fmla="val 6098"/>
            </a:avLst>
          </a:prstGeom>
          <a:solidFill>
            <a:srgbClr val="F8FAFC"/>
          </a:solidFill>
          <a:ln w="12700">
            <a:solidFill>
              <a:srgbClr val="D9E2EF"/>
            </a:solidFill>
            <a:prstDash val="solid"/>
          </a:ln>
        </p:spPr>
        <p:txBody>
          <a:bodyPr/>
          <a:lstStyle/>
          <a:p>
            <a:endParaRPr lang="en-US"/>
          </a:p>
        </p:txBody>
      </p:sp>
      <p:sp>
        <p:nvSpPr>
          <p:cNvPr id="29" name="Text 27"/>
          <p:cNvSpPr/>
          <p:nvPr/>
        </p:nvSpPr>
        <p:spPr>
          <a:xfrm>
            <a:off x="2898648" y="4105656"/>
            <a:ext cx="1463040" cy="256032"/>
          </a:xfrm>
          <a:prstGeom prst="rect">
            <a:avLst/>
          </a:prstGeom>
          <a:noFill/>
          <a:ln/>
        </p:spPr>
        <p:txBody>
          <a:bodyPr wrap="square" lIns="0" tIns="0" rIns="0" bIns="0" rtlCol="0" anchor="ctr"/>
          <a:lstStyle/>
          <a:p>
            <a:pPr marL="0" indent="0" algn="ctr">
              <a:buNone/>
            </a:pPr>
            <a:r>
              <a:rPr lang="en-US" sz="1000" b="1" dirty="0">
                <a:solidFill>
                  <a:srgbClr val="13233A"/>
                </a:solidFill>
              </a:rPr>
              <a:t>Payment</a:t>
            </a:r>
            <a:endParaRPr lang="en-US" sz="1000" dirty="0"/>
          </a:p>
          <a:p>
            <a:pPr marL="0" indent="0" algn="ctr">
              <a:buNone/>
            </a:pPr>
            <a:r>
              <a:rPr lang="en-US" sz="1000" b="1" dirty="0">
                <a:solidFill>
                  <a:srgbClr val="13233A"/>
                </a:solidFill>
              </a:rPr>
              <a:t>created</a:t>
            </a:r>
            <a:endParaRPr lang="en-US" sz="1000" dirty="0"/>
          </a:p>
        </p:txBody>
      </p:sp>
      <p:sp>
        <p:nvSpPr>
          <p:cNvPr id="30" name="Shape 28"/>
          <p:cNvSpPr/>
          <p:nvPr/>
        </p:nvSpPr>
        <p:spPr>
          <a:xfrm>
            <a:off x="4562856" y="4114800"/>
            <a:ext cx="228600" cy="310896"/>
          </a:xfrm>
          <a:prstGeom prst="chevron">
            <a:avLst/>
          </a:prstGeom>
          <a:solidFill>
            <a:srgbClr val="0E9F6E"/>
          </a:solidFill>
          <a:ln w="12700">
            <a:solidFill>
              <a:srgbClr val="0E9F6E"/>
            </a:solidFill>
            <a:prstDash val="solid"/>
          </a:ln>
        </p:spPr>
        <p:txBody>
          <a:bodyPr/>
          <a:lstStyle/>
          <a:p>
            <a:endParaRPr lang="en-US"/>
          </a:p>
        </p:txBody>
      </p:sp>
      <p:sp>
        <p:nvSpPr>
          <p:cNvPr id="31" name="Shape 29"/>
          <p:cNvSpPr/>
          <p:nvPr/>
        </p:nvSpPr>
        <p:spPr>
          <a:xfrm>
            <a:off x="4956048" y="3886200"/>
            <a:ext cx="1645920" cy="749808"/>
          </a:xfrm>
          <a:prstGeom prst="roundRect">
            <a:avLst>
              <a:gd name="adj" fmla="val 6098"/>
            </a:avLst>
          </a:prstGeom>
          <a:solidFill>
            <a:srgbClr val="F8FAFC"/>
          </a:solidFill>
          <a:ln w="12700">
            <a:solidFill>
              <a:srgbClr val="D9E2EF"/>
            </a:solidFill>
            <a:prstDash val="solid"/>
          </a:ln>
        </p:spPr>
        <p:txBody>
          <a:bodyPr/>
          <a:lstStyle/>
          <a:p>
            <a:endParaRPr lang="en-US"/>
          </a:p>
        </p:txBody>
      </p:sp>
      <p:sp>
        <p:nvSpPr>
          <p:cNvPr id="32" name="Text 30"/>
          <p:cNvSpPr/>
          <p:nvPr/>
        </p:nvSpPr>
        <p:spPr>
          <a:xfrm>
            <a:off x="5047488" y="4105656"/>
            <a:ext cx="1463040" cy="256032"/>
          </a:xfrm>
          <a:prstGeom prst="rect">
            <a:avLst/>
          </a:prstGeom>
          <a:noFill/>
          <a:ln/>
        </p:spPr>
        <p:txBody>
          <a:bodyPr wrap="square" lIns="0" tIns="0" rIns="0" bIns="0" rtlCol="0" anchor="ctr"/>
          <a:lstStyle/>
          <a:p>
            <a:pPr marL="0" indent="0" algn="ctr">
              <a:buNone/>
            </a:pPr>
            <a:r>
              <a:rPr lang="en-US" sz="1000" b="1" dirty="0">
                <a:solidFill>
                  <a:srgbClr val="13233A"/>
                </a:solidFill>
              </a:rPr>
              <a:t>Paystack</a:t>
            </a:r>
            <a:endParaRPr lang="en-US" sz="1000" dirty="0"/>
          </a:p>
          <a:p>
            <a:pPr marL="0" indent="0" algn="ctr">
              <a:buNone/>
            </a:pPr>
            <a:r>
              <a:rPr lang="en-US" sz="1000" b="1" dirty="0">
                <a:solidFill>
                  <a:srgbClr val="13233A"/>
                </a:solidFill>
              </a:rPr>
              <a:t>payment</a:t>
            </a:r>
            <a:endParaRPr lang="en-US" sz="1000" dirty="0"/>
          </a:p>
        </p:txBody>
      </p:sp>
      <p:sp>
        <p:nvSpPr>
          <p:cNvPr id="33" name="Shape 31"/>
          <p:cNvSpPr/>
          <p:nvPr/>
        </p:nvSpPr>
        <p:spPr>
          <a:xfrm>
            <a:off x="6711696" y="4114800"/>
            <a:ext cx="228600" cy="310896"/>
          </a:xfrm>
          <a:prstGeom prst="chevron">
            <a:avLst/>
          </a:prstGeom>
          <a:solidFill>
            <a:srgbClr val="0E9F6E"/>
          </a:solidFill>
          <a:ln w="12700">
            <a:solidFill>
              <a:srgbClr val="0E9F6E"/>
            </a:solidFill>
            <a:prstDash val="solid"/>
          </a:ln>
        </p:spPr>
        <p:txBody>
          <a:bodyPr/>
          <a:lstStyle/>
          <a:p>
            <a:endParaRPr lang="en-US"/>
          </a:p>
        </p:txBody>
      </p:sp>
      <p:sp>
        <p:nvSpPr>
          <p:cNvPr id="34" name="Shape 32"/>
          <p:cNvSpPr/>
          <p:nvPr/>
        </p:nvSpPr>
        <p:spPr>
          <a:xfrm>
            <a:off x="7104888" y="3886200"/>
            <a:ext cx="1645920" cy="749808"/>
          </a:xfrm>
          <a:prstGeom prst="roundRect">
            <a:avLst>
              <a:gd name="adj" fmla="val 6098"/>
            </a:avLst>
          </a:prstGeom>
          <a:solidFill>
            <a:srgbClr val="F8FAFC"/>
          </a:solidFill>
          <a:ln w="12700">
            <a:solidFill>
              <a:srgbClr val="D9E2EF"/>
            </a:solidFill>
            <a:prstDash val="solid"/>
          </a:ln>
        </p:spPr>
        <p:txBody>
          <a:bodyPr/>
          <a:lstStyle/>
          <a:p>
            <a:endParaRPr lang="en-US"/>
          </a:p>
        </p:txBody>
      </p:sp>
      <p:sp>
        <p:nvSpPr>
          <p:cNvPr id="35" name="Text 33"/>
          <p:cNvSpPr/>
          <p:nvPr/>
        </p:nvSpPr>
        <p:spPr>
          <a:xfrm>
            <a:off x="7196328" y="4105656"/>
            <a:ext cx="1463040" cy="256032"/>
          </a:xfrm>
          <a:prstGeom prst="rect">
            <a:avLst/>
          </a:prstGeom>
          <a:noFill/>
          <a:ln/>
        </p:spPr>
        <p:txBody>
          <a:bodyPr wrap="square" lIns="0" tIns="0" rIns="0" bIns="0" rtlCol="0" anchor="ctr"/>
          <a:lstStyle/>
          <a:p>
            <a:pPr marL="0" indent="0" algn="ctr">
              <a:buNone/>
            </a:pPr>
            <a:r>
              <a:rPr lang="en-US" sz="1000" b="1" dirty="0">
                <a:solidFill>
                  <a:srgbClr val="13233A"/>
                </a:solidFill>
              </a:rPr>
              <a:t>Server verifies</a:t>
            </a:r>
            <a:endParaRPr lang="en-US" sz="1000" dirty="0"/>
          </a:p>
          <a:p>
            <a:pPr marL="0" indent="0" algn="ctr">
              <a:buNone/>
            </a:pPr>
            <a:r>
              <a:rPr lang="en-US" sz="1000" b="1" dirty="0">
                <a:solidFill>
                  <a:srgbClr val="13233A"/>
                </a:solidFill>
              </a:rPr>
              <a:t>transaction</a:t>
            </a:r>
            <a:endParaRPr lang="en-US" sz="1000" dirty="0"/>
          </a:p>
        </p:txBody>
      </p:sp>
      <p:sp>
        <p:nvSpPr>
          <p:cNvPr id="36" name="Shape 34"/>
          <p:cNvSpPr/>
          <p:nvPr/>
        </p:nvSpPr>
        <p:spPr>
          <a:xfrm>
            <a:off x="8860536" y="4114800"/>
            <a:ext cx="228600" cy="310896"/>
          </a:xfrm>
          <a:prstGeom prst="chevron">
            <a:avLst/>
          </a:prstGeom>
          <a:solidFill>
            <a:srgbClr val="0E9F6E"/>
          </a:solidFill>
          <a:ln w="12700">
            <a:solidFill>
              <a:srgbClr val="0E9F6E"/>
            </a:solidFill>
            <a:prstDash val="solid"/>
          </a:ln>
        </p:spPr>
        <p:txBody>
          <a:bodyPr/>
          <a:lstStyle/>
          <a:p>
            <a:endParaRPr lang="en-US"/>
          </a:p>
        </p:txBody>
      </p:sp>
      <p:sp>
        <p:nvSpPr>
          <p:cNvPr id="37" name="Shape 35"/>
          <p:cNvSpPr/>
          <p:nvPr/>
        </p:nvSpPr>
        <p:spPr>
          <a:xfrm>
            <a:off x="9253728" y="3886200"/>
            <a:ext cx="1645920" cy="749808"/>
          </a:xfrm>
          <a:prstGeom prst="roundRect">
            <a:avLst>
              <a:gd name="adj" fmla="val 6098"/>
            </a:avLst>
          </a:prstGeom>
          <a:solidFill>
            <a:srgbClr val="E8F8F0"/>
          </a:solidFill>
          <a:ln w="12700">
            <a:solidFill>
              <a:srgbClr val="D9E2EF"/>
            </a:solidFill>
            <a:prstDash val="solid"/>
          </a:ln>
        </p:spPr>
        <p:txBody>
          <a:bodyPr/>
          <a:lstStyle/>
          <a:p>
            <a:endParaRPr lang="en-US"/>
          </a:p>
        </p:txBody>
      </p:sp>
      <p:sp>
        <p:nvSpPr>
          <p:cNvPr id="38" name="Text 36"/>
          <p:cNvSpPr/>
          <p:nvPr/>
        </p:nvSpPr>
        <p:spPr>
          <a:xfrm>
            <a:off x="9345168" y="4105656"/>
            <a:ext cx="1463040" cy="256032"/>
          </a:xfrm>
          <a:prstGeom prst="rect">
            <a:avLst/>
          </a:prstGeom>
          <a:noFill/>
          <a:ln/>
        </p:spPr>
        <p:txBody>
          <a:bodyPr wrap="square" lIns="0" tIns="0" rIns="0" bIns="0" rtlCol="0" anchor="ctr"/>
          <a:lstStyle/>
          <a:p>
            <a:pPr marL="0" indent="0" algn="ctr">
              <a:buNone/>
            </a:pPr>
            <a:r>
              <a:rPr lang="en-US" sz="1000" b="1" dirty="0">
                <a:solidFill>
                  <a:srgbClr val="13233A"/>
                </a:solidFill>
              </a:rPr>
              <a:t>Enrolment +</a:t>
            </a:r>
            <a:endParaRPr lang="en-US" sz="1000" dirty="0"/>
          </a:p>
          <a:p>
            <a:pPr marL="0" indent="0" algn="ctr">
              <a:buNone/>
            </a:pPr>
            <a:r>
              <a:rPr lang="en-US" sz="1000" b="1" dirty="0">
                <a:solidFill>
                  <a:srgbClr val="13233A"/>
                </a:solidFill>
              </a:rPr>
              <a:t>earnings update</a:t>
            </a:r>
            <a:endParaRPr lang="en-US" sz="1000" dirty="0"/>
          </a:p>
        </p:txBody>
      </p:sp>
      <p:sp>
        <p:nvSpPr>
          <p:cNvPr id="39" name="Text 37"/>
          <p:cNvSpPr/>
          <p:nvPr/>
        </p:nvSpPr>
        <p:spPr>
          <a:xfrm>
            <a:off x="777240" y="5257800"/>
            <a:ext cx="10241280" cy="301752"/>
          </a:xfrm>
          <a:prstGeom prst="rect">
            <a:avLst/>
          </a:prstGeom>
          <a:noFill/>
          <a:ln/>
        </p:spPr>
        <p:txBody>
          <a:bodyPr wrap="square" lIns="0" tIns="0" rIns="0" bIns="0" rtlCol="0" anchor="ctr"/>
          <a:lstStyle/>
          <a:p>
            <a:pPr marL="0" indent="0" algn="ctr">
              <a:buNone/>
            </a:pPr>
            <a:r>
              <a:rPr lang="en-US" sz="1250" i="1" dirty="0">
                <a:solidFill>
                  <a:srgbClr val="5A6675"/>
                </a:solidFill>
              </a:rPr>
              <a:t>Duplicate callbacks or webhooks are safe because payment completion runs once inside a conditional database transaction.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ystem Interfaces">
    <p:bg>
      <p:bgPr>
        <a:solidFill>
          <a:srgbClr val="FFFFFF"/>
        </a:solidFill>
        <a:effectLst/>
      </p:bgPr>
    </p:bg>
    <p:spTree>
      <p:nvGrpSpPr>
        <p:cNvPr id="1" name=""/>
        <p:cNvGrpSpPr/>
        <p:nvPr/>
      </p:nvGrpSpPr>
      <p:grpSpPr>
        <a:xfrm>
          <a:off x="0" y="0"/>
          <a:ext cx="0" cy="0"/>
          <a:chOff x="0" y="0"/>
          <a:chExt cx="0" cy="0"/>
        </a:xfrm>
      </p:grpSpPr>
      <p:sp>
        <p:nvSpPr>
          <p:cNvPr id="2" name="Accent Bar"/>
          <p:cNvSpPr/>
          <p:nvPr/>
        </p:nvSpPr>
        <p:spPr>
          <a:xfrm>
            <a:off x="0" y="0"/>
            <a:ext cx="12191695" cy="146304"/>
          </a:xfrm>
          <a:prstGeom prst="rect">
            <a:avLst/>
          </a:prstGeom>
          <a:solidFill>
            <a:srgbClr val="0964DA"/>
          </a:solidFill>
          <a:ln w="12700">
            <a:solidFill>
              <a:srgbClr val="0964DA"/>
            </a:solidFill>
            <a:prstDash val="solid"/>
          </a:ln>
        </p:spPr>
        <p:txBody>
          <a:bodyPr/>
          <a:lstStyle/>
          <a:p>
            <a:endParaRPr lang="en-US"/>
          </a:p>
        </p:txBody>
      </p:sp>
      <p:sp>
        <p:nvSpPr>
          <p:cNvPr id="3" name="Footer"/>
          <p:cNvSpPr/>
          <p:nvPr/>
        </p:nvSpPr>
        <p:spPr>
          <a:xfrm>
            <a:off x="411480" y="6510528"/>
            <a:ext cx="5120640" cy="164592"/>
          </a:xfrm>
          <a:prstGeom prst="rect">
            <a:avLst/>
          </a:prstGeom>
          <a:noFill/>
          <a:ln/>
        </p:spPr>
        <p:txBody>
          <a:bodyPr wrap="square" lIns="0" tIns="0" rIns="0" bIns="0" rtlCol="0" anchor="ctr"/>
          <a:lstStyle/>
          <a:p>
            <a:pPr marL="0" indent="0" algn="l">
              <a:buNone/>
            </a:pPr>
            <a:r>
              <a:rPr lang="en-US" sz="750" dirty="0">
                <a:solidFill>
                  <a:srgbClr val="5A6675"/>
                </a:solidFill>
                <a:latin typeface="Aptos" pitchFamily="34" charset="0"/>
                <a:ea typeface="Aptos" pitchFamily="34" charset="-122"/>
                <a:cs typeface="Aptos" pitchFamily="34" charset="-120"/>
              </a:rPr>
              <a:t>E-Learning Platform Project Defence</a:t>
            </a:r>
            <a:endParaRPr lang="en-US" sz="750" dirty="0"/>
          </a:p>
        </p:txBody>
      </p:sp>
      <p:sp>
        <p:nvSpPr>
          <p:cNvPr id="4" name="Slide Number"/>
          <p:cNvSpPr/>
          <p:nvPr/>
        </p:nvSpPr>
        <p:spPr>
          <a:xfrm>
            <a:off x="11384280" y="6492240"/>
            <a:ext cx="365760" cy="164592"/>
          </a:xfrm>
          <a:prstGeom prst="rect">
            <a:avLst/>
          </a:prstGeom>
          <a:noFill/>
          <a:ln/>
        </p:spPr>
        <p:txBody>
          <a:bodyPr wrap="square" lIns="0" tIns="0" rIns="0" bIns="0" rtlCol="0" anchor="ctr"/>
          <a:lstStyle/>
          <a:p>
            <a:pPr marL="0" indent="0" algn="r">
              <a:buNone/>
            </a:pPr>
            <a:r>
              <a:rPr lang="en-US" sz="800" dirty="0">
                <a:solidFill>
                  <a:srgbClr val="5A6675"/>
                </a:solidFill>
                <a:latin typeface="Aptos" pitchFamily="34" charset="0"/>
                <a:ea typeface="Aptos" pitchFamily="34" charset="-122"/>
                <a:cs typeface="Aptos" pitchFamily="34" charset="-120"/>
              </a:rPr>
              <a:t>9</a:t>
            </a:r>
            <a:endParaRPr lang="en-US" sz="800" dirty="0"/>
          </a:p>
        </p:txBody>
      </p:sp>
      <p:sp>
        <p:nvSpPr>
          <p:cNvPr id="5" name="Title"/>
          <p:cNvSpPr/>
          <p:nvPr/>
        </p:nvSpPr>
        <p:spPr>
          <a:xfrm>
            <a:off x="502920" y="411480"/>
            <a:ext cx="11064240" cy="411480"/>
          </a:xfrm>
          <a:prstGeom prst="rect">
            <a:avLst/>
          </a:prstGeom>
          <a:noFill/>
          <a:ln/>
        </p:spPr>
        <p:txBody>
          <a:bodyPr wrap="square" lIns="0" tIns="0" rIns="0" bIns="0" rtlCol="0" anchor="ctr"/>
          <a:lstStyle/>
          <a:p>
            <a:pPr marL="0" indent="0" algn="l">
              <a:buNone/>
            </a:pPr>
            <a:r>
              <a:rPr lang="en-US" sz="2500" b="1" dirty="0">
                <a:solidFill>
                  <a:srgbClr val="1B2733"/>
                </a:solidFill>
                <a:latin typeface="Aptos" pitchFamily="34" charset="0"/>
                <a:ea typeface="Aptos" pitchFamily="34" charset="-122"/>
                <a:cs typeface="Aptos" pitchFamily="34" charset="-120"/>
              </a:rPr>
              <a:t>System Interfaces</a:t>
            </a:r>
            <a:endParaRPr lang="en-US" sz="2500" dirty="0"/>
          </a:p>
        </p:txBody>
      </p:sp>
      <p:sp>
        <p:nvSpPr>
          <p:cNvPr id="6" name="Subtitle"/>
          <p:cNvSpPr/>
          <p:nvPr/>
        </p:nvSpPr>
        <p:spPr>
          <a:xfrm>
            <a:off x="530352" y="868680"/>
            <a:ext cx="10789920" cy="228600"/>
          </a:xfrm>
          <a:prstGeom prst="rect">
            <a:avLst/>
          </a:prstGeom>
          <a:noFill/>
          <a:ln/>
        </p:spPr>
        <p:txBody>
          <a:bodyPr wrap="square" lIns="0" tIns="0" rIns="0" bIns="0" rtlCol="0" anchor="ctr"/>
          <a:lstStyle/>
          <a:p>
            <a:pPr marL="0" indent="0" algn="l">
              <a:buNone/>
            </a:pPr>
            <a:r>
              <a:rPr lang="en-US" sz="1050" dirty="0">
                <a:solidFill>
                  <a:srgbClr val="5A6675"/>
                </a:solidFill>
                <a:latin typeface="Aptos" pitchFamily="34" charset="0"/>
                <a:ea typeface="Aptos" pitchFamily="34" charset="-122"/>
                <a:cs typeface="Aptos" pitchFamily="34" charset="-120"/>
              </a:rPr>
              <a:t>Public and authentication screens, shown on a mobile browser</a:t>
            </a:r>
            <a:endParaRPr lang="en-US" sz="1050" dirty="0"/>
          </a:p>
        </p:txBody>
      </p:sp>
      <p:sp>
        <p:nvSpPr>
          <p:cNvPr id="7" name="Divider"/>
          <p:cNvSpPr/>
          <p:nvPr/>
        </p:nvSpPr>
        <p:spPr>
          <a:xfrm>
            <a:off x="502920" y="1170432"/>
            <a:ext cx="11155680" cy="0"/>
          </a:xfrm>
          <a:prstGeom prst="line">
            <a:avLst/>
          </a:prstGeom>
          <a:noFill/>
          <a:ln w="12700">
            <a:solidFill>
              <a:srgbClr val="D9E2EF"/>
            </a:solidFill>
            <a:prstDash val="solid"/>
          </a:ln>
        </p:spPr>
        <p:txBody>
          <a:bodyPr/>
          <a:lstStyle/>
          <a:p>
            <a:endParaRPr lang="en-US"/>
          </a:p>
        </p:txBody>
      </p:sp>
      <p:pic>
        <p:nvPicPr>
          <p:cNvPr id="10" name="Landing page"/>
          <p:cNvPicPr>
            <a:picLocks noChangeAspect="1"/>
          </p:cNvPicPr>
          <p:nvPr/>
        </p:nvPicPr>
        <p:blipFill>
          <a:blip r:embed="rId3"/>
          <a:stretch>
            <a:fillRect/>
          </a:stretch>
        </p:blipFill>
        <p:spPr>
          <a:xfrm>
            <a:off x="1351514" y="1470000"/>
            <a:ext cx="1728177" cy="3750000"/>
          </a:xfrm>
          <a:prstGeom prst="rect">
            <a:avLst/>
          </a:prstGeom>
          <a:ln w="12700">
            <a:solidFill>
              <a:srgbClr val="D9E2EF"/>
            </a:solidFill>
          </a:ln>
        </p:spPr>
      </p:pic>
      <p:sp>
        <p:nvSpPr>
          <p:cNvPr id="11" name="Caption 0"/>
          <p:cNvSpPr/>
          <p:nvPr/>
        </p:nvSpPr>
        <p:spPr>
          <a:xfrm>
            <a:off x="1351514" y="5290000"/>
            <a:ext cx="1728177" cy="200000"/>
          </a:xfrm>
          <a:prstGeom prst="rect">
            <a:avLst/>
          </a:prstGeom>
          <a:noFill/>
          <a:ln/>
        </p:spPr>
        <p:txBody>
          <a:bodyPr wrap="square" lIns="0" tIns="0" rIns="0" bIns="0" rtlCol="0" anchor="ctr"/>
          <a:lstStyle/>
          <a:p>
            <a:pPr marL="0" indent="0" algn="ctr">
              <a:buNone/>
            </a:pPr>
            <a:r>
              <a:rPr lang="en-US" sz="900" b="1" dirty="0">
                <a:solidFill>
                  <a:srgbClr val="1B2733"/>
                </a:solidFill>
                <a:latin typeface="Aptos" pitchFamily="34" charset="0"/>
                <a:ea typeface="Aptos" pitchFamily="34" charset="-122"/>
                <a:cs typeface="Aptos" pitchFamily="34" charset="-120"/>
              </a:rPr>
              <a:t>Landing page</a:t>
            </a:r>
            <a:endParaRPr lang="en-US" sz="900" dirty="0"/>
          </a:p>
        </p:txBody>
      </p:sp>
      <p:sp>
        <p:nvSpPr>
          <p:cNvPr id="12" name="Sub 0"/>
          <p:cNvSpPr/>
          <p:nvPr/>
        </p:nvSpPr>
        <p:spPr>
          <a:xfrm>
            <a:off x="1351514" y="5490000"/>
            <a:ext cx="1728177" cy="190000"/>
          </a:xfrm>
          <a:prstGeom prst="rect">
            <a:avLst/>
          </a:prstGeom>
          <a:noFill/>
          <a:ln/>
        </p:spPr>
        <p:txBody>
          <a:bodyPr wrap="square" lIns="0" tIns="0" rIns="0" bIns="0" rtlCol="0" anchor="ctr"/>
          <a:lstStyle/>
          <a:p>
            <a:pPr marL="0" indent="0" algn="ctr">
              <a:buNone/>
            </a:pPr>
            <a:r>
              <a:rPr lang="en-US" sz="800" dirty="0">
                <a:solidFill>
                  <a:srgbClr val="5A6675"/>
                </a:solidFill>
                <a:latin typeface="Aptos" pitchFamily="34" charset="0"/>
                <a:ea typeface="Aptos" pitchFamily="34" charset="-122"/>
                <a:cs typeface="Aptos" pitchFamily="34" charset="-120"/>
              </a:rPr>
              <a:t>Public entry point</a:t>
            </a:r>
            <a:endParaRPr lang="en-US" sz="800" dirty="0"/>
          </a:p>
        </p:txBody>
      </p:sp>
      <p:pic>
        <p:nvPicPr>
          <p:cNvPr id="13" name="Course catalogue"/>
          <p:cNvPicPr>
            <a:picLocks noChangeAspect="1"/>
          </p:cNvPicPr>
          <p:nvPr/>
        </p:nvPicPr>
        <p:blipFill>
          <a:blip r:embed="rId4"/>
          <a:stretch>
            <a:fillRect/>
          </a:stretch>
        </p:blipFill>
        <p:spPr>
          <a:xfrm>
            <a:off x="3928285" y="1470000"/>
            <a:ext cx="1728177" cy="3750000"/>
          </a:xfrm>
          <a:prstGeom prst="rect">
            <a:avLst/>
          </a:prstGeom>
          <a:ln w="12700">
            <a:solidFill>
              <a:srgbClr val="D9E2EF"/>
            </a:solidFill>
          </a:ln>
        </p:spPr>
      </p:pic>
      <p:sp>
        <p:nvSpPr>
          <p:cNvPr id="14" name="Caption 1"/>
          <p:cNvSpPr/>
          <p:nvPr/>
        </p:nvSpPr>
        <p:spPr>
          <a:xfrm>
            <a:off x="3928285" y="5290000"/>
            <a:ext cx="1728177" cy="200000"/>
          </a:xfrm>
          <a:prstGeom prst="rect">
            <a:avLst/>
          </a:prstGeom>
          <a:noFill/>
          <a:ln/>
        </p:spPr>
        <p:txBody>
          <a:bodyPr wrap="square" lIns="0" tIns="0" rIns="0" bIns="0" rtlCol="0" anchor="ctr"/>
          <a:lstStyle/>
          <a:p>
            <a:pPr marL="0" indent="0" algn="ctr">
              <a:buNone/>
            </a:pPr>
            <a:r>
              <a:rPr lang="en-US" sz="900" b="1" dirty="0">
                <a:solidFill>
                  <a:srgbClr val="1B2733"/>
                </a:solidFill>
                <a:latin typeface="Aptos" pitchFamily="34" charset="0"/>
                <a:ea typeface="Aptos" pitchFamily="34" charset="-122"/>
                <a:cs typeface="Aptos" pitchFamily="34" charset="-120"/>
              </a:rPr>
              <a:t>Course catalogue</a:t>
            </a:r>
            <a:endParaRPr lang="en-US" sz="900" dirty="0"/>
          </a:p>
        </p:txBody>
      </p:sp>
      <p:sp>
        <p:nvSpPr>
          <p:cNvPr id="15" name="Sub 1"/>
          <p:cNvSpPr/>
          <p:nvPr/>
        </p:nvSpPr>
        <p:spPr>
          <a:xfrm>
            <a:off x="3928285" y="5490000"/>
            <a:ext cx="1728177" cy="190000"/>
          </a:xfrm>
          <a:prstGeom prst="rect">
            <a:avLst/>
          </a:prstGeom>
          <a:noFill/>
          <a:ln/>
        </p:spPr>
        <p:txBody>
          <a:bodyPr wrap="square" lIns="0" tIns="0" rIns="0" bIns="0" rtlCol="0" anchor="ctr"/>
          <a:lstStyle/>
          <a:p>
            <a:pPr marL="0" indent="0" algn="ctr">
              <a:buNone/>
            </a:pPr>
            <a:r>
              <a:rPr lang="en-US" sz="800" dirty="0">
                <a:solidFill>
                  <a:srgbClr val="5A6675"/>
                </a:solidFill>
                <a:latin typeface="Aptos" pitchFamily="34" charset="0"/>
                <a:ea typeface="Aptos" pitchFamily="34" charset="-122"/>
                <a:cs typeface="Aptos" pitchFamily="34" charset="-120"/>
              </a:rPr>
              <a:t>Search and category filter</a:t>
            </a:r>
            <a:endParaRPr lang="en-US" sz="800" dirty="0"/>
          </a:p>
        </p:txBody>
      </p:sp>
      <p:pic>
        <p:nvPicPr>
          <p:cNvPr id="16" name="Registration"/>
          <p:cNvPicPr>
            <a:picLocks noChangeAspect="1"/>
          </p:cNvPicPr>
          <p:nvPr/>
        </p:nvPicPr>
        <p:blipFill>
          <a:blip r:embed="rId5"/>
          <a:stretch>
            <a:fillRect/>
          </a:stretch>
        </p:blipFill>
        <p:spPr>
          <a:xfrm>
            <a:off x="6505056" y="1470000"/>
            <a:ext cx="1728177" cy="3750000"/>
          </a:xfrm>
          <a:prstGeom prst="rect">
            <a:avLst/>
          </a:prstGeom>
          <a:ln w="12700">
            <a:solidFill>
              <a:srgbClr val="D9E2EF"/>
            </a:solidFill>
          </a:ln>
        </p:spPr>
      </p:pic>
      <p:sp>
        <p:nvSpPr>
          <p:cNvPr id="17" name="Caption 2"/>
          <p:cNvSpPr/>
          <p:nvPr/>
        </p:nvSpPr>
        <p:spPr>
          <a:xfrm>
            <a:off x="6505056" y="5290000"/>
            <a:ext cx="1728177" cy="200000"/>
          </a:xfrm>
          <a:prstGeom prst="rect">
            <a:avLst/>
          </a:prstGeom>
          <a:noFill/>
          <a:ln/>
        </p:spPr>
        <p:txBody>
          <a:bodyPr wrap="square" lIns="0" tIns="0" rIns="0" bIns="0" rtlCol="0" anchor="ctr"/>
          <a:lstStyle/>
          <a:p>
            <a:pPr marL="0" indent="0" algn="ctr">
              <a:buNone/>
            </a:pPr>
            <a:r>
              <a:rPr lang="en-US" sz="900" b="1" dirty="0">
                <a:solidFill>
                  <a:srgbClr val="1B2733"/>
                </a:solidFill>
                <a:latin typeface="Aptos" pitchFamily="34" charset="0"/>
                <a:ea typeface="Aptos" pitchFamily="34" charset="-122"/>
                <a:cs typeface="Aptos" pitchFamily="34" charset="-120"/>
              </a:rPr>
              <a:t>Registration</a:t>
            </a:r>
            <a:endParaRPr lang="en-US" sz="900" dirty="0"/>
          </a:p>
        </p:txBody>
      </p:sp>
      <p:sp>
        <p:nvSpPr>
          <p:cNvPr id="18" name="Sub 2"/>
          <p:cNvSpPr/>
          <p:nvPr/>
        </p:nvSpPr>
        <p:spPr>
          <a:xfrm>
            <a:off x="6505056" y="5490000"/>
            <a:ext cx="1728177" cy="190000"/>
          </a:xfrm>
          <a:prstGeom prst="rect">
            <a:avLst/>
          </a:prstGeom>
          <a:noFill/>
          <a:ln/>
        </p:spPr>
        <p:txBody>
          <a:bodyPr wrap="square" lIns="0" tIns="0" rIns="0" bIns="0" rtlCol="0" anchor="ctr"/>
          <a:lstStyle/>
          <a:p>
            <a:pPr marL="0" indent="0" algn="ctr">
              <a:buNone/>
            </a:pPr>
            <a:r>
              <a:rPr lang="en-US" sz="800" dirty="0">
                <a:solidFill>
                  <a:srgbClr val="5A6675"/>
                </a:solidFill>
                <a:latin typeface="Aptos" pitchFamily="34" charset="0"/>
                <a:ea typeface="Aptos" pitchFamily="34" charset="-122"/>
                <a:cs typeface="Aptos" pitchFamily="34" charset="-120"/>
              </a:rPr>
              <a:t>Password policy enforced</a:t>
            </a:r>
            <a:endParaRPr lang="en-US" sz="800" dirty="0"/>
          </a:p>
        </p:txBody>
      </p:sp>
      <p:pic>
        <p:nvPicPr>
          <p:cNvPr id="19" name="Sign in"/>
          <p:cNvPicPr>
            <a:picLocks noChangeAspect="1"/>
          </p:cNvPicPr>
          <p:nvPr/>
        </p:nvPicPr>
        <p:blipFill>
          <a:blip r:embed="rId6"/>
          <a:stretch>
            <a:fillRect/>
          </a:stretch>
        </p:blipFill>
        <p:spPr>
          <a:xfrm>
            <a:off x="9081827" y="1470000"/>
            <a:ext cx="1728177" cy="3750000"/>
          </a:xfrm>
          <a:prstGeom prst="rect">
            <a:avLst/>
          </a:prstGeom>
          <a:ln w="12700">
            <a:solidFill>
              <a:srgbClr val="D9E2EF"/>
            </a:solidFill>
          </a:ln>
        </p:spPr>
      </p:pic>
      <p:sp>
        <p:nvSpPr>
          <p:cNvPr id="20" name="Caption 3"/>
          <p:cNvSpPr/>
          <p:nvPr/>
        </p:nvSpPr>
        <p:spPr>
          <a:xfrm>
            <a:off x="9081827" y="5290000"/>
            <a:ext cx="1728177" cy="200000"/>
          </a:xfrm>
          <a:prstGeom prst="rect">
            <a:avLst/>
          </a:prstGeom>
          <a:noFill/>
          <a:ln/>
        </p:spPr>
        <p:txBody>
          <a:bodyPr wrap="square" lIns="0" tIns="0" rIns="0" bIns="0" rtlCol="0" anchor="ctr"/>
          <a:lstStyle/>
          <a:p>
            <a:pPr marL="0" indent="0" algn="ctr">
              <a:buNone/>
            </a:pPr>
            <a:r>
              <a:rPr lang="en-US" sz="900" b="1" dirty="0">
                <a:solidFill>
                  <a:srgbClr val="1B2733"/>
                </a:solidFill>
                <a:latin typeface="Aptos" pitchFamily="34" charset="0"/>
                <a:ea typeface="Aptos" pitchFamily="34" charset="-122"/>
                <a:cs typeface="Aptos" pitchFamily="34" charset="-120"/>
              </a:rPr>
              <a:t>Sign in</a:t>
            </a:r>
            <a:endParaRPr lang="en-US" sz="900" dirty="0"/>
          </a:p>
        </p:txBody>
      </p:sp>
      <p:sp>
        <p:nvSpPr>
          <p:cNvPr id="21" name="Sub 3"/>
          <p:cNvSpPr/>
          <p:nvPr/>
        </p:nvSpPr>
        <p:spPr>
          <a:xfrm>
            <a:off x="9081827" y="5490000"/>
            <a:ext cx="1728177" cy="190000"/>
          </a:xfrm>
          <a:prstGeom prst="rect">
            <a:avLst/>
          </a:prstGeom>
          <a:noFill/>
          <a:ln/>
        </p:spPr>
        <p:txBody>
          <a:bodyPr wrap="square" lIns="0" tIns="0" rIns="0" bIns="0" rtlCol="0" anchor="ctr"/>
          <a:lstStyle/>
          <a:p>
            <a:pPr marL="0" indent="0" algn="ctr">
              <a:buNone/>
            </a:pPr>
            <a:r>
              <a:rPr lang="en-US" sz="800" dirty="0">
                <a:solidFill>
                  <a:srgbClr val="5A6675"/>
                </a:solidFill>
                <a:latin typeface="Aptos" pitchFamily="34" charset="0"/>
                <a:ea typeface="Aptos" pitchFamily="34" charset="-122"/>
                <a:cs typeface="Aptos" pitchFamily="34" charset="-120"/>
              </a:rPr>
              <a:t>User ID or email</a:t>
            </a:r>
            <a:endParaRPr lang="en-US" sz="800" dirty="0"/>
          </a:p>
        </p:txBody>
      </p:sp>
      <p:sp>
        <p:nvSpPr>
          <p:cNvPr id="22" name="Takeaway"/>
          <p:cNvSpPr/>
          <p:nvPr/>
        </p:nvSpPr>
        <p:spPr>
          <a:xfrm>
            <a:off x="502920" y="5720000"/>
            <a:ext cx="11155680" cy="560000"/>
          </a:xfrm>
          <a:prstGeom prst="rect">
            <a:avLst/>
          </a:prstGeom>
          <a:noFill/>
          <a:ln/>
        </p:spPr>
        <p:txBody>
          <a:bodyPr wrap="square" lIns="0" tIns="0" rIns="0" bIns="0" rtlCol="0" anchor="t"/>
          <a:lstStyle/>
          <a:p>
            <a:pPr marL="0" indent="0" algn="l">
              <a:lnSpc>
                <a:spcPct val="105000"/>
              </a:lnSpc>
              <a:buNone/>
            </a:pPr>
            <a:r>
              <a:rPr lang="en-US" sz="1150" dirty="0">
                <a:solidFill>
                  <a:srgbClr val="5A6675"/>
                </a:solidFill>
                <a:latin typeface="Aptos" pitchFamily="34" charset="0"/>
                <a:ea typeface="Aptos" pitchFamily="34" charset="-122"/>
                <a:cs typeface="Aptos" pitchFamily="34" charset="-120"/>
              </a:rPr>
              <a:t>The same responsive interface serves desktop and mobile browsers. Sign-in accepts a user ID or an email address, and the registration form enforces the password rules before an account is created.</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964DA"/>
          </a:solidFill>
          <a:ln w="12700">
            <a:solidFill>
              <a:srgbClr val="0964DA"/>
            </a:solidFill>
            <a:prstDash val="solid"/>
          </a:ln>
        </p:spPr>
        <p:txBody>
          <a:bodyPr/>
          <a:lstStyle/>
          <a:p>
            <a:endParaRPr lang="en-US"/>
          </a:p>
        </p:txBody>
      </p:sp>
      <p:sp>
        <p:nvSpPr>
          <p:cNvPr id="3" name="Text 1"/>
          <p:cNvSpPr/>
          <p:nvPr/>
        </p:nvSpPr>
        <p:spPr>
          <a:xfrm>
            <a:off x="411480" y="6510528"/>
            <a:ext cx="5120640" cy="164592"/>
          </a:xfrm>
          <a:prstGeom prst="rect">
            <a:avLst/>
          </a:prstGeom>
          <a:noFill/>
          <a:ln/>
        </p:spPr>
        <p:txBody>
          <a:bodyPr wrap="square" lIns="0" tIns="0" rIns="0" bIns="0" rtlCol="0" anchor="ctr"/>
          <a:lstStyle/>
          <a:p>
            <a:pPr marL="0" indent="0">
              <a:buNone/>
            </a:pPr>
            <a:r>
              <a:rPr lang="en-US" sz="750" dirty="0">
                <a:solidFill>
                  <a:srgbClr val="5A6675"/>
                </a:solidFill>
                <a:latin typeface="Aptos" pitchFamily="34" charset="0"/>
                <a:ea typeface="Aptos" pitchFamily="34" charset="-122"/>
                <a:cs typeface="Aptos" pitchFamily="34" charset="-120"/>
              </a:rPr>
              <a:t>E-Learning Platform Project Defence</a:t>
            </a:r>
            <a:endParaRPr lang="en-US" sz="750" dirty="0"/>
          </a:p>
        </p:txBody>
      </p:sp>
      <p:sp>
        <p:nvSpPr>
          <p:cNvPr id="4" name="Text 2"/>
          <p:cNvSpPr/>
          <p:nvPr/>
        </p:nvSpPr>
        <p:spPr>
          <a:xfrm>
            <a:off x="11384280" y="6492240"/>
            <a:ext cx="365760" cy="164592"/>
          </a:xfrm>
          <a:prstGeom prst="rect">
            <a:avLst/>
          </a:prstGeom>
          <a:noFill/>
          <a:ln/>
        </p:spPr>
        <p:txBody>
          <a:bodyPr wrap="square" lIns="0" tIns="0" rIns="0" bIns="0" rtlCol="0" anchor="ctr"/>
          <a:lstStyle/>
          <a:p>
            <a:pPr marL="0" indent="0" algn="r">
              <a:buNone/>
            </a:pPr>
            <a:r>
              <a:rPr lang="en-US" sz="800" dirty="0">
                <a:solidFill>
                  <a:srgbClr val="5A6675"/>
                </a:solidFill>
                <a:latin typeface="Aptos" pitchFamily="34" charset="0"/>
                <a:ea typeface="Aptos" pitchFamily="34" charset="-122"/>
                <a:cs typeface="Aptos" pitchFamily="34" charset="-120"/>
              </a:rPr>
              <a:t>10</a:t>
            </a:r>
            <a:endParaRPr lang="en-US" sz="800" dirty="0"/>
          </a:p>
        </p:txBody>
      </p:sp>
      <p:sp>
        <p:nvSpPr>
          <p:cNvPr id="5" name="Text 3"/>
          <p:cNvSpPr/>
          <p:nvPr/>
        </p:nvSpPr>
        <p:spPr>
          <a:xfrm>
            <a:off x="502920" y="411480"/>
            <a:ext cx="11064240" cy="411480"/>
          </a:xfrm>
          <a:prstGeom prst="rect">
            <a:avLst/>
          </a:prstGeom>
          <a:noFill/>
          <a:ln/>
        </p:spPr>
        <p:txBody>
          <a:bodyPr wrap="square" lIns="0" tIns="0" rIns="0" bIns="0" rtlCol="0" anchor="ctr"/>
          <a:lstStyle/>
          <a:p>
            <a:pPr marL="0" indent="0">
              <a:buNone/>
            </a:pPr>
            <a:r>
              <a:rPr lang="en-US" sz="2500" b="1" dirty="0">
                <a:solidFill>
                  <a:srgbClr val="082E67"/>
                </a:solidFill>
                <a:latin typeface="Aptos Display" pitchFamily="34" charset="0"/>
                <a:ea typeface="Aptos Display" pitchFamily="34" charset="-122"/>
                <a:cs typeface="Aptos Display" pitchFamily="34" charset="-120"/>
              </a:rPr>
              <a:t>Student Learning Experience</a:t>
            </a:r>
            <a:endParaRPr lang="en-US" sz="2500" dirty="0"/>
          </a:p>
        </p:txBody>
      </p:sp>
      <p:sp>
        <p:nvSpPr>
          <p:cNvPr id="6" name="Text 4"/>
          <p:cNvSpPr/>
          <p:nvPr/>
        </p:nvSpPr>
        <p:spPr>
          <a:xfrm>
            <a:off x="530352" y="868680"/>
            <a:ext cx="10789920" cy="228600"/>
          </a:xfrm>
          <a:prstGeom prst="rect">
            <a:avLst/>
          </a:prstGeom>
          <a:noFill/>
          <a:ln/>
        </p:spPr>
        <p:txBody>
          <a:bodyPr wrap="square" lIns="0" tIns="0" rIns="0" bIns="0" rtlCol="0" anchor="ctr"/>
          <a:lstStyle/>
          <a:p>
            <a:pPr marL="0" indent="0">
              <a:buNone/>
            </a:pPr>
            <a:r>
              <a:rPr lang="en-US" sz="1050" dirty="0">
                <a:solidFill>
                  <a:srgbClr val="5A6675"/>
                </a:solidFill>
                <a:latin typeface="Aptos" pitchFamily="34" charset="0"/>
                <a:ea typeface="Aptos" pitchFamily="34" charset="-122"/>
                <a:cs typeface="Aptos" pitchFamily="34" charset="-120"/>
              </a:rPr>
              <a:t>Course progress and timed automatic assessment</a:t>
            </a:r>
            <a:endParaRPr lang="en-US" sz="1050" dirty="0"/>
          </a:p>
        </p:txBody>
      </p:sp>
      <p:sp>
        <p:nvSpPr>
          <p:cNvPr id="7" name="Shape 5"/>
          <p:cNvSpPr/>
          <p:nvPr/>
        </p:nvSpPr>
        <p:spPr>
          <a:xfrm>
            <a:off x="502920" y="1170432"/>
            <a:ext cx="11155680" cy="0"/>
          </a:xfrm>
          <a:prstGeom prst="line">
            <a:avLst/>
          </a:prstGeom>
          <a:noFill/>
          <a:ln w="12700">
            <a:solidFill>
              <a:srgbClr val="D9E2EF"/>
            </a:solidFill>
            <a:prstDash val="solid"/>
          </a:ln>
        </p:spPr>
        <p:txBody>
          <a:bodyPr/>
          <a:lstStyle/>
          <a:p>
            <a:endParaRPr lang="en-US"/>
          </a:p>
        </p:txBody>
      </p:sp>
      <p:sp>
        <p:nvSpPr>
          <p:cNvPr id="8" name="Shape 6"/>
          <p:cNvSpPr/>
          <p:nvPr/>
        </p:nvSpPr>
        <p:spPr>
          <a:xfrm>
            <a:off x="630936" y="1453896"/>
            <a:ext cx="5641848" cy="2907792"/>
          </a:xfrm>
          <a:prstGeom prst="roundRect">
            <a:avLst>
              <a:gd name="adj" fmla="val 1887"/>
            </a:avLst>
          </a:prstGeom>
          <a:solidFill>
            <a:srgbClr val="F8FAFC"/>
          </a:solidFill>
          <a:ln w="12700">
            <a:solidFill>
              <a:srgbClr val="D9E2EF"/>
            </a:solidFill>
            <a:prstDash val="solid"/>
          </a:ln>
          <a:effectLst>
            <a:outerShdw blurRad="12700" dist="50800" dir="2700000" algn="bl" rotWithShape="0">
              <a:srgbClr val="A8B7C8">
                <a:alpha val="16000"/>
              </a:srgbClr>
            </a:outerShdw>
          </a:effectLst>
        </p:spPr>
        <p:txBody>
          <a:bodyPr/>
          <a:lstStyle/>
          <a:p>
            <a:endParaRPr lang="en-US"/>
          </a:p>
        </p:txBody>
      </p:sp>
      <p:pic>
        <p:nvPicPr>
          <p:cNvPr id="9" name="Image 0" descr="c:\Users\danso\Documents\personal projects\e_learning\Project Report\presentation-assets\image5.png"/>
          <p:cNvPicPr>
            <a:picLocks noChangeAspect="1"/>
          </p:cNvPicPr>
          <p:nvPr/>
        </p:nvPicPr>
        <p:blipFill>
          <a:blip r:embed="rId3"/>
          <a:stretch>
            <a:fillRect/>
          </a:stretch>
        </p:blipFill>
        <p:spPr>
          <a:xfrm>
            <a:off x="685800" y="1508760"/>
            <a:ext cx="5532120" cy="2798064"/>
          </a:xfrm>
          <a:prstGeom prst="rect">
            <a:avLst/>
          </a:prstGeom>
        </p:spPr>
      </p:pic>
      <p:sp>
        <p:nvSpPr>
          <p:cNvPr id="10" name="Text 7"/>
          <p:cNvSpPr/>
          <p:nvPr/>
        </p:nvSpPr>
        <p:spPr>
          <a:xfrm>
            <a:off x="685800" y="4416552"/>
            <a:ext cx="5532120" cy="201168"/>
          </a:xfrm>
          <a:prstGeom prst="rect">
            <a:avLst/>
          </a:prstGeom>
          <a:noFill/>
          <a:ln/>
        </p:spPr>
        <p:txBody>
          <a:bodyPr wrap="square" lIns="0" tIns="0" rIns="0" bIns="0" rtlCol="0" anchor="ctr"/>
          <a:lstStyle/>
          <a:p>
            <a:pPr marL="0" indent="0" algn="ctr">
              <a:buNone/>
            </a:pPr>
            <a:r>
              <a:rPr lang="en-US" sz="900" dirty="0">
                <a:solidFill>
                  <a:srgbClr val="5A6675"/>
                </a:solidFill>
                <a:latin typeface="Aptos" pitchFamily="34" charset="0"/>
                <a:ea typeface="Aptos" pitchFamily="34" charset="-122"/>
                <a:cs typeface="Aptos" pitchFamily="34" charset="-120"/>
              </a:rPr>
              <a:t>Student dashboard: enrolled courses and progress</a:t>
            </a:r>
            <a:endParaRPr lang="en-US" sz="900" dirty="0"/>
          </a:p>
        </p:txBody>
      </p:sp>
      <p:sp>
        <p:nvSpPr>
          <p:cNvPr id="11" name="Shape 8"/>
          <p:cNvSpPr/>
          <p:nvPr/>
        </p:nvSpPr>
        <p:spPr>
          <a:xfrm>
            <a:off x="6437376" y="1453896"/>
            <a:ext cx="5093208" cy="2633472"/>
          </a:xfrm>
          <a:prstGeom prst="roundRect">
            <a:avLst>
              <a:gd name="adj" fmla="val 2083"/>
            </a:avLst>
          </a:prstGeom>
          <a:solidFill>
            <a:srgbClr val="F8FAFC"/>
          </a:solidFill>
          <a:ln w="12700">
            <a:solidFill>
              <a:srgbClr val="D9E2EF"/>
            </a:solidFill>
            <a:prstDash val="solid"/>
          </a:ln>
          <a:effectLst>
            <a:outerShdw blurRad="12700" dist="50800" dir="2700000" algn="bl" rotWithShape="0">
              <a:srgbClr val="A8B7C8">
                <a:alpha val="16000"/>
              </a:srgbClr>
            </a:outerShdw>
          </a:effectLst>
        </p:spPr>
        <p:txBody>
          <a:bodyPr/>
          <a:lstStyle/>
          <a:p>
            <a:endParaRPr lang="en-US"/>
          </a:p>
        </p:txBody>
      </p:sp>
      <p:pic>
        <p:nvPicPr>
          <p:cNvPr id="12" name="Image 1" descr="c:\Users\danso\Documents\personal projects\e_learning\Project Report\presentation-assets\image6.png"/>
          <p:cNvPicPr>
            <a:picLocks noChangeAspect="1"/>
          </p:cNvPicPr>
          <p:nvPr/>
        </p:nvPicPr>
        <p:blipFill>
          <a:blip r:embed="rId4"/>
          <a:stretch>
            <a:fillRect/>
          </a:stretch>
        </p:blipFill>
        <p:spPr>
          <a:xfrm>
            <a:off x="6492240" y="1508760"/>
            <a:ext cx="4983480" cy="2523744"/>
          </a:xfrm>
          <a:prstGeom prst="rect">
            <a:avLst/>
          </a:prstGeom>
        </p:spPr>
      </p:pic>
      <p:sp>
        <p:nvSpPr>
          <p:cNvPr id="13" name="Text 9"/>
          <p:cNvSpPr/>
          <p:nvPr/>
        </p:nvSpPr>
        <p:spPr>
          <a:xfrm>
            <a:off x="6492240" y="4142232"/>
            <a:ext cx="4983480" cy="201168"/>
          </a:xfrm>
          <a:prstGeom prst="rect">
            <a:avLst/>
          </a:prstGeom>
          <a:noFill/>
          <a:ln/>
        </p:spPr>
        <p:txBody>
          <a:bodyPr wrap="square" lIns="0" tIns="0" rIns="0" bIns="0" rtlCol="0" anchor="ctr"/>
          <a:lstStyle/>
          <a:p>
            <a:pPr marL="0" indent="0" algn="ctr">
              <a:buNone/>
            </a:pPr>
            <a:r>
              <a:rPr lang="en-US" sz="900" dirty="0">
                <a:solidFill>
                  <a:srgbClr val="5A6675"/>
                </a:solidFill>
                <a:latin typeface="Aptos" pitchFamily="34" charset="0"/>
                <a:ea typeface="Aptos" pitchFamily="34" charset="-122"/>
                <a:cs typeface="Aptos" pitchFamily="34" charset="-120"/>
              </a:rPr>
              <a:t>Timed quiz: automatic marking and pass score</a:t>
            </a:r>
            <a:endParaRPr lang="en-US" sz="900" dirty="0"/>
          </a:p>
        </p:txBody>
      </p:sp>
      <p:sp>
        <p:nvSpPr>
          <p:cNvPr id="14" name="Text 10"/>
          <p:cNvSpPr/>
          <p:nvPr/>
        </p:nvSpPr>
        <p:spPr>
          <a:xfrm>
            <a:off x="1005840" y="4892040"/>
            <a:ext cx="9966960" cy="1051560"/>
          </a:xfrm>
          <a:prstGeom prst="rect">
            <a:avLst/>
          </a:prstGeom>
          <a:noFill/>
          <a:ln/>
        </p:spPr>
        <p:txBody>
          <a:bodyPr wrap="square" lIns="508" tIns="508" rIns="508" bIns="508" rtlCol="0" anchor="t"/>
          <a:lstStyle/>
          <a:p>
            <a:pPr marL="228600" indent="-228600">
              <a:buSzPct val="100000"/>
              <a:buChar char="•"/>
            </a:pPr>
            <a:r>
              <a:rPr lang="en-US" sz="1450" dirty="0">
                <a:solidFill>
                  <a:srgbClr val="13233A"/>
                </a:solidFill>
                <a:latin typeface="Aptos" pitchFamily="34" charset="0"/>
                <a:ea typeface="Aptos" pitchFamily="34" charset="-122"/>
                <a:cs typeface="Aptos" pitchFamily="34" charset="-120"/>
              </a:rPr>
              <a:t>Lesson completion and passed quizzes combine to calculate course progress.</a:t>
            </a:r>
            <a:endParaRPr lang="en-US" sz="1450" dirty="0"/>
          </a:p>
          <a:p>
            <a:pPr marL="228600" indent="-228600">
              <a:buSzPct val="100000"/>
              <a:buChar char="•"/>
            </a:pPr>
            <a:r>
              <a:rPr lang="en-US" sz="1450" dirty="0">
                <a:solidFill>
                  <a:srgbClr val="13233A"/>
                </a:solidFill>
                <a:latin typeface="Aptos" pitchFamily="34" charset="0"/>
                <a:ea typeface="Aptos" pitchFamily="34" charset="-122"/>
                <a:cs typeface="Aptos" pitchFamily="34" charset="-120"/>
              </a:rPr>
              <a:t>The learner can resume from the last incomplete lesson.</a:t>
            </a:r>
            <a:endParaRPr lang="en-US" sz="1450" dirty="0"/>
          </a:p>
          <a:p>
            <a:pPr marL="228600" indent="-228600">
              <a:buSzPct val="100000"/>
              <a:buChar char="•"/>
            </a:pPr>
            <a:r>
              <a:rPr lang="en-US" sz="1450" dirty="0">
                <a:solidFill>
                  <a:srgbClr val="13233A"/>
                </a:solidFill>
                <a:latin typeface="Aptos" pitchFamily="34" charset="0"/>
                <a:ea typeface="Aptos" pitchFamily="34" charset="-122"/>
                <a:cs typeface="Aptos" pitchFamily="34" charset="-120"/>
              </a:rPr>
              <a:t>Quiz answers are graded automatically and stored as an attempt history.</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964DA"/>
          </a:solidFill>
          <a:ln w="12700">
            <a:solidFill>
              <a:srgbClr val="0964DA"/>
            </a:solidFill>
            <a:prstDash val="solid"/>
          </a:ln>
        </p:spPr>
        <p:txBody>
          <a:bodyPr/>
          <a:lstStyle/>
          <a:p>
            <a:endParaRPr lang="en-US"/>
          </a:p>
        </p:txBody>
      </p:sp>
      <p:sp>
        <p:nvSpPr>
          <p:cNvPr id="3" name="Text 1"/>
          <p:cNvSpPr/>
          <p:nvPr/>
        </p:nvSpPr>
        <p:spPr>
          <a:xfrm>
            <a:off x="411480" y="6510528"/>
            <a:ext cx="5120640" cy="164592"/>
          </a:xfrm>
          <a:prstGeom prst="rect">
            <a:avLst/>
          </a:prstGeom>
          <a:noFill/>
          <a:ln/>
        </p:spPr>
        <p:txBody>
          <a:bodyPr wrap="square" lIns="0" tIns="0" rIns="0" bIns="0" rtlCol="0" anchor="ctr"/>
          <a:lstStyle/>
          <a:p>
            <a:pPr marL="0" indent="0">
              <a:buNone/>
            </a:pPr>
            <a:r>
              <a:rPr lang="en-US" sz="750" dirty="0">
                <a:solidFill>
                  <a:srgbClr val="5A6675"/>
                </a:solidFill>
                <a:latin typeface="Aptos" pitchFamily="34" charset="0"/>
                <a:ea typeface="Aptos" pitchFamily="34" charset="-122"/>
                <a:cs typeface="Aptos" pitchFamily="34" charset="-120"/>
              </a:rPr>
              <a:t>E-Learning Platform Project Defence</a:t>
            </a:r>
            <a:endParaRPr lang="en-US" sz="750" dirty="0"/>
          </a:p>
        </p:txBody>
      </p:sp>
      <p:sp>
        <p:nvSpPr>
          <p:cNvPr id="4" name="Text 2"/>
          <p:cNvSpPr/>
          <p:nvPr/>
        </p:nvSpPr>
        <p:spPr>
          <a:xfrm>
            <a:off x="11384280" y="6492240"/>
            <a:ext cx="365760" cy="164592"/>
          </a:xfrm>
          <a:prstGeom prst="rect">
            <a:avLst/>
          </a:prstGeom>
          <a:noFill/>
          <a:ln/>
        </p:spPr>
        <p:txBody>
          <a:bodyPr wrap="square" lIns="0" tIns="0" rIns="0" bIns="0" rtlCol="0" anchor="ctr"/>
          <a:lstStyle/>
          <a:p>
            <a:pPr marL="0" indent="0" algn="r">
              <a:buNone/>
            </a:pPr>
            <a:r>
              <a:rPr lang="en-US" sz="800" dirty="0">
                <a:solidFill>
                  <a:srgbClr val="5A6675"/>
                </a:solidFill>
                <a:latin typeface="Aptos" pitchFamily="34" charset="0"/>
                <a:ea typeface="Aptos" pitchFamily="34" charset="-122"/>
                <a:cs typeface="Aptos" pitchFamily="34" charset="-120"/>
              </a:rPr>
              <a:t>11</a:t>
            </a:r>
            <a:endParaRPr lang="en-US" sz="800" dirty="0"/>
          </a:p>
        </p:txBody>
      </p:sp>
      <p:sp>
        <p:nvSpPr>
          <p:cNvPr id="5" name="Text 3"/>
          <p:cNvSpPr/>
          <p:nvPr/>
        </p:nvSpPr>
        <p:spPr>
          <a:xfrm>
            <a:off x="502920" y="411480"/>
            <a:ext cx="11064240" cy="411480"/>
          </a:xfrm>
          <a:prstGeom prst="rect">
            <a:avLst/>
          </a:prstGeom>
          <a:noFill/>
          <a:ln/>
        </p:spPr>
        <p:txBody>
          <a:bodyPr wrap="square" lIns="0" tIns="0" rIns="0" bIns="0" rtlCol="0" anchor="ctr"/>
          <a:lstStyle/>
          <a:p>
            <a:pPr marL="0" indent="0">
              <a:buNone/>
            </a:pPr>
            <a:r>
              <a:rPr lang="en-US" sz="2500" b="1" dirty="0">
                <a:solidFill>
                  <a:srgbClr val="082E67"/>
                </a:solidFill>
                <a:latin typeface="Aptos Display" pitchFamily="34" charset="0"/>
                <a:ea typeface="Aptos Display" pitchFamily="34" charset="-122"/>
                <a:cs typeface="Aptos Display" pitchFamily="34" charset="-120"/>
              </a:rPr>
              <a:t>Instructor Experience</a:t>
            </a:r>
            <a:endParaRPr lang="en-US" sz="2500" dirty="0"/>
          </a:p>
        </p:txBody>
      </p:sp>
      <p:sp>
        <p:nvSpPr>
          <p:cNvPr id="6" name="Text 4"/>
          <p:cNvSpPr/>
          <p:nvPr/>
        </p:nvSpPr>
        <p:spPr>
          <a:xfrm>
            <a:off x="530352" y="868680"/>
            <a:ext cx="10789920" cy="228600"/>
          </a:xfrm>
          <a:prstGeom prst="rect">
            <a:avLst/>
          </a:prstGeom>
          <a:noFill/>
          <a:ln/>
        </p:spPr>
        <p:txBody>
          <a:bodyPr wrap="square" lIns="0" tIns="0" rIns="0" bIns="0" rtlCol="0" anchor="ctr"/>
          <a:lstStyle/>
          <a:p>
            <a:pPr marL="0" indent="0">
              <a:buNone/>
            </a:pPr>
            <a:r>
              <a:rPr lang="en-US" sz="1050" dirty="0">
                <a:solidFill>
                  <a:srgbClr val="5A6675"/>
                </a:solidFill>
                <a:latin typeface="Aptos" pitchFamily="34" charset="0"/>
                <a:ea typeface="Aptos" pitchFamily="34" charset="-122"/>
                <a:cs typeface="Aptos" pitchFamily="34" charset="-120"/>
              </a:rPr>
              <a:t>From application to course management and earnings</a:t>
            </a:r>
            <a:endParaRPr lang="en-US" sz="1050" dirty="0"/>
          </a:p>
        </p:txBody>
      </p:sp>
      <p:sp>
        <p:nvSpPr>
          <p:cNvPr id="7" name="Shape 5"/>
          <p:cNvSpPr/>
          <p:nvPr/>
        </p:nvSpPr>
        <p:spPr>
          <a:xfrm>
            <a:off x="502920" y="1170432"/>
            <a:ext cx="11155680" cy="0"/>
          </a:xfrm>
          <a:prstGeom prst="line">
            <a:avLst/>
          </a:prstGeom>
          <a:noFill/>
          <a:ln w="12700">
            <a:solidFill>
              <a:srgbClr val="D9E2EF"/>
            </a:solidFill>
            <a:prstDash val="solid"/>
          </a:ln>
        </p:spPr>
        <p:txBody>
          <a:bodyPr/>
          <a:lstStyle/>
          <a:p>
            <a:endParaRPr lang="en-US"/>
          </a:p>
        </p:txBody>
      </p:sp>
      <p:sp>
        <p:nvSpPr>
          <p:cNvPr id="8" name="Shape 6"/>
          <p:cNvSpPr/>
          <p:nvPr/>
        </p:nvSpPr>
        <p:spPr>
          <a:xfrm>
            <a:off x="603504" y="1362456"/>
            <a:ext cx="2441448" cy="3922776"/>
          </a:xfrm>
          <a:prstGeom prst="roundRect">
            <a:avLst>
              <a:gd name="adj" fmla="val 2247"/>
            </a:avLst>
          </a:prstGeom>
          <a:solidFill>
            <a:srgbClr val="F8FAFC"/>
          </a:solidFill>
          <a:ln w="12700">
            <a:solidFill>
              <a:srgbClr val="D9E2EF"/>
            </a:solidFill>
            <a:prstDash val="solid"/>
          </a:ln>
          <a:effectLst>
            <a:outerShdw blurRad="12700" dist="50800" dir="2700000" algn="bl" rotWithShape="0">
              <a:srgbClr val="A8B7C8">
                <a:alpha val="16000"/>
              </a:srgbClr>
            </a:outerShdw>
          </a:effectLst>
        </p:spPr>
        <p:txBody>
          <a:bodyPr/>
          <a:lstStyle/>
          <a:p>
            <a:endParaRPr lang="en-US"/>
          </a:p>
        </p:txBody>
      </p:sp>
      <p:pic>
        <p:nvPicPr>
          <p:cNvPr id="9" name="Image 0" descr="c:\Users\danso\Documents\personal projects\e_learning\Project Report\presentation-assets\image9.png"/>
          <p:cNvPicPr>
            <a:picLocks noChangeAspect="1"/>
          </p:cNvPicPr>
          <p:nvPr/>
        </p:nvPicPr>
        <p:blipFill>
          <a:blip r:embed="rId3"/>
          <a:stretch>
            <a:fillRect/>
          </a:stretch>
        </p:blipFill>
        <p:spPr>
          <a:xfrm>
            <a:off x="658368" y="1417320"/>
            <a:ext cx="2331720" cy="3813048"/>
          </a:xfrm>
          <a:prstGeom prst="rect">
            <a:avLst/>
          </a:prstGeom>
        </p:spPr>
      </p:pic>
      <p:sp>
        <p:nvSpPr>
          <p:cNvPr id="10" name="Text 7"/>
          <p:cNvSpPr/>
          <p:nvPr/>
        </p:nvSpPr>
        <p:spPr>
          <a:xfrm>
            <a:off x="658368" y="5340096"/>
            <a:ext cx="2331720" cy="201168"/>
          </a:xfrm>
          <a:prstGeom prst="rect">
            <a:avLst/>
          </a:prstGeom>
          <a:noFill/>
          <a:ln/>
        </p:spPr>
        <p:txBody>
          <a:bodyPr wrap="square" lIns="0" tIns="0" rIns="0" bIns="0" rtlCol="0" anchor="ctr"/>
          <a:lstStyle/>
          <a:p>
            <a:pPr marL="0" indent="0" algn="ctr">
              <a:buNone/>
            </a:pPr>
            <a:r>
              <a:rPr lang="en-US" sz="900" dirty="0">
                <a:solidFill>
                  <a:srgbClr val="5A6675"/>
                </a:solidFill>
                <a:latin typeface="Aptos" pitchFamily="34" charset="0"/>
                <a:ea typeface="Aptos" pitchFamily="34" charset="-122"/>
                <a:cs typeface="Aptos" pitchFamily="34" charset="-120"/>
              </a:rPr>
              <a:t>Instructor application and verification</a:t>
            </a:r>
            <a:endParaRPr lang="en-US" sz="900" dirty="0"/>
          </a:p>
        </p:txBody>
      </p:sp>
      <p:sp>
        <p:nvSpPr>
          <p:cNvPr id="11" name="Shape 8"/>
          <p:cNvSpPr/>
          <p:nvPr/>
        </p:nvSpPr>
        <p:spPr>
          <a:xfrm>
            <a:off x="3374136" y="1362456"/>
            <a:ext cx="5276088" cy="2724912"/>
          </a:xfrm>
          <a:prstGeom prst="roundRect">
            <a:avLst>
              <a:gd name="adj" fmla="val 2013"/>
            </a:avLst>
          </a:prstGeom>
          <a:solidFill>
            <a:srgbClr val="F8FAFC"/>
          </a:solidFill>
          <a:ln w="12700">
            <a:solidFill>
              <a:srgbClr val="D9E2EF"/>
            </a:solidFill>
            <a:prstDash val="solid"/>
          </a:ln>
          <a:effectLst>
            <a:outerShdw blurRad="12700" dist="50800" dir="2700000" algn="bl" rotWithShape="0">
              <a:srgbClr val="A8B7C8">
                <a:alpha val="16000"/>
              </a:srgbClr>
            </a:outerShdw>
          </a:effectLst>
        </p:spPr>
        <p:txBody>
          <a:bodyPr/>
          <a:lstStyle/>
          <a:p>
            <a:endParaRPr lang="en-US"/>
          </a:p>
        </p:txBody>
      </p:sp>
      <p:sp>
        <p:nvSpPr>
          <p:cNvPr id="13" name="Text 9"/>
          <p:cNvSpPr/>
          <p:nvPr/>
        </p:nvSpPr>
        <p:spPr>
          <a:xfrm>
            <a:off x="3429000" y="4142232"/>
            <a:ext cx="5166360" cy="201168"/>
          </a:xfrm>
          <a:prstGeom prst="rect">
            <a:avLst/>
          </a:prstGeom>
          <a:noFill/>
          <a:ln/>
        </p:spPr>
        <p:txBody>
          <a:bodyPr wrap="square" lIns="0" tIns="0" rIns="0" bIns="0" rtlCol="0" anchor="ctr"/>
          <a:lstStyle/>
          <a:p>
            <a:pPr marL="0" indent="0" algn="ctr">
              <a:buNone/>
            </a:pPr>
            <a:r>
              <a:rPr lang="en-US" sz="900" dirty="0">
                <a:solidFill>
                  <a:srgbClr val="5A6675"/>
                </a:solidFill>
                <a:latin typeface="Aptos" pitchFamily="34" charset="0"/>
                <a:ea typeface="Aptos" pitchFamily="34" charset="-122"/>
                <a:cs typeface="Aptos" pitchFamily="34" charset="-120"/>
              </a:rPr>
              <a:t>Instructor dashboard: courses, learners, earnings</a:t>
            </a:r>
            <a:endParaRPr lang="en-US" sz="900" dirty="0"/>
          </a:p>
        </p:txBody>
      </p:sp>
      <p:sp>
        <p:nvSpPr>
          <p:cNvPr id="14" name="Shape 10"/>
          <p:cNvSpPr/>
          <p:nvPr/>
        </p:nvSpPr>
        <p:spPr>
          <a:xfrm>
            <a:off x="8924544" y="1362456"/>
            <a:ext cx="2231136" cy="3584448"/>
          </a:xfrm>
          <a:prstGeom prst="roundRect">
            <a:avLst>
              <a:gd name="adj" fmla="val 2459"/>
            </a:avLst>
          </a:prstGeom>
          <a:solidFill>
            <a:srgbClr val="F8FAFC"/>
          </a:solidFill>
          <a:ln w="12700">
            <a:solidFill>
              <a:srgbClr val="D9E2EF"/>
            </a:solidFill>
            <a:prstDash val="solid"/>
          </a:ln>
          <a:effectLst>
            <a:outerShdw blurRad="12700" dist="50800" dir="2700000" algn="bl" rotWithShape="0">
              <a:srgbClr val="A8B7C8">
                <a:alpha val="16000"/>
              </a:srgbClr>
            </a:outerShdw>
          </a:effectLst>
        </p:spPr>
        <p:txBody>
          <a:bodyPr/>
          <a:lstStyle/>
          <a:p>
            <a:endParaRPr lang="en-US"/>
          </a:p>
        </p:txBody>
      </p:sp>
      <p:pic>
        <p:nvPicPr>
          <p:cNvPr id="15" name="Image 2" descr="c:\Users\danso\Documents\personal projects\e_learning\Project Report\presentation-assets\image8.png"/>
          <p:cNvPicPr>
            <a:picLocks noChangeAspect="1"/>
          </p:cNvPicPr>
          <p:nvPr/>
        </p:nvPicPr>
        <p:blipFill>
          <a:blip r:embed="rId4"/>
          <a:stretch>
            <a:fillRect/>
          </a:stretch>
        </p:blipFill>
        <p:spPr>
          <a:xfrm>
            <a:off x="8979408" y="1417320"/>
            <a:ext cx="2121408" cy="3474720"/>
          </a:xfrm>
          <a:prstGeom prst="rect">
            <a:avLst/>
          </a:prstGeom>
        </p:spPr>
      </p:pic>
      <p:sp>
        <p:nvSpPr>
          <p:cNvPr id="16" name="Text 11"/>
          <p:cNvSpPr/>
          <p:nvPr/>
        </p:nvSpPr>
        <p:spPr>
          <a:xfrm>
            <a:off x="8979408" y="5001768"/>
            <a:ext cx="2121408" cy="201168"/>
          </a:xfrm>
          <a:prstGeom prst="rect">
            <a:avLst/>
          </a:prstGeom>
          <a:noFill/>
          <a:ln/>
        </p:spPr>
        <p:txBody>
          <a:bodyPr wrap="square" lIns="0" tIns="0" rIns="0" bIns="0" rtlCol="0" anchor="ctr"/>
          <a:lstStyle/>
          <a:p>
            <a:pPr marL="0" indent="0" algn="ctr">
              <a:buNone/>
            </a:pPr>
            <a:r>
              <a:rPr lang="en-US" sz="900" dirty="0">
                <a:solidFill>
                  <a:srgbClr val="5A6675"/>
                </a:solidFill>
                <a:latin typeface="Aptos" pitchFamily="34" charset="0"/>
                <a:ea typeface="Aptos" pitchFamily="34" charset="-122"/>
                <a:cs typeface="Aptos" pitchFamily="34" charset="-120"/>
              </a:rPr>
              <a:t>Course editor and announcements</a:t>
            </a:r>
            <a:endParaRPr lang="en-US" sz="900" dirty="0"/>
          </a:p>
        </p:txBody>
      </p:sp>
      <p:sp>
        <p:nvSpPr>
          <p:cNvPr id="17" name="Text 12"/>
          <p:cNvSpPr/>
          <p:nvPr/>
        </p:nvSpPr>
        <p:spPr>
          <a:xfrm>
            <a:off x="2768217" y="5614416"/>
            <a:ext cx="7772400" cy="566928"/>
          </a:xfrm>
          <a:prstGeom prst="rect">
            <a:avLst/>
          </a:prstGeom>
          <a:noFill/>
          <a:ln/>
        </p:spPr>
        <p:txBody>
          <a:bodyPr wrap="square" lIns="0" tIns="0" rIns="0" bIns="0" rtlCol="0" anchor="ctr"/>
          <a:lstStyle/>
          <a:p>
            <a:pPr marL="0" indent="0">
              <a:buNone/>
            </a:pPr>
            <a:r>
              <a:rPr lang="en-US" sz="1400" dirty="0">
                <a:solidFill>
                  <a:srgbClr val="13233A"/>
                </a:solidFill>
              </a:rPr>
              <a:t>Instructors cannot publish immediately. An application must be approved first, and each new course still goes through review before publication.</a:t>
            </a:r>
            <a:endParaRPr lang="en-US" sz="1400" dirty="0"/>
          </a:p>
        </p:txBody>
      </p:sp>
      <p:pic>
        <p:nvPicPr>
          <p:cNvPr id="19" name="Picture 18">
            <a:extLst>
              <a:ext uri="{FF2B5EF4-FFF2-40B4-BE49-F238E27FC236}">
                <a16:creationId xmlns:a16="http://schemas.microsoft.com/office/drawing/2014/main" id="{C401A506-61BB-71DF-6A0D-E4487E45DEAC}"/>
              </a:ext>
            </a:extLst>
          </p:cNvPr>
          <p:cNvPicPr>
            <a:picLocks noChangeAspect="1"/>
          </p:cNvPicPr>
          <p:nvPr/>
        </p:nvPicPr>
        <p:blipFill>
          <a:blip r:embed="rId5"/>
          <a:stretch>
            <a:fillRect/>
          </a:stretch>
        </p:blipFill>
        <p:spPr>
          <a:xfrm>
            <a:off x="3374136" y="1362457"/>
            <a:ext cx="5321808" cy="275234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964DA"/>
          </a:solidFill>
          <a:ln w="12700">
            <a:solidFill>
              <a:srgbClr val="0964DA"/>
            </a:solidFill>
            <a:prstDash val="solid"/>
          </a:ln>
        </p:spPr>
        <p:txBody>
          <a:bodyPr/>
          <a:lstStyle/>
          <a:p>
            <a:endParaRPr lang="en-US"/>
          </a:p>
        </p:txBody>
      </p:sp>
      <p:sp>
        <p:nvSpPr>
          <p:cNvPr id="3" name="Text 1"/>
          <p:cNvSpPr/>
          <p:nvPr/>
        </p:nvSpPr>
        <p:spPr>
          <a:xfrm>
            <a:off x="411480" y="6510528"/>
            <a:ext cx="5120640" cy="164592"/>
          </a:xfrm>
          <a:prstGeom prst="rect">
            <a:avLst/>
          </a:prstGeom>
          <a:noFill/>
          <a:ln/>
        </p:spPr>
        <p:txBody>
          <a:bodyPr wrap="square" lIns="0" tIns="0" rIns="0" bIns="0" rtlCol="0" anchor="ctr"/>
          <a:lstStyle/>
          <a:p>
            <a:pPr marL="0" indent="0">
              <a:buNone/>
            </a:pPr>
            <a:r>
              <a:rPr lang="en-US" sz="750" dirty="0">
                <a:solidFill>
                  <a:srgbClr val="5A6675"/>
                </a:solidFill>
                <a:latin typeface="Aptos" pitchFamily="34" charset="0"/>
                <a:ea typeface="Aptos" pitchFamily="34" charset="-122"/>
                <a:cs typeface="Aptos" pitchFamily="34" charset="-120"/>
              </a:rPr>
              <a:t>E-Learning Platform Project Defence</a:t>
            </a:r>
            <a:endParaRPr lang="en-US" sz="750" dirty="0"/>
          </a:p>
        </p:txBody>
      </p:sp>
      <p:sp>
        <p:nvSpPr>
          <p:cNvPr id="4" name="Text 2"/>
          <p:cNvSpPr/>
          <p:nvPr/>
        </p:nvSpPr>
        <p:spPr>
          <a:xfrm>
            <a:off x="11384280" y="6492240"/>
            <a:ext cx="365760" cy="164592"/>
          </a:xfrm>
          <a:prstGeom prst="rect">
            <a:avLst/>
          </a:prstGeom>
          <a:noFill/>
          <a:ln/>
        </p:spPr>
        <p:txBody>
          <a:bodyPr wrap="square" lIns="0" tIns="0" rIns="0" bIns="0" rtlCol="0" anchor="ctr"/>
          <a:lstStyle/>
          <a:p>
            <a:pPr marL="0" indent="0" algn="r">
              <a:buNone/>
            </a:pPr>
            <a:r>
              <a:rPr lang="en-US" sz="800" dirty="0">
                <a:solidFill>
                  <a:srgbClr val="5A6675"/>
                </a:solidFill>
                <a:latin typeface="Aptos" pitchFamily="34" charset="0"/>
                <a:ea typeface="Aptos" pitchFamily="34" charset="-122"/>
                <a:cs typeface="Aptos" pitchFamily="34" charset="-120"/>
              </a:rPr>
              <a:t>12</a:t>
            </a:r>
            <a:endParaRPr lang="en-US" sz="800" dirty="0"/>
          </a:p>
        </p:txBody>
      </p:sp>
      <p:sp>
        <p:nvSpPr>
          <p:cNvPr id="5" name="Text 3"/>
          <p:cNvSpPr/>
          <p:nvPr/>
        </p:nvSpPr>
        <p:spPr>
          <a:xfrm>
            <a:off x="502920" y="411480"/>
            <a:ext cx="11064240" cy="411480"/>
          </a:xfrm>
          <a:prstGeom prst="rect">
            <a:avLst/>
          </a:prstGeom>
          <a:noFill/>
          <a:ln/>
        </p:spPr>
        <p:txBody>
          <a:bodyPr wrap="square" lIns="0" tIns="0" rIns="0" bIns="0" rtlCol="0" anchor="ctr"/>
          <a:lstStyle/>
          <a:p>
            <a:pPr marL="0" indent="0">
              <a:buNone/>
            </a:pPr>
            <a:r>
              <a:rPr lang="en-US" sz="2500" b="1" dirty="0">
                <a:solidFill>
                  <a:srgbClr val="082E67"/>
                </a:solidFill>
                <a:latin typeface="Aptos Display" pitchFamily="34" charset="0"/>
                <a:ea typeface="Aptos Display" pitchFamily="34" charset="-122"/>
                <a:cs typeface="Aptos Display" pitchFamily="34" charset="-120"/>
              </a:rPr>
              <a:t>Administration and Accountability</a:t>
            </a:r>
            <a:endParaRPr lang="en-US" sz="2500" dirty="0"/>
          </a:p>
        </p:txBody>
      </p:sp>
      <p:sp>
        <p:nvSpPr>
          <p:cNvPr id="6" name="Text 4"/>
          <p:cNvSpPr/>
          <p:nvPr/>
        </p:nvSpPr>
        <p:spPr>
          <a:xfrm>
            <a:off x="530352" y="868680"/>
            <a:ext cx="10789920" cy="228600"/>
          </a:xfrm>
          <a:prstGeom prst="rect">
            <a:avLst/>
          </a:prstGeom>
          <a:noFill/>
          <a:ln/>
        </p:spPr>
        <p:txBody>
          <a:bodyPr wrap="square" lIns="0" tIns="0" rIns="0" bIns="0" rtlCol="0" anchor="ctr"/>
          <a:lstStyle/>
          <a:p>
            <a:pPr marL="0" indent="0">
              <a:buNone/>
            </a:pPr>
            <a:r>
              <a:rPr lang="en-US" sz="1050" dirty="0">
                <a:solidFill>
                  <a:srgbClr val="5A6675"/>
                </a:solidFill>
                <a:latin typeface="Aptos" pitchFamily="34" charset="0"/>
                <a:ea typeface="Aptos" pitchFamily="34" charset="-122"/>
                <a:cs typeface="Aptos" pitchFamily="34" charset="-120"/>
              </a:rPr>
              <a:t>Platform control is supported by auditability</a:t>
            </a:r>
            <a:endParaRPr lang="en-US" sz="1050" dirty="0"/>
          </a:p>
        </p:txBody>
      </p:sp>
      <p:sp>
        <p:nvSpPr>
          <p:cNvPr id="7" name="Shape 5"/>
          <p:cNvSpPr/>
          <p:nvPr/>
        </p:nvSpPr>
        <p:spPr>
          <a:xfrm>
            <a:off x="502920" y="1170432"/>
            <a:ext cx="11155680" cy="0"/>
          </a:xfrm>
          <a:prstGeom prst="line">
            <a:avLst/>
          </a:prstGeom>
          <a:noFill/>
          <a:ln w="12700">
            <a:solidFill>
              <a:srgbClr val="D9E2EF"/>
            </a:solidFill>
            <a:prstDash val="solid"/>
          </a:ln>
        </p:spPr>
        <p:txBody>
          <a:bodyPr/>
          <a:lstStyle/>
          <a:p>
            <a:endParaRPr lang="en-US"/>
          </a:p>
        </p:txBody>
      </p:sp>
      <p:sp>
        <p:nvSpPr>
          <p:cNvPr id="8" name="Shape 6"/>
          <p:cNvSpPr/>
          <p:nvPr/>
        </p:nvSpPr>
        <p:spPr>
          <a:xfrm>
            <a:off x="603504" y="1362456"/>
            <a:ext cx="5641848" cy="2907792"/>
          </a:xfrm>
          <a:prstGeom prst="roundRect">
            <a:avLst>
              <a:gd name="adj" fmla="val 1887"/>
            </a:avLst>
          </a:prstGeom>
          <a:solidFill>
            <a:srgbClr val="F8FAFC"/>
          </a:solidFill>
          <a:ln w="12700">
            <a:solidFill>
              <a:srgbClr val="D9E2EF"/>
            </a:solidFill>
            <a:prstDash val="solid"/>
          </a:ln>
          <a:effectLst>
            <a:outerShdw blurRad="12700" dist="50800" dir="2700000" algn="bl" rotWithShape="0">
              <a:srgbClr val="A8B7C8">
                <a:alpha val="16000"/>
              </a:srgbClr>
            </a:outerShdw>
          </a:effectLst>
        </p:spPr>
        <p:txBody>
          <a:bodyPr/>
          <a:lstStyle/>
          <a:p>
            <a:endParaRPr lang="en-US"/>
          </a:p>
        </p:txBody>
      </p:sp>
      <p:pic>
        <p:nvPicPr>
          <p:cNvPr id="9" name="Image 0" descr="c:\Users\danso\Documents\personal projects\e_learning\Project Report\presentation-assets\image10.png"/>
          <p:cNvPicPr>
            <a:picLocks noChangeAspect="1"/>
          </p:cNvPicPr>
          <p:nvPr/>
        </p:nvPicPr>
        <p:blipFill>
          <a:blip r:embed="rId3"/>
          <a:stretch>
            <a:fillRect/>
          </a:stretch>
        </p:blipFill>
        <p:spPr>
          <a:xfrm>
            <a:off x="658368" y="1417320"/>
            <a:ext cx="5532120" cy="2798064"/>
          </a:xfrm>
          <a:prstGeom prst="rect">
            <a:avLst/>
          </a:prstGeom>
        </p:spPr>
      </p:pic>
      <p:sp>
        <p:nvSpPr>
          <p:cNvPr id="10" name="Text 7"/>
          <p:cNvSpPr/>
          <p:nvPr/>
        </p:nvSpPr>
        <p:spPr>
          <a:xfrm>
            <a:off x="658368" y="4325112"/>
            <a:ext cx="5532120" cy="201168"/>
          </a:xfrm>
          <a:prstGeom prst="rect">
            <a:avLst/>
          </a:prstGeom>
          <a:noFill/>
          <a:ln/>
        </p:spPr>
        <p:txBody>
          <a:bodyPr wrap="square" lIns="0" tIns="0" rIns="0" bIns="0" rtlCol="0" anchor="ctr"/>
          <a:lstStyle/>
          <a:p>
            <a:pPr marL="0" indent="0" algn="ctr">
              <a:buNone/>
            </a:pPr>
            <a:r>
              <a:rPr lang="en-US" sz="900" dirty="0">
                <a:solidFill>
                  <a:srgbClr val="5A6675"/>
                </a:solidFill>
                <a:latin typeface="Aptos" pitchFamily="34" charset="0"/>
                <a:ea typeface="Aptos" pitchFamily="34" charset="-122"/>
                <a:cs typeface="Aptos" pitchFamily="34" charset="-120"/>
              </a:rPr>
              <a:t>Admin command centre: users, courses, revenue, reviews</a:t>
            </a:r>
            <a:endParaRPr lang="en-US" sz="900" dirty="0"/>
          </a:p>
        </p:txBody>
      </p:sp>
      <p:sp>
        <p:nvSpPr>
          <p:cNvPr id="11" name="Shape 8"/>
          <p:cNvSpPr/>
          <p:nvPr/>
        </p:nvSpPr>
        <p:spPr>
          <a:xfrm>
            <a:off x="6437376" y="1362456"/>
            <a:ext cx="5093208" cy="2633472"/>
          </a:xfrm>
          <a:prstGeom prst="roundRect">
            <a:avLst>
              <a:gd name="adj" fmla="val 2083"/>
            </a:avLst>
          </a:prstGeom>
          <a:solidFill>
            <a:srgbClr val="F8FAFC"/>
          </a:solidFill>
          <a:ln w="12700">
            <a:solidFill>
              <a:srgbClr val="D9E2EF"/>
            </a:solidFill>
            <a:prstDash val="solid"/>
          </a:ln>
          <a:effectLst>
            <a:outerShdw blurRad="12700" dist="50800" dir="2700000" algn="bl" rotWithShape="0">
              <a:srgbClr val="A8B7C8">
                <a:alpha val="16000"/>
              </a:srgbClr>
            </a:outerShdw>
          </a:effectLst>
        </p:spPr>
        <p:txBody>
          <a:bodyPr/>
          <a:lstStyle/>
          <a:p>
            <a:endParaRPr lang="en-US"/>
          </a:p>
        </p:txBody>
      </p:sp>
      <p:pic>
        <p:nvPicPr>
          <p:cNvPr id="12" name="Image 1" descr="c:\Users\danso\Documents\personal projects\e_learning\Project Report\presentation-assets\image11.png"/>
          <p:cNvPicPr>
            <a:picLocks noChangeAspect="1"/>
          </p:cNvPicPr>
          <p:nvPr/>
        </p:nvPicPr>
        <p:blipFill>
          <a:blip r:embed="rId4"/>
          <a:stretch>
            <a:fillRect/>
          </a:stretch>
        </p:blipFill>
        <p:spPr>
          <a:xfrm>
            <a:off x="6492240" y="1417320"/>
            <a:ext cx="4983480" cy="2523744"/>
          </a:xfrm>
          <a:prstGeom prst="rect">
            <a:avLst/>
          </a:prstGeom>
        </p:spPr>
      </p:pic>
      <p:sp>
        <p:nvSpPr>
          <p:cNvPr id="13" name="Text 9"/>
          <p:cNvSpPr/>
          <p:nvPr/>
        </p:nvSpPr>
        <p:spPr>
          <a:xfrm>
            <a:off x="6492240" y="4050792"/>
            <a:ext cx="4983480" cy="201168"/>
          </a:xfrm>
          <a:prstGeom prst="rect">
            <a:avLst/>
          </a:prstGeom>
          <a:noFill/>
          <a:ln/>
        </p:spPr>
        <p:txBody>
          <a:bodyPr wrap="square" lIns="0" tIns="0" rIns="0" bIns="0" rtlCol="0" anchor="ctr"/>
          <a:lstStyle/>
          <a:p>
            <a:pPr marL="0" indent="0" algn="ctr">
              <a:buNone/>
            </a:pPr>
            <a:r>
              <a:rPr lang="en-US" sz="900" dirty="0">
                <a:solidFill>
                  <a:srgbClr val="5A6675"/>
                </a:solidFill>
                <a:latin typeface="Aptos" pitchFamily="34" charset="0"/>
                <a:ea typeface="Aptos" pitchFamily="34" charset="-122"/>
                <a:cs typeface="Aptos" pitchFamily="34" charset="-120"/>
              </a:rPr>
              <a:t>Audit log: searchable record of sensitive actions</a:t>
            </a:r>
            <a:endParaRPr lang="en-US" sz="900" dirty="0"/>
          </a:p>
        </p:txBody>
      </p:sp>
      <p:sp>
        <p:nvSpPr>
          <p:cNvPr id="14" name="Text 10"/>
          <p:cNvSpPr/>
          <p:nvPr/>
        </p:nvSpPr>
        <p:spPr>
          <a:xfrm>
            <a:off x="914400" y="4800600"/>
            <a:ext cx="10332720" cy="1051560"/>
          </a:xfrm>
          <a:prstGeom prst="rect">
            <a:avLst/>
          </a:prstGeom>
          <a:noFill/>
          <a:ln/>
        </p:spPr>
        <p:txBody>
          <a:bodyPr wrap="square" lIns="508" tIns="508" rIns="508" bIns="508" rtlCol="0" anchor="t"/>
          <a:lstStyle/>
          <a:p>
            <a:pPr marL="228600" indent="-228600">
              <a:buSzPct val="100000"/>
              <a:buChar char="•"/>
            </a:pPr>
            <a:r>
              <a:rPr lang="en-US" sz="1450" dirty="0">
                <a:solidFill>
                  <a:srgbClr val="13233A"/>
                </a:solidFill>
                <a:latin typeface="Aptos" pitchFamily="34" charset="0"/>
                <a:ea typeface="Aptos" pitchFamily="34" charset="-122"/>
                <a:cs typeface="Aptos" pitchFamily="34" charset="-120"/>
              </a:rPr>
              <a:t>Manage users, instructors, courses, reviews, quizzes, announcements, withdrawals, and settings.</a:t>
            </a:r>
            <a:endParaRPr lang="en-US" sz="1450" dirty="0"/>
          </a:p>
          <a:p>
            <a:pPr marL="228600" indent="-228600">
              <a:buSzPct val="100000"/>
              <a:buChar char="•"/>
            </a:pPr>
            <a:r>
              <a:rPr lang="en-US" sz="1450" dirty="0">
                <a:solidFill>
                  <a:srgbClr val="13233A"/>
                </a:solidFill>
                <a:latin typeface="Aptos" pitchFamily="34" charset="0"/>
                <a:ea typeface="Aptos" pitchFamily="34" charset="-122"/>
                <a:cs typeface="Aptos" pitchFamily="34" charset="-120"/>
              </a:rPr>
              <a:t>Approve or reject applications and courses before they are visible to students.</a:t>
            </a:r>
            <a:endParaRPr lang="en-US" sz="1450" dirty="0"/>
          </a:p>
          <a:p>
            <a:pPr marL="228600" indent="-228600">
              <a:buSzPct val="100000"/>
              <a:buChar char="•"/>
            </a:pPr>
            <a:r>
              <a:rPr lang="en-US" sz="1450" dirty="0">
                <a:solidFill>
                  <a:srgbClr val="13233A"/>
                </a:solidFill>
                <a:latin typeface="Aptos" pitchFamily="34" charset="0"/>
                <a:ea typeface="Aptos" pitchFamily="34" charset="-122"/>
                <a:cs typeface="Aptos" pitchFamily="34" charset="-120"/>
              </a:rPr>
              <a:t>Use audit records to investigate actions such as logins, withdrawals, and administrative changes.</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964DA"/>
          </a:solidFill>
          <a:ln w="12700">
            <a:solidFill>
              <a:srgbClr val="0964DA"/>
            </a:solidFill>
            <a:prstDash val="solid"/>
          </a:ln>
        </p:spPr>
        <p:txBody>
          <a:bodyPr/>
          <a:lstStyle/>
          <a:p>
            <a:endParaRPr lang="en-US"/>
          </a:p>
        </p:txBody>
      </p:sp>
      <p:sp>
        <p:nvSpPr>
          <p:cNvPr id="3" name="Text 1"/>
          <p:cNvSpPr/>
          <p:nvPr/>
        </p:nvSpPr>
        <p:spPr>
          <a:xfrm>
            <a:off x="411480" y="6510528"/>
            <a:ext cx="5120640" cy="164592"/>
          </a:xfrm>
          <a:prstGeom prst="rect">
            <a:avLst/>
          </a:prstGeom>
          <a:noFill/>
          <a:ln/>
        </p:spPr>
        <p:txBody>
          <a:bodyPr wrap="square" lIns="0" tIns="0" rIns="0" bIns="0" rtlCol="0" anchor="ctr"/>
          <a:lstStyle/>
          <a:p>
            <a:pPr marL="0" indent="0">
              <a:buNone/>
            </a:pPr>
            <a:r>
              <a:rPr lang="en-US" sz="750" dirty="0">
                <a:solidFill>
                  <a:srgbClr val="5A6675"/>
                </a:solidFill>
                <a:latin typeface="Aptos" pitchFamily="34" charset="0"/>
                <a:ea typeface="Aptos" pitchFamily="34" charset="-122"/>
                <a:cs typeface="Aptos" pitchFamily="34" charset="-120"/>
              </a:rPr>
              <a:t>E-Learning Platform Project Defence</a:t>
            </a:r>
            <a:endParaRPr lang="en-US" sz="750" dirty="0"/>
          </a:p>
        </p:txBody>
      </p:sp>
      <p:sp>
        <p:nvSpPr>
          <p:cNvPr id="4" name="Text 2"/>
          <p:cNvSpPr/>
          <p:nvPr/>
        </p:nvSpPr>
        <p:spPr>
          <a:xfrm>
            <a:off x="11384280" y="6492240"/>
            <a:ext cx="365760" cy="164592"/>
          </a:xfrm>
          <a:prstGeom prst="rect">
            <a:avLst/>
          </a:prstGeom>
          <a:noFill/>
          <a:ln/>
        </p:spPr>
        <p:txBody>
          <a:bodyPr wrap="square" lIns="0" tIns="0" rIns="0" bIns="0" rtlCol="0" anchor="ctr"/>
          <a:lstStyle/>
          <a:p>
            <a:pPr marL="0" indent="0" algn="r">
              <a:buNone/>
            </a:pPr>
            <a:r>
              <a:rPr lang="en-US" sz="800" dirty="0">
                <a:solidFill>
                  <a:srgbClr val="5A6675"/>
                </a:solidFill>
                <a:latin typeface="Aptos" pitchFamily="34" charset="0"/>
                <a:ea typeface="Aptos" pitchFamily="34" charset="-122"/>
                <a:cs typeface="Aptos" pitchFamily="34" charset="-120"/>
              </a:rPr>
              <a:t>13</a:t>
            </a:r>
            <a:endParaRPr lang="en-US" sz="800" dirty="0"/>
          </a:p>
        </p:txBody>
      </p:sp>
      <p:sp>
        <p:nvSpPr>
          <p:cNvPr id="5" name="Text 3"/>
          <p:cNvSpPr/>
          <p:nvPr/>
        </p:nvSpPr>
        <p:spPr>
          <a:xfrm>
            <a:off x="502920" y="411480"/>
            <a:ext cx="11064240" cy="411480"/>
          </a:xfrm>
          <a:prstGeom prst="rect">
            <a:avLst/>
          </a:prstGeom>
          <a:noFill/>
          <a:ln/>
        </p:spPr>
        <p:txBody>
          <a:bodyPr wrap="square" lIns="0" tIns="0" rIns="0" bIns="0" rtlCol="0" anchor="ctr"/>
          <a:lstStyle/>
          <a:p>
            <a:pPr marL="0" indent="0">
              <a:buNone/>
            </a:pPr>
            <a:r>
              <a:rPr lang="en-US" sz="2500" b="1" dirty="0">
                <a:solidFill>
                  <a:srgbClr val="082E67"/>
                </a:solidFill>
                <a:latin typeface="Aptos Display" pitchFamily="34" charset="0"/>
                <a:ea typeface="Aptos Display" pitchFamily="34" charset="-122"/>
                <a:cs typeface="Aptos Display" pitchFamily="34" charset="-120"/>
              </a:rPr>
              <a:t>Testing and Evaluation</a:t>
            </a:r>
            <a:endParaRPr lang="en-US" sz="2500" dirty="0"/>
          </a:p>
        </p:txBody>
      </p:sp>
      <p:sp>
        <p:nvSpPr>
          <p:cNvPr id="6" name="Text 4"/>
          <p:cNvSpPr/>
          <p:nvPr/>
        </p:nvSpPr>
        <p:spPr>
          <a:xfrm>
            <a:off x="530352" y="868680"/>
            <a:ext cx="10789920" cy="228600"/>
          </a:xfrm>
          <a:prstGeom prst="rect">
            <a:avLst/>
          </a:prstGeom>
          <a:noFill/>
          <a:ln/>
        </p:spPr>
        <p:txBody>
          <a:bodyPr wrap="square" lIns="0" tIns="0" rIns="0" bIns="0" rtlCol="0" anchor="ctr"/>
          <a:lstStyle/>
          <a:p>
            <a:pPr marL="0" indent="0">
              <a:buNone/>
            </a:pPr>
            <a:r>
              <a:rPr lang="en-US" sz="1050" dirty="0">
                <a:solidFill>
                  <a:srgbClr val="5A6675"/>
                </a:solidFill>
                <a:latin typeface="Aptos" pitchFamily="34" charset="0"/>
                <a:ea typeface="Aptos" pitchFamily="34" charset="-122"/>
                <a:cs typeface="Aptos" pitchFamily="34" charset="-120"/>
              </a:rPr>
              <a:t>Functional, integration, and user-acceptance tests</a:t>
            </a:r>
            <a:endParaRPr lang="en-US" sz="1050" dirty="0"/>
          </a:p>
        </p:txBody>
      </p:sp>
      <p:sp>
        <p:nvSpPr>
          <p:cNvPr id="7" name="Shape 5"/>
          <p:cNvSpPr/>
          <p:nvPr/>
        </p:nvSpPr>
        <p:spPr>
          <a:xfrm>
            <a:off x="502920" y="1170432"/>
            <a:ext cx="11155680" cy="0"/>
          </a:xfrm>
          <a:prstGeom prst="line">
            <a:avLst/>
          </a:prstGeom>
          <a:noFill/>
          <a:ln w="12700">
            <a:solidFill>
              <a:srgbClr val="D9E2EF"/>
            </a:solidFill>
            <a:prstDash val="solid"/>
          </a:ln>
        </p:spPr>
        <p:txBody>
          <a:bodyPr/>
          <a:lstStyle/>
          <a:p>
            <a:endParaRPr lang="en-US"/>
          </a:p>
        </p:txBody>
      </p:sp>
      <p:sp>
        <p:nvSpPr>
          <p:cNvPr id="8" name="Shape 6"/>
          <p:cNvSpPr/>
          <p:nvPr/>
        </p:nvSpPr>
        <p:spPr>
          <a:xfrm>
            <a:off x="731520" y="1508760"/>
            <a:ext cx="3246120" cy="1234440"/>
          </a:xfrm>
          <a:prstGeom prst="roundRect">
            <a:avLst>
              <a:gd name="adj" fmla="val 5926"/>
            </a:avLst>
          </a:prstGeom>
          <a:solidFill>
            <a:srgbClr val="F8FAFC"/>
          </a:solidFill>
          <a:ln w="12700">
            <a:solidFill>
              <a:srgbClr val="D9E2EF"/>
            </a:solidFill>
            <a:prstDash val="solid"/>
          </a:ln>
        </p:spPr>
        <p:txBody>
          <a:bodyPr/>
          <a:lstStyle/>
          <a:p>
            <a:endParaRPr lang="en-US"/>
          </a:p>
        </p:txBody>
      </p:sp>
      <p:sp>
        <p:nvSpPr>
          <p:cNvPr id="9" name="Text 7"/>
          <p:cNvSpPr/>
          <p:nvPr/>
        </p:nvSpPr>
        <p:spPr>
          <a:xfrm>
            <a:off x="896112" y="1737360"/>
            <a:ext cx="1005840" cy="384048"/>
          </a:xfrm>
          <a:prstGeom prst="rect">
            <a:avLst/>
          </a:prstGeom>
          <a:noFill/>
          <a:ln/>
        </p:spPr>
        <p:txBody>
          <a:bodyPr wrap="square" lIns="0" tIns="0" rIns="0" bIns="0" rtlCol="0" anchor="ctr"/>
          <a:lstStyle/>
          <a:p>
            <a:pPr marL="0" indent="0" algn="ctr">
              <a:buNone/>
            </a:pPr>
            <a:r>
              <a:rPr lang="en-US" sz="2600" b="1" dirty="0">
                <a:solidFill>
                  <a:srgbClr val="0964DA"/>
                </a:solidFill>
              </a:rPr>
              <a:t>22</a:t>
            </a:r>
            <a:endParaRPr lang="en-US" sz="2600" dirty="0"/>
          </a:p>
        </p:txBody>
      </p:sp>
      <p:sp>
        <p:nvSpPr>
          <p:cNvPr id="10" name="Text 8"/>
          <p:cNvSpPr/>
          <p:nvPr/>
        </p:nvSpPr>
        <p:spPr>
          <a:xfrm>
            <a:off x="1965960" y="1920240"/>
            <a:ext cx="1691640" cy="182880"/>
          </a:xfrm>
          <a:prstGeom prst="rect">
            <a:avLst/>
          </a:prstGeom>
          <a:noFill/>
          <a:ln/>
        </p:spPr>
        <p:txBody>
          <a:bodyPr wrap="square" lIns="0" tIns="0" rIns="0" bIns="0" rtlCol="0" anchor="ctr"/>
          <a:lstStyle/>
          <a:p>
            <a:pPr marL="0" indent="0" algn="ctr">
              <a:buNone/>
            </a:pPr>
            <a:r>
              <a:rPr lang="en-US" sz="1250" dirty="0">
                <a:solidFill>
                  <a:srgbClr val="13233A"/>
                </a:solidFill>
              </a:rPr>
              <a:t>mapped test cases</a:t>
            </a:r>
            <a:endParaRPr lang="en-US" sz="1250" dirty="0"/>
          </a:p>
        </p:txBody>
      </p:sp>
      <p:sp>
        <p:nvSpPr>
          <p:cNvPr id="11" name="Shape 9"/>
          <p:cNvSpPr/>
          <p:nvPr/>
        </p:nvSpPr>
        <p:spPr>
          <a:xfrm>
            <a:off x="4526280" y="1508760"/>
            <a:ext cx="3246120" cy="1234440"/>
          </a:xfrm>
          <a:prstGeom prst="roundRect">
            <a:avLst>
              <a:gd name="adj" fmla="val 5926"/>
            </a:avLst>
          </a:prstGeom>
          <a:solidFill>
            <a:srgbClr val="F8FAFC"/>
          </a:solidFill>
          <a:ln w="12700">
            <a:solidFill>
              <a:srgbClr val="D9E2EF"/>
            </a:solidFill>
            <a:prstDash val="solid"/>
          </a:ln>
        </p:spPr>
        <p:txBody>
          <a:bodyPr/>
          <a:lstStyle/>
          <a:p>
            <a:endParaRPr lang="en-US"/>
          </a:p>
        </p:txBody>
      </p:sp>
      <p:sp>
        <p:nvSpPr>
          <p:cNvPr id="12" name="Text 10"/>
          <p:cNvSpPr/>
          <p:nvPr/>
        </p:nvSpPr>
        <p:spPr>
          <a:xfrm>
            <a:off x="4690872" y="1737360"/>
            <a:ext cx="1005840" cy="384048"/>
          </a:xfrm>
          <a:prstGeom prst="rect">
            <a:avLst/>
          </a:prstGeom>
          <a:noFill/>
          <a:ln/>
        </p:spPr>
        <p:txBody>
          <a:bodyPr wrap="square" lIns="0" tIns="0" rIns="0" bIns="0" rtlCol="0" anchor="ctr"/>
          <a:lstStyle/>
          <a:p>
            <a:pPr marL="0" indent="0" algn="ctr">
              <a:buNone/>
            </a:pPr>
            <a:r>
              <a:rPr lang="en-US" sz="2600" b="1" dirty="0">
                <a:solidFill>
                  <a:srgbClr val="0E9F6E"/>
                </a:solidFill>
              </a:rPr>
              <a:t>3</a:t>
            </a:r>
            <a:endParaRPr lang="en-US" sz="2600" dirty="0"/>
          </a:p>
        </p:txBody>
      </p:sp>
      <p:sp>
        <p:nvSpPr>
          <p:cNvPr id="13" name="Text 11"/>
          <p:cNvSpPr/>
          <p:nvPr/>
        </p:nvSpPr>
        <p:spPr>
          <a:xfrm>
            <a:off x="5760720" y="1920240"/>
            <a:ext cx="1691640" cy="182880"/>
          </a:xfrm>
          <a:prstGeom prst="rect">
            <a:avLst/>
          </a:prstGeom>
          <a:noFill/>
          <a:ln/>
        </p:spPr>
        <p:txBody>
          <a:bodyPr wrap="square" lIns="0" tIns="0" rIns="0" bIns="0" rtlCol="0" anchor="ctr"/>
          <a:lstStyle/>
          <a:p>
            <a:pPr marL="0" indent="0" algn="ctr">
              <a:buNone/>
            </a:pPr>
            <a:r>
              <a:rPr lang="en-US" sz="1250" dirty="0">
                <a:solidFill>
                  <a:srgbClr val="13233A"/>
                </a:solidFill>
              </a:rPr>
              <a:t>testing levels</a:t>
            </a:r>
            <a:endParaRPr lang="en-US" sz="1250" dirty="0"/>
          </a:p>
        </p:txBody>
      </p:sp>
      <p:sp>
        <p:nvSpPr>
          <p:cNvPr id="14" name="Shape 12"/>
          <p:cNvSpPr/>
          <p:nvPr/>
        </p:nvSpPr>
        <p:spPr>
          <a:xfrm>
            <a:off x="8321040" y="1508760"/>
            <a:ext cx="3246120" cy="1234440"/>
          </a:xfrm>
          <a:prstGeom prst="roundRect">
            <a:avLst>
              <a:gd name="adj" fmla="val 5926"/>
            </a:avLst>
          </a:prstGeom>
          <a:solidFill>
            <a:srgbClr val="F8FAFC"/>
          </a:solidFill>
          <a:ln w="12700">
            <a:solidFill>
              <a:srgbClr val="D9E2EF"/>
            </a:solidFill>
            <a:prstDash val="solid"/>
          </a:ln>
        </p:spPr>
        <p:txBody>
          <a:bodyPr/>
          <a:lstStyle/>
          <a:p>
            <a:endParaRPr lang="en-US"/>
          </a:p>
        </p:txBody>
      </p:sp>
      <p:sp>
        <p:nvSpPr>
          <p:cNvPr id="15" name="Text 13"/>
          <p:cNvSpPr/>
          <p:nvPr/>
        </p:nvSpPr>
        <p:spPr>
          <a:xfrm>
            <a:off x="8485632" y="1737360"/>
            <a:ext cx="1005840" cy="384048"/>
          </a:xfrm>
          <a:prstGeom prst="rect">
            <a:avLst/>
          </a:prstGeom>
          <a:noFill/>
          <a:ln/>
        </p:spPr>
        <p:txBody>
          <a:bodyPr wrap="square" lIns="0" tIns="0" rIns="0" bIns="0" rtlCol="0" anchor="ctr"/>
          <a:lstStyle/>
          <a:p>
            <a:pPr marL="0" indent="0" algn="ctr">
              <a:buNone/>
            </a:pPr>
            <a:r>
              <a:rPr lang="en-US" sz="2600" b="1" dirty="0">
                <a:solidFill>
                  <a:srgbClr val="F59E0B"/>
                </a:solidFill>
              </a:rPr>
              <a:t>100%</a:t>
            </a:r>
            <a:endParaRPr lang="en-US" sz="2600" dirty="0"/>
          </a:p>
        </p:txBody>
      </p:sp>
      <p:sp>
        <p:nvSpPr>
          <p:cNvPr id="16" name="Text 14"/>
          <p:cNvSpPr/>
          <p:nvPr/>
        </p:nvSpPr>
        <p:spPr>
          <a:xfrm>
            <a:off x="9555480" y="1920240"/>
            <a:ext cx="1691640" cy="182880"/>
          </a:xfrm>
          <a:prstGeom prst="rect">
            <a:avLst/>
          </a:prstGeom>
          <a:noFill/>
          <a:ln/>
        </p:spPr>
        <p:txBody>
          <a:bodyPr wrap="square" lIns="0" tIns="0" rIns="0" bIns="0" rtlCol="0" anchor="ctr"/>
          <a:lstStyle/>
          <a:p>
            <a:pPr marL="0" indent="0" algn="ctr">
              <a:buNone/>
            </a:pPr>
            <a:r>
              <a:rPr lang="en-US" sz="1250" dirty="0">
                <a:solidFill>
                  <a:srgbClr val="13233A"/>
                </a:solidFill>
              </a:rPr>
              <a:t>listed cases passed</a:t>
            </a:r>
            <a:endParaRPr lang="en-US" sz="12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31520" y="3154680"/>
          <a:ext cx="10744200" cy="2240280"/>
        </p:xfrm>
        <a:graphic>
          <a:graphicData uri="http://schemas.openxmlformats.org/drawingml/2006/table">
            <a:tbl>
              <a:tblPr/>
              <a:tblGrid>
                <a:gridCol w="182880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tblGrid>
              <a:tr h="320040">
                <a:tc>
                  <a:txBody>
                    <a:bodyPr/>
                    <a:lstStyle/>
                    <a:p>
                      <a:pPr marL="0" indent="0" algn="ctr">
                        <a:buNone/>
                      </a:pPr>
                      <a:r>
                        <a:rPr lang="en-US" sz="1100" b="1" dirty="0">
                          <a:solidFill>
                            <a:srgbClr val="FFFFFF"/>
                          </a:solidFill>
                          <a:latin typeface="Aptos" pitchFamily="34" charset="0"/>
                          <a:ea typeface="Aptos" pitchFamily="34" charset="-122"/>
                          <a:cs typeface="Aptos" pitchFamily="34" charset="-120"/>
                        </a:rPr>
                        <a:t>Area</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082E67"/>
                    </a:solidFill>
                  </a:tcPr>
                </a:tc>
                <a:tc>
                  <a:txBody>
                    <a:bodyPr/>
                    <a:lstStyle/>
                    <a:p>
                      <a:pPr marL="0" indent="0" algn="ctr">
                        <a:buNone/>
                      </a:pPr>
                      <a:r>
                        <a:rPr lang="en-US" sz="1100" b="1" dirty="0">
                          <a:solidFill>
                            <a:srgbClr val="FFFFFF"/>
                          </a:solidFill>
                          <a:latin typeface="Aptos" pitchFamily="34" charset="0"/>
                          <a:ea typeface="Aptos" pitchFamily="34" charset="-122"/>
                          <a:cs typeface="Aptos" pitchFamily="34" charset="-120"/>
                        </a:rPr>
                        <a:t>Example verified</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082E67"/>
                    </a:solidFill>
                  </a:tcPr>
                </a:tc>
                <a:tc>
                  <a:txBody>
                    <a:bodyPr/>
                    <a:lstStyle/>
                    <a:p>
                      <a:pPr marL="0" indent="0" algn="ctr">
                        <a:buNone/>
                      </a:pPr>
                      <a:r>
                        <a:rPr lang="en-US" sz="1100" b="1" dirty="0">
                          <a:solidFill>
                            <a:srgbClr val="FFFFFF"/>
                          </a:solidFill>
                          <a:latin typeface="Aptos" pitchFamily="34" charset="0"/>
                          <a:ea typeface="Aptos" pitchFamily="34" charset="-122"/>
                          <a:cs typeface="Aptos" pitchFamily="34" charset="-120"/>
                        </a:rPr>
                        <a:t>Result</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082E67"/>
                    </a:solidFill>
                  </a:tcPr>
                </a:tc>
                <a:extLst>
                  <a:ext uri="{0D108BD9-81ED-4DB2-BD59-A6C34878D82A}">
                    <a16:rowId xmlns:a16="http://schemas.microsoft.com/office/drawing/2014/main" val="10000"/>
                  </a:ext>
                </a:extLst>
              </a:tr>
              <a:tr h="320040">
                <a:tc>
                  <a:txBody>
                    <a:bodyPr/>
                    <a:lstStyle/>
                    <a:p>
                      <a:pPr marL="0" indent="0" algn="l">
                        <a:buNone/>
                      </a:pPr>
                      <a:r>
                        <a:rPr lang="en-US" sz="1100" dirty="0">
                          <a:solidFill>
                            <a:srgbClr val="13233A"/>
                          </a:solidFill>
                          <a:latin typeface="Aptos" pitchFamily="34" charset="0"/>
                          <a:ea typeface="Aptos" pitchFamily="34" charset="-122"/>
                          <a:cs typeface="Aptos" pitchFamily="34" charset="-120"/>
                        </a:rPr>
                        <a:t>Authentication</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3233A"/>
                          </a:solidFill>
                          <a:latin typeface="Aptos" pitchFamily="34" charset="0"/>
                          <a:ea typeface="Aptos" pitchFamily="34" charset="-122"/>
                          <a:cs typeface="Aptos" pitchFamily="34" charset="-120"/>
                        </a:rPr>
                        <a:t>Weak password, suspended account, user-code login</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E9F6E"/>
                          </a:solidFill>
                          <a:latin typeface="Aptos" pitchFamily="34" charset="0"/>
                          <a:ea typeface="Aptos" pitchFamily="34" charset="-122"/>
                          <a:cs typeface="Aptos" pitchFamily="34" charset="-120"/>
                        </a:rPr>
                        <a:t>Passed</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lang="en-US" sz="1100" dirty="0">
                          <a:solidFill>
                            <a:srgbClr val="13233A"/>
                          </a:solidFill>
                          <a:latin typeface="Aptos" pitchFamily="34" charset="0"/>
                          <a:ea typeface="Aptos" pitchFamily="34" charset="-122"/>
                          <a:cs typeface="Aptos" pitchFamily="34" charset="-120"/>
                        </a:rPr>
                        <a:t>Course workflow</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3233A"/>
                          </a:solidFill>
                          <a:latin typeface="Aptos" pitchFamily="34" charset="0"/>
                          <a:ea typeface="Aptos" pitchFamily="34" charset="-122"/>
                          <a:cs typeface="Aptos" pitchFamily="34" charset="-120"/>
                        </a:rPr>
                        <a:t>Draft → pending → approved → published</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E9F6E"/>
                          </a:solidFill>
                          <a:latin typeface="Aptos" pitchFamily="34" charset="0"/>
                          <a:ea typeface="Aptos" pitchFamily="34" charset="-122"/>
                          <a:cs typeface="Aptos" pitchFamily="34" charset="-120"/>
                        </a:rPr>
                        <a:t>Passed</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0040">
                <a:tc>
                  <a:txBody>
                    <a:bodyPr/>
                    <a:lstStyle/>
                    <a:p>
                      <a:pPr marL="0" indent="0" algn="l">
                        <a:buNone/>
                      </a:pPr>
                      <a:r>
                        <a:rPr lang="en-US" sz="1100" dirty="0">
                          <a:solidFill>
                            <a:srgbClr val="13233A"/>
                          </a:solidFill>
                          <a:latin typeface="Aptos" pitchFamily="34" charset="0"/>
                          <a:ea typeface="Aptos" pitchFamily="34" charset="-122"/>
                          <a:cs typeface="Aptos" pitchFamily="34" charset="-120"/>
                        </a:rPr>
                        <a:t>Payment</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3233A"/>
                          </a:solidFill>
                          <a:latin typeface="Aptos" pitchFamily="34" charset="0"/>
                          <a:ea typeface="Aptos" pitchFamily="34" charset="-122"/>
                          <a:cs typeface="Aptos" pitchFamily="34" charset="-120"/>
                        </a:rPr>
                        <a:t>Successful payment and duplicate-event handling</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E9F6E"/>
                          </a:solidFill>
                          <a:latin typeface="Aptos" pitchFamily="34" charset="0"/>
                          <a:ea typeface="Aptos" pitchFamily="34" charset="-122"/>
                          <a:cs typeface="Aptos" pitchFamily="34" charset="-120"/>
                        </a:rPr>
                        <a:t>Passed</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l">
                        <a:buNone/>
                      </a:pPr>
                      <a:r>
                        <a:rPr lang="en-US" sz="1100" dirty="0">
                          <a:solidFill>
                            <a:srgbClr val="13233A"/>
                          </a:solidFill>
                          <a:latin typeface="Aptos" pitchFamily="34" charset="0"/>
                          <a:ea typeface="Aptos" pitchFamily="34" charset="-122"/>
                          <a:cs typeface="Aptos" pitchFamily="34" charset="-120"/>
                        </a:rPr>
                        <a:t>Assessment</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3233A"/>
                          </a:solidFill>
                          <a:latin typeface="Aptos" pitchFamily="34" charset="0"/>
                          <a:ea typeface="Aptos" pitchFamily="34" charset="-122"/>
                          <a:cs typeface="Aptos" pitchFamily="34" charset="-120"/>
                        </a:rPr>
                        <a:t>Auto-grading, timer, forged token rejection</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E9F6E"/>
                          </a:solidFill>
                          <a:latin typeface="Aptos" pitchFamily="34" charset="0"/>
                          <a:ea typeface="Aptos" pitchFamily="34" charset="-122"/>
                          <a:cs typeface="Aptos" pitchFamily="34" charset="-120"/>
                        </a:rPr>
                        <a:t>Passed</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0040">
                <a:tc>
                  <a:txBody>
                    <a:bodyPr/>
                    <a:lstStyle/>
                    <a:p>
                      <a:pPr marL="0" indent="0" algn="l">
                        <a:buNone/>
                      </a:pPr>
                      <a:r>
                        <a:rPr lang="en-US" sz="1100" dirty="0">
                          <a:solidFill>
                            <a:srgbClr val="13233A"/>
                          </a:solidFill>
                          <a:latin typeface="Aptos" pitchFamily="34" charset="0"/>
                          <a:ea typeface="Aptos" pitchFamily="34" charset="-122"/>
                          <a:cs typeface="Aptos" pitchFamily="34" charset="-120"/>
                        </a:rPr>
                        <a:t>Access control</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3233A"/>
                          </a:solidFill>
                          <a:latin typeface="Aptos" pitchFamily="34" charset="0"/>
                          <a:ea typeface="Aptos" pitchFamily="34" charset="-122"/>
                          <a:cs typeface="Aptos" pitchFamily="34" charset="-120"/>
                        </a:rPr>
                        <a:t>Student attempts to open admin routes</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E9F6E"/>
                          </a:solidFill>
                          <a:latin typeface="Aptos" pitchFamily="34" charset="0"/>
                          <a:ea typeface="Aptos" pitchFamily="34" charset="-122"/>
                          <a:cs typeface="Aptos" pitchFamily="34" charset="-120"/>
                        </a:rPr>
                        <a:t>Passed</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lgn="l">
                        <a:buNone/>
                      </a:pPr>
                      <a:r>
                        <a:rPr lang="en-US" sz="1100" dirty="0">
                          <a:solidFill>
                            <a:srgbClr val="13233A"/>
                          </a:solidFill>
                          <a:latin typeface="Aptos" pitchFamily="34" charset="0"/>
                          <a:ea typeface="Aptos" pitchFamily="34" charset="-122"/>
                          <a:cs typeface="Aptos" pitchFamily="34" charset="-120"/>
                        </a:rPr>
                        <a:t>Governance</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3233A"/>
                          </a:solidFill>
                          <a:latin typeface="Aptos" pitchFamily="34" charset="0"/>
                          <a:ea typeface="Aptos" pitchFamily="34" charset="-122"/>
                          <a:cs typeface="Aptos" pitchFamily="34" charset="-120"/>
                        </a:rPr>
                        <a:t>Withdrawal limits and audit logging</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E9F6E"/>
                          </a:solidFill>
                          <a:latin typeface="Aptos" pitchFamily="34" charset="0"/>
                          <a:ea typeface="Aptos" pitchFamily="34" charset="-122"/>
                          <a:cs typeface="Aptos" pitchFamily="34" charset="-120"/>
                        </a:rPr>
                        <a:t>Passed</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964DA"/>
          </a:solidFill>
          <a:ln w="12700">
            <a:solidFill>
              <a:srgbClr val="0964DA"/>
            </a:solidFill>
            <a:prstDash val="solid"/>
          </a:ln>
        </p:spPr>
        <p:txBody>
          <a:bodyPr/>
          <a:lstStyle/>
          <a:p>
            <a:endParaRPr lang="en-US"/>
          </a:p>
        </p:txBody>
      </p:sp>
      <p:sp>
        <p:nvSpPr>
          <p:cNvPr id="3" name="Text 1"/>
          <p:cNvSpPr/>
          <p:nvPr/>
        </p:nvSpPr>
        <p:spPr>
          <a:xfrm>
            <a:off x="411480" y="6510528"/>
            <a:ext cx="5120640" cy="164592"/>
          </a:xfrm>
          <a:prstGeom prst="rect">
            <a:avLst/>
          </a:prstGeom>
          <a:noFill/>
          <a:ln/>
        </p:spPr>
        <p:txBody>
          <a:bodyPr wrap="square" lIns="0" tIns="0" rIns="0" bIns="0" rtlCol="0" anchor="ctr"/>
          <a:lstStyle/>
          <a:p>
            <a:pPr marL="0" indent="0">
              <a:buNone/>
            </a:pPr>
            <a:r>
              <a:rPr lang="en-US" sz="750" dirty="0">
                <a:solidFill>
                  <a:srgbClr val="5A6675"/>
                </a:solidFill>
                <a:latin typeface="Aptos" pitchFamily="34" charset="0"/>
                <a:ea typeface="Aptos" pitchFamily="34" charset="-122"/>
                <a:cs typeface="Aptos" pitchFamily="34" charset="-120"/>
              </a:rPr>
              <a:t>E-Learning Platform Project Defence</a:t>
            </a:r>
            <a:endParaRPr lang="en-US" sz="750" dirty="0"/>
          </a:p>
        </p:txBody>
      </p:sp>
      <p:sp>
        <p:nvSpPr>
          <p:cNvPr id="4" name="Text 2"/>
          <p:cNvSpPr/>
          <p:nvPr/>
        </p:nvSpPr>
        <p:spPr>
          <a:xfrm>
            <a:off x="11384280" y="6492240"/>
            <a:ext cx="365760" cy="164592"/>
          </a:xfrm>
          <a:prstGeom prst="rect">
            <a:avLst/>
          </a:prstGeom>
          <a:noFill/>
          <a:ln/>
        </p:spPr>
        <p:txBody>
          <a:bodyPr wrap="square" lIns="0" tIns="0" rIns="0" bIns="0" rtlCol="0" anchor="ctr"/>
          <a:lstStyle/>
          <a:p>
            <a:pPr marL="0" indent="0" algn="r">
              <a:buNone/>
            </a:pPr>
            <a:r>
              <a:rPr lang="en-US" sz="800" dirty="0">
                <a:solidFill>
                  <a:srgbClr val="5A6675"/>
                </a:solidFill>
                <a:latin typeface="Aptos" pitchFamily="34" charset="0"/>
                <a:ea typeface="Aptos" pitchFamily="34" charset="-122"/>
                <a:cs typeface="Aptos" pitchFamily="34" charset="-120"/>
              </a:rPr>
              <a:t>14</a:t>
            </a:r>
            <a:endParaRPr lang="en-US" sz="800" dirty="0"/>
          </a:p>
        </p:txBody>
      </p:sp>
      <p:sp>
        <p:nvSpPr>
          <p:cNvPr id="5" name="Text 3"/>
          <p:cNvSpPr/>
          <p:nvPr/>
        </p:nvSpPr>
        <p:spPr>
          <a:xfrm>
            <a:off x="502920" y="411480"/>
            <a:ext cx="11064240" cy="411480"/>
          </a:xfrm>
          <a:prstGeom prst="rect">
            <a:avLst/>
          </a:prstGeom>
          <a:noFill/>
          <a:ln/>
        </p:spPr>
        <p:txBody>
          <a:bodyPr wrap="square" lIns="0" tIns="0" rIns="0" bIns="0" rtlCol="0" anchor="ctr"/>
          <a:lstStyle/>
          <a:p>
            <a:pPr marL="0" indent="0">
              <a:buNone/>
            </a:pPr>
            <a:r>
              <a:rPr lang="en-US" sz="2500" b="1" dirty="0">
                <a:solidFill>
                  <a:srgbClr val="082E67"/>
                </a:solidFill>
                <a:latin typeface="Aptos Display" pitchFamily="34" charset="0"/>
                <a:ea typeface="Aptos Display" pitchFamily="34" charset="-122"/>
                <a:cs typeface="Aptos Display" pitchFamily="34" charset="-120"/>
              </a:rPr>
              <a:t>Conclusion and Future Work</a:t>
            </a:r>
            <a:endParaRPr lang="en-US" sz="2500" dirty="0"/>
          </a:p>
        </p:txBody>
      </p:sp>
      <p:sp>
        <p:nvSpPr>
          <p:cNvPr id="6" name="Text 4"/>
          <p:cNvSpPr/>
          <p:nvPr/>
        </p:nvSpPr>
        <p:spPr>
          <a:xfrm>
            <a:off x="530352" y="868680"/>
            <a:ext cx="10789920" cy="228600"/>
          </a:xfrm>
          <a:prstGeom prst="rect">
            <a:avLst/>
          </a:prstGeom>
          <a:noFill/>
          <a:ln/>
        </p:spPr>
        <p:txBody>
          <a:bodyPr wrap="square" lIns="0" tIns="0" rIns="0" bIns="0" rtlCol="0" anchor="ctr"/>
          <a:lstStyle/>
          <a:p>
            <a:pPr marL="0" indent="0">
              <a:buNone/>
            </a:pPr>
            <a:r>
              <a:rPr lang="en-US" sz="1050" dirty="0">
                <a:solidFill>
                  <a:srgbClr val="5A6675"/>
                </a:solidFill>
                <a:latin typeface="Aptos" pitchFamily="34" charset="0"/>
                <a:ea typeface="Aptos" pitchFamily="34" charset="-122"/>
                <a:cs typeface="Aptos" pitchFamily="34" charset="-120"/>
              </a:rPr>
              <a:t>What was achieved and what should happen next</a:t>
            </a:r>
            <a:endParaRPr lang="en-US" sz="1050" dirty="0"/>
          </a:p>
        </p:txBody>
      </p:sp>
      <p:sp>
        <p:nvSpPr>
          <p:cNvPr id="7" name="Shape 5"/>
          <p:cNvSpPr/>
          <p:nvPr/>
        </p:nvSpPr>
        <p:spPr>
          <a:xfrm>
            <a:off x="502920" y="1170432"/>
            <a:ext cx="11155680" cy="0"/>
          </a:xfrm>
          <a:prstGeom prst="line">
            <a:avLst/>
          </a:prstGeom>
          <a:noFill/>
          <a:ln w="12700">
            <a:solidFill>
              <a:srgbClr val="D9E2EF"/>
            </a:solidFill>
            <a:prstDash val="solid"/>
          </a:ln>
        </p:spPr>
        <p:txBody>
          <a:bodyPr/>
          <a:lstStyle/>
          <a:p>
            <a:endParaRPr lang="en-US"/>
          </a:p>
        </p:txBody>
      </p:sp>
      <p:sp>
        <p:nvSpPr>
          <p:cNvPr id="8" name="Shape 6"/>
          <p:cNvSpPr/>
          <p:nvPr/>
        </p:nvSpPr>
        <p:spPr>
          <a:xfrm>
            <a:off x="658368" y="1417320"/>
            <a:ext cx="5349240" cy="4480560"/>
          </a:xfrm>
          <a:prstGeom prst="roundRect">
            <a:avLst>
              <a:gd name="adj" fmla="val 1633"/>
            </a:avLst>
          </a:prstGeom>
          <a:solidFill>
            <a:srgbClr val="EAF2FF"/>
          </a:solidFill>
          <a:ln w="12700">
            <a:solidFill>
              <a:srgbClr val="C9DCF8"/>
            </a:solidFill>
            <a:prstDash val="solid"/>
          </a:ln>
        </p:spPr>
        <p:txBody>
          <a:bodyPr/>
          <a:lstStyle/>
          <a:p>
            <a:endParaRPr lang="en-US"/>
          </a:p>
        </p:txBody>
      </p:sp>
      <p:sp>
        <p:nvSpPr>
          <p:cNvPr id="9" name="Text 7"/>
          <p:cNvSpPr/>
          <p:nvPr/>
        </p:nvSpPr>
        <p:spPr>
          <a:xfrm>
            <a:off x="914400" y="1737360"/>
            <a:ext cx="4389120" cy="228600"/>
          </a:xfrm>
          <a:prstGeom prst="rect">
            <a:avLst/>
          </a:prstGeom>
          <a:noFill/>
          <a:ln/>
        </p:spPr>
        <p:txBody>
          <a:bodyPr wrap="square" lIns="0" tIns="0" rIns="0" bIns="0" rtlCol="0" anchor="ctr"/>
          <a:lstStyle/>
          <a:p>
            <a:pPr marL="0" indent="0">
              <a:buNone/>
            </a:pPr>
            <a:r>
              <a:rPr lang="en-US" sz="1800" b="1" dirty="0">
                <a:solidFill>
                  <a:srgbClr val="082E67"/>
                </a:solidFill>
              </a:rPr>
              <a:t>What the project achieved</a:t>
            </a:r>
            <a:endParaRPr lang="en-US" sz="1800" dirty="0"/>
          </a:p>
        </p:txBody>
      </p:sp>
      <p:sp>
        <p:nvSpPr>
          <p:cNvPr id="10" name="Text 8"/>
          <p:cNvSpPr/>
          <p:nvPr/>
        </p:nvSpPr>
        <p:spPr>
          <a:xfrm>
            <a:off x="914400" y="2148840"/>
            <a:ext cx="4434840" cy="2926080"/>
          </a:xfrm>
          <a:prstGeom prst="rect">
            <a:avLst/>
          </a:prstGeom>
          <a:noFill/>
          <a:ln/>
        </p:spPr>
        <p:txBody>
          <a:bodyPr wrap="square" lIns="508" tIns="508" rIns="508" bIns="508" rtlCol="0" anchor="t"/>
          <a:lstStyle/>
          <a:p>
            <a:pPr marL="228600" indent="-228600">
              <a:buSzPct val="100000"/>
              <a:buChar char="•"/>
            </a:pPr>
            <a:r>
              <a:rPr lang="en-US" sz="1500" dirty="0">
                <a:solidFill>
                  <a:srgbClr val="13233A"/>
                </a:solidFill>
                <a:latin typeface="Aptos" pitchFamily="34" charset="0"/>
                <a:ea typeface="Aptos" pitchFamily="34" charset="-122"/>
                <a:cs typeface="Aptos" pitchFamily="34" charset="-120"/>
              </a:rPr>
              <a:t>A working, multi-role e-learning marketplace.</a:t>
            </a:r>
            <a:endParaRPr lang="en-US" sz="1500" dirty="0"/>
          </a:p>
          <a:p>
            <a:pPr marL="228600" indent="-228600">
              <a:buSzPct val="100000"/>
              <a:buChar char="•"/>
            </a:pPr>
            <a:r>
              <a:rPr lang="en-US" sz="1500" dirty="0">
                <a:solidFill>
                  <a:srgbClr val="13233A"/>
                </a:solidFill>
                <a:latin typeface="Aptos" pitchFamily="34" charset="0"/>
                <a:ea typeface="Aptos" pitchFamily="34" charset="-122"/>
                <a:cs typeface="Aptos" pitchFamily="34" charset="-120"/>
              </a:rPr>
              <a:t>Controlled instructor and course approval.</a:t>
            </a:r>
            <a:endParaRPr lang="en-US" sz="1500" dirty="0"/>
          </a:p>
          <a:p>
            <a:pPr marL="228600" indent="-228600">
              <a:buSzPct val="100000"/>
              <a:buChar char="•"/>
            </a:pPr>
            <a:r>
              <a:rPr lang="en-US" sz="1500" dirty="0">
                <a:solidFill>
                  <a:srgbClr val="13233A"/>
                </a:solidFill>
                <a:latin typeface="Aptos" pitchFamily="34" charset="0"/>
                <a:ea typeface="Aptos" pitchFamily="34" charset="-122"/>
                <a:cs typeface="Aptos" pitchFamily="34" charset="-120"/>
              </a:rPr>
              <a:t>Free and paid enrolment with revenue sharing.</a:t>
            </a:r>
            <a:endParaRPr lang="en-US" sz="1500" dirty="0"/>
          </a:p>
          <a:p>
            <a:pPr marL="228600" indent="-228600">
              <a:buSzPct val="100000"/>
              <a:buChar char="•"/>
            </a:pPr>
            <a:r>
              <a:rPr lang="en-US" sz="1500" dirty="0">
                <a:solidFill>
                  <a:srgbClr val="13233A"/>
                </a:solidFill>
                <a:latin typeface="Aptos" pitchFamily="34" charset="0"/>
                <a:ea typeface="Aptos" pitchFamily="34" charset="-122"/>
                <a:cs typeface="Aptos" pitchFamily="34" charset="-120"/>
              </a:rPr>
              <a:t>Progress tracking and protected auto-graded quizzes.</a:t>
            </a:r>
            <a:endParaRPr lang="en-US" sz="1500" dirty="0"/>
          </a:p>
          <a:p>
            <a:pPr marL="228600" indent="-228600">
              <a:buSzPct val="100000"/>
              <a:buChar char="•"/>
            </a:pPr>
            <a:r>
              <a:rPr lang="en-US" sz="1500" dirty="0">
                <a:solidFill>
                  <a:srgbClr val="13233A"/>
                </a:solidFill>
                <a:latin typeface="Aptos" pitchFamily="34" charset="0"/>
                <a:ea typeface="Aptos" pitchFamily="34" charset="-122"/>
                <a:cs typeface="Aptos" pitchFamily="34" charset="-120"/>
              </a:rPr>
              <a:t>Security controls and accountable administration.</a:t>
            </a:r>
            <a:endParaRPr lang="en-US" sz="1500" dirty="0"/>
          </a:p>
        </p:txBody>
      </p:sp>
      <p:sp>
        <p:nvSpPr>
          <p:cNvPr id="11" name="Shape 9"/>
          <p:cNvSpPr/>
          <p:nvPr/>
        </p:nvSpPr>
        <p:spPr>
          <a:xfrm>
            <a:off x="6263640" y="1417320"/>
            <a:ext cx="5257800" cy="4480560"/>
          </a:xfrm>
          <a:prstGeom prst="roundRect">
            <a:avLst>
              <a:gd name="adj" fmla="val 1633"/>
            </a:avLst>
          </a:prstGeom>
          <a:solidFill>
            <a:srgbClr val="F8FAFC"/>
          </a:solidFill>
          <a:ln w="12700">
            <a:solidFill>
              <a:srgbClr val="D9E2EF"/>
            </a:solidFill>
            <a:prstDash val="solid"/>
          </a:ln>
        </p:spPr>
        <p:txBody>
          <a:bodyPr/>
          <a:lstStyle/>
          <a:p>
            <a:endParaRPr lang="en-US"/>
          </a:p>
        </p:txBody>
      </p:sp>
      <p:sp>
        <p:nvSpPr>
          <p:cNvPr id="12" name="Text 10"/>
          <p:cNvSpPr/>
          <p:nvPr/>
        </p:nvSpPr>
        <p:spPr>
          <a:xfrm>
            <a:off x="6537960" y="1737360"/>
            <a:ext cx="4206240" cy="228600"/>
          </a:xfrm>
          <a:prstGeom prst="rect">
            <a:avLst/>
          </a:prstGeom>
          <a:noFill/>
          <a:ln/>
        </p:spPr>
        <p:txBody>
          <a:bodyPr wrap="square" lIns="0" tIns="0" rIns="0" bIns="0" rtlCol="0" anchor="ctr"/>
          <a:lstStyle/>
          <a:p>
            <a:pPr marL="0" indent="0">
              <a:buNone/>
            </a:pPr>
            <a:r>
              <a:rPr lang="en-US" sz="1800" b="1" dirty="0">
                <a:solidFill>
                  <a:srgbClr val="082E67"/>
                </a:solidFill>
              </a:rPr>
              <a:t>Future work</a:t>
            </a:r>
            <a:endParaRPr lang="en-US" sz="1800" dirty="0"/>
          </a:p>
        </p:txBody>
      </p:sp>
      <p:sp>
        <p:nvSpPr>
          <p:cNvPr id="13" name="Text 11"/>
          <p:cNvSpPr/>
          <p:nvPr/>
        </p:nvSpPr>
        <p:spPr>
          <a:xfrm>
            <a:off x="6537960" y="2148840"/>
            <a:ext cx="4251960" cy="2560320"/>
          </a:xfrm>
          <a:prstGeom prst="rect">
            <a:avLst/>
          </a:prstGeom>
          <a:noFill/>
          <a:ln/>
        </p:spPr>
        <p:txBody>
          <a:bodyPr wrap="square" lIns="508" tIns="508" rIns="508" bIns="508" rtlCol="0" anchor="t"/>
          <a:lstStyle/>
          <a:p>
            <a:pPr marL="228600" indent="-228600">
              <a:buSzPct val="100000"/>
              <a:buChar char="•"/>
            </a:pPr>
            <a:r>
              <a:rPr lang="en-US" sz="1500" dirty="0">
                <a:solidFill>
                  <a:srgbClr val="13233A"/>
                </a:solidFill>
                <a:latin typeface="Aptos" pitchFamily="34" charset="0"/>
                <a:ea typeface="Aptos" pitchFamily="34" charset="-122"/>
                <a:cs typeface="Aptos" pitchFamily="34" charset="-120"/>
              </a:rPr>
              <a:t>Production payment rollout and reconciliation.</a:t>
            </a:r>
            <a:endParaRPr lang="en-US" sz="1500" dirty="0"/>
          </a:p>
          <a:p>
            <a:pPr marL="228600" indent="-228600">
              <a:buSzPct val="100000"/>
              <a:buChar char="•"/>
            </a:pPr>
            <a:r>
              <a:rPr lang="en-US" sz="1500" dirty="0">
                <a:solidFill>
                  <a:srgbClr val="13233A"/>
                </a:solidFill>
                <a:latin typeface="Aptos" pitchFamily="34" charset="0"/>
                <a:ea typeface="Aptos" pitchFamily="34" charset="-122"/>
                <a:cs typeface="Aptos" pitchFamily="34" charset="-120"/>
              </a:rPr>
              <a:t>Load testing with larger user volumes.</a:t>
            </a:r>
            <a:endParaRPr lang="en-US" sz="1500" dirty="0"/>
          </a:p>
          <a:p>
            <a:pPr marL="228600" indent="-228600">
              <a:buSzPct val="100000"/>
              <a:buChar char="•"/>
            </a:pPr>
            <a:r>
              <a:rPr lang="en-US" sz="1500" dirty="0">
                <a:solidFill>
                  <a:srgbClr val="13233A"/>
                </a:solidFill>
                <a:latin typeface="Aptos" pitchFamily="34" charset="0"/>
                <a:ea typeface="Aptos" pitchFamily="34" charset="-122"/>
                <a:cs typeface="Aptos" pitchFamily="34" charset="-120"/>
              </a:rPr>
              <a:t>Offline-friendly learning and a dedicated mobile app.</a:t>
            </a:r>
            <a:endParaRPr lang="en-US" sz="1500" dirty="0"/>
          </a:p>
          <a:p>
            <a:pPr marL="228600" indent="-228600">
              <a:buSzPct val="100000"/>
              <a:buChar char="•"/>
            </a:pPr>
            <a:r>
              <a:rPr lang="en-US" sz="1500" dirty="0">
                <a:solidFill>
                  <a:srgbClr val="13233A"/>
                </a:solidFill>
                <a:latin typeface="Aptos" pitchFamily="34" charset="0"/>
                <a:ea typeface="Aptos" pitchFamily="34" charset="-122"/>
                <a:cs typeface="Aptos" pitchFamily="34" charset="-120"/>
              </a:rPr>
              <a:t>Richer assessment, recommendations, and analytics.</a:t>
            </a:r>
            <a:endParaRPr lang="en-US" sz="1500" dirty="0"/>
          </a:p>
        </p:txBody>
      </p:sp>
      <p:sp>
        <p:nvSpPr>
          <p:cNvPr id="14" name="Text 12"/>
          <p:cNvSpPr/>
          <p:nvPr/>
        </p:nvSpPr>
        <p:spPr>
          <a:xfrm>
            <a:off x="4343400" y="6108192"/>
            <a:ext cx="3474720" cy="256032"/>
          </a:xfrm>
          <a:prstGeom prst="rect">
            <a:avLst/>
          </a:prstGeom>
          <a:noFill/>
          <a:ln/>
        </p:spPr>
        <p:txBody>
          <a:bodyPr wrap="square" lIns="0" tIns="0" rIns="0" bIns="0" rtlCol="0" anchor="ctr"/>
          <a:lstStyle/>
          <a:p>
            <a:pPr marL="0" indent="0" algn="ctr">
              <a:buNone/>
            </a:pPr>
            <a:r>
              <a:rPr lang="en-US" sz="2100" b="1" dirty="0">
                <a:solidFill>
                  <a:srgbClr val="0964DA"/>
                </a:solidFill>
              </a:rPr>
              <a:t>Thank you</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Thank You">
    <p:bg>
      <p:bgPr>
        <a:solidFill>
          <a:srgbClr val="FFFFFF"/>
        </a:solidFill>
        <a:effectLst/>
      </p:bgPr>
    </p:bg>
    <p:spTree>
      <p:nvGrpSpPr>
        <p:cNvPr id="1" name=""/>
        <p:cNvGrpSpPr/>
        <p:nvPr/>
      </p:nvGrpSpPr>
      <p:grpSpPr>
        <a:xfrm>
          <a:off x="0" y="0"/>
          <a:ext cx="0" cy="0"/>
          <a:chOff x="0" y="0"/>
          <a:chExt cx="0" cy="0"/>
        </a:xfrm>
      </p:grpSpPr>
      <p:sp>
        <p:nvSpPr>
          <p:cNvPr id="2" name="Accent Bar"/>
          <p:cNvSpPr/>
          <p:nvPr/>
        </p:nvSpPr>
        <p:spPr>
          <a:xfrm>
            <a:off x="0" y="0"/>
            <a:ext cx="12191695" cy="146304"/>
          </a:xfrm>
          <a:prstGeom prst="rect">
            <a:avLst/>
          </a:prstGeom>
          <a:solidFill>
            <a:srgbClr val="0964DA"/>
          </a:solidFill>
          <a:ln w="12700">
            <a:solidFill>
              <a:srgbClr val="0964DA"/>
            </a:solidFill>
            <a:prstDash val="solid"/>
          </a:ln>
        </p:spPr>
        <p:txBody>
          <a:bodyPr/>
          <a:lstStyle/>
          <a:p>
            <a:endParaRPr lang="en-US"/>
          </a:p>
        </p:txBody>
      </p:sp>
      <p:sp>
        <p:nvSpPr>
          <p:cNvPr id="3" name="Footer"/>
          <p:cNvSpPr/>
          <p:nvPr/>
        </p:nvSpPr>
        <p:spPr>
          <a:xfrm>
            <a:off x="411480" y="6510528"/>
            <a:ext cx="5120640" cy="164592"/>
          </a:xfrm>
          <a:prstGeom prst="rect">
            <a:avLst/>
          </a:prstGeom>
          <a:noFill/>
          <a:ln/>
        </p:spPr>
        <p:txBody>
          <a:bodyPr wrap="square" lIns="0" tIns="0" rIns="0" bIns="0" rtlCol="0" anchor="ctr"/>
          <a:lstStyle/>
          <a:p>
            <a:pPr marL="0" indent="0" algn="l">
              <a:buNone/>
            </a:pPr>
            <a:r>
              <a:rPr lang="en-US" sz="750" dirty="0">
                <a:solidFill>
                  <a:srgbClr val="5A6675"/>
                </a:solidFill>
                <a:latin typeface="Aptos" pitchFamily="34" charset="0"/>
                <a:ea typeface="Aptos" pitchFamily="34" charset="-122"/>
                <a:cs typeface="Aptos" pitchFamily="34" charset="-120"/>
              </a:rPr>
              <a:t>E-Learning Platform Project Defence</a:t>
            </a:r>
            <a:endParaRPr lang="en-US" sz="750" dirty="0"/>
          </a:p>
        </p:txBody>
      </p:sp>
      <p:sp>
        <p:nvSpPr>
          <p:cNvPr id="4" name="Slide Number"/>
          <p:cNvSpPr/>
          <p:nvPr/>
        </p:nvSpPr>
        <p:spPr>
          <a:xfrm>
            <a:off x="11384280" y="6492240"/>
            <a:ext cx="365760" cy="164592"/>
          </a:xfrm>
          <a:prstGeom prst="rect">
            <a:avLst/>
          </a:prstGeom>
          <a:noFill/>
          <a:ln/>
        </p:spPr>
        <p:txBody>
          <a:bodyPr wrap="square" lIns="0" tIns="0" rIns="0" bIns="0" rtlCol="0" anchor="ctr"/>
          <a:lstStyle/>
          <a:p>
            <a:pPr marL="0" indent="0" algn="r">
              <a:buNone/>
            </a:pPr>
            <a:r>
              <a:rPr lang="en-US" sz="800" dirty="0">
                <a:solidFill>
                  <a:srgbClr val="5A6675"/>
                </a:solidFill>
                <a:latin typeface="Aptos" pitchFamily="34" charset="0"/>
                <a:ea typeface="Aptos" pitchFamily="34" charset="-122"/>
                <a:cs typeface="Aptos" pitchFamily="34" charset="-120"/>
              </a:rPr>
              <a:t>15</a:t>
            </a:r>
            <a:endParaRPr lang="en-US" sz="800" dirty="0"/>
          </a:p>
        </p:txBody>
      </p:sp>
      <p:sp>
        <p:nvSpPr>
          <p:cNvPr id="5" name="Thanks"/>
          <p:cNvSpPr/>
          <p:nvPr/>
        </p:nvSpPr>
        <p:spPr>
          <a:xfrm>
            <a:off x="502920" y="2500000"/>
            <a:ext cx="11155680" cy="800000"/>
          </a:xfrm>
          <a:prstGeom prst="rect">
            <a:avLst/>
          </a:prstGeom>
          <a:noFill/>
          <a:ln/>
        </p:spPr>
        <p:txBody>
          <a:bodyPr wrap="square" lIns="0" tIns="0" rIns="0" bIns="0" rtlCol="0" anchor="ctr"/>
          <a:lstStyle/>
          <a:p>
            <a:pPr marL="0" indent="0" algn="ctr">
              <a:buNone/>
            </a:pPr>
            <a:r>
              <a:rPr lang="en-US" sz="4400" b="1" dirty="0">
                <a:solidFill>
                  <a:srgbClr val="0964DA"/>
                </a:solidFill>
                <a:latin typeface="Aptos" pitchFamily="34" charset="0"/>
                <a:ea typeface="Aptos" pitchFamily="34" charset="-122"/>
                <a:cs typeface="Aptos" pitchFamily="34" charset="-120"/>
              </a:rPr>
              <a:t>Thank You</a:t>
            </a:r>
            <a:endParaRPr lang="en-US" sz="4400" dirty="0"/>
          </a:p>
        </p:txBody>
      </p:sp>
      <p:sp>
        <p:nvSpPr>
          <p:cNvPr id="6" name="Invite"/>
          <p:cNvSpPr/>
          <p:nvPr/>
        </p:nvSpPr>
        <p:spPr>
          <a:xfrm>
            <a:off x="502920" y="3400000"/>
            <a:ext cx="11155680" cy="400000"/>
          </a:xfrm>
          <a:prstGeom prst="rect">
            <a:avLst/>
          </a:prstGeom>
          <a:noFill/>
          <a:ln/>
        </p:spPr>
        <p:txBody>
          <a:bodyPr wrap="square" lIns="0" tIns="0" rIns="0" bIns="0" rtlCol="0" anchor="ctr"/>
          <a:lstStyle/>
          <a:p>
            <a:pPr marL="0" indent="0" algn="ctr">
              <a:buNone/>
            </a:pPr>
            <a:r>
              <a:rPr lang="en-US" sz="1600" dirty="0">
                <a:solidFill>
                  <a:srgbClr val="1B2733"/>
                </a:solidFill>
                <a:latin typeface="Aptos" pitchFamily="34" charset="0"/>
                <a:ea typeface="Aptos" pitchFamily="34" charset="-122"/>
                <a:cs typeface="Aptos" pitchFamily="34" charset="-120"/>
              </a:rPr>
              <a:t>I welcome your questions and comments.</a:t>
            </a:r>
            <a:endParaRPr lang="en-US" sz="1600" dirty="0"/>
          </a:p>
        </p:txBody>
      </p:sp>
      <p:sp>
        <p:nvSpPr>
          <p:cNvPr id="7" name="Ready"/>
          <p:cNvSpPr/>
          <p:nvPr/>
        </p:nvSpPr>
        <p:spPr>
          <a:xfrm>
            <a:off x="502920" y="3950000"/>
            <a:ext cx="11155680" cy="400000"/>
          </a:xfrm>
          <a:prstGeom prst="rect">
            <a:avLst/>
          </a:prstGeom>
          <a:noFill/>
          <a:ln/>
        </p:spPr>
        <p:txBody>
          <a:bodyPr wrap="square" lIns="0" tIns="0" rIns="0" bIns="0" rtlCol="0" anchor="ctr"/>
          <a:lstStyle/>
          <a:p>
            <a:pPr marL="0" indent="0" algn="ctr">
              <a:buNone/>
            </a:pPr>
            <a:r>
              <a:rPr lang="en-US" sz="1200" dirty="0">
                <a:solidFill>
                  <a:srgbClr val="5A6675"/>
                </a:solidFill>
                <a:latin typeface="Aptos" pitchFamily="34" charset="0"/>
                <a:ea typeface="Aptos" pitchFamily="34" charset="-122"/>
                <a:cs typeface="Aptos" pitchFamily="34" charset="-120"/>
              </a:rPr>
              <a:t>The system is running and ready for a live demonstration.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1648</Words>
  <Application>Microsoft Office PowerPoint</Application>
  <PresentationFormat>Widescreen</PresentationFormat>
  <Paragraphs>266</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Kumasi Technical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Implementation of a Secure E-Learning Platform</dc:title>
  <dc:subject>E-Learning Platform Project Defence</dc:subject>
  <dc:creator>Project Author</dc:creator>
  <cp:lastModifiedBy>Danso Perez</cp:lastModifiedBy>
  <cp:revision>2</cp:revision>
  <dcterms:created xsi:type="dcterms:W3CDTF">2026-07-26T20:14:03Z</dcterms:created>
  <dcterms:modified xsi:type="dcterms:W3CDTF">2026-07-26T20:39:50Z</dcterms:modified>
</cp:coreProperties>
</file>