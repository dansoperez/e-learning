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65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8FC1B-5009-4A8A-86BD-B9077DD370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919CB-FF42-4F44-B11F-060809BEBED7}" type="slidenum">
              <a:rPr lang="en-US" smtClean="0"/>
              <a:t>‹#›</a:t>
            </a:fld>
            <a:endParaRPr lang="en-US"/>
          </a:p>
        </p:txBody>
      </p:sp>
    </p:spTree>
    <p:extLst>
      <p:ext uri="{BB962C8B-B14F-4D97-AF65-F5344CB8AC3E}">
        <p14:creationId xmlns:p14="http://schemas.microsoft.com/office/powerpoint/2010/main" val="1355299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your name, programme and project title. Do not read the title slide. In one sentence say that the project is a secure web-based e-learning marketplace built for students, instructors and administrators.</a:t>
            </a:r>
          </a:p>
        </p:txBody>
      </p:sp>
      <p:sp>
        <p:nvSpPr>
          <p:cNvPr id="4" name="Slide Number Placeholder 3"/>
          <p:cNvSpPr>
            <a:spLocks noGrp="1"/>
          </p:cNvSpPr>
          <p:nvPr>
            <p:ph type="sldNum" sz="quarter" idx="5"/>
          </p:nvPr>
        </p:nvSpPr>
        <p:spPr/>
        <p:txBody>
          <a:bodyPr/>
          <a:lstStyle/>
          <a:p>
            <a:fld id="{949919CB-FF42-4F44-B11F-060809BEBED7}" type="slidenum">
              <a:rPr lang="en-US" smtClean="0"/>
              <a:t>1</a:t>
            </a:fld>
            <a:endParaRPr lang="en-US"/>
          </a:p>
        </p:txBody>
      </p:sp>
    </p:spTree>
    <p:extLst>
      <p:ext uri="{BB962C8B-B14F-4D97-AF65-F5344CB8AC3E}">
        <p14:creationId xmlns:p14="http://schemas.microsoft.com/office/powerpoint/2010/main" val="835121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 the three gaps clearly. Avoid criticising platforms generally; explain that the project addresses a context-specific combination of local payment, governance and security.</a:t>
            </a:r>
          </a:p>
        </p:txBody>
      </p:sp>
      <p:sp>
        <p:nvSpPr>
          <p:cNvPr id="4" name="Slide Number Placeholder 3"/>
          <p:cNvSpPr>
            <a:spLocks noGrp="1"/>
          </p:cNvSpPr>
          <p:nvPr>
            <p:ph type="sldNum" sz="quarter" idx="5"/>
          </p:nvPr>
        </p:nvSpPr>
        <p:spPr/>
        <p:txBody>
          <a:bodyPr/>
          <a:lstStyle/>
          <a:p>
            <a:fld id="{949919CB-FF42-4F44-B11F-060809BEBED7}" type="slidenum">
              <a:rPr lang="en-US" smtClean="0"/>
              <a:t>2</a:t>
            </a:fld>
            <a:endParaRPr lang="en-US"/>
          </a:p>
        </p:txBody>
      </p:sp>
    </p:spTree>
    <p:extLst>
      <p:ext uri="{BB962C8B-B14F-4D97-AF65-F5344CB8AC3E}">
        <p14:creationId xmlns:p14="http://schemas.microsoft.com/office/powerpoint/2010/main" val="2463995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once. Then </a:t>
            </a:r>
            <a:r>
              <a:rPr lang="en-US" dirty="0" err="1"/>
              <a:t>summarise</a:t>
            </a:r>
            <a:r>
              <a:rPr lang="en-US" dirty="0"/>
              <a:t> the objectives instead of reading them word for word. The key message is that the project covers the entire marketplace journey, not only course delivery.</a:t>
            </a:r>
          </a:p>
        </p:txBody>
      </p:sp>
      <p:sp>
        <p:nvSpPr>
          <p:cNvPr id="4" name="Slide Number Placeholder 3"/>
          <p:cNvSpPr>
            <a:spLocks noGrp="1"/>
          </p:cNvSpPr>
          <p:nvPr>
            <p:ph type="sldNum" sz="quarter" idx="5"/>
          </p:nvPr>
        </p:nvSpPr>
        <p:spPr/>
        <p:txBody>
          <a:bodyPr/>
          <a:lstStyle/>
          <a:p>
            <a:fld id="{949919CB-FF42-4F44-B11F-060809BEBED7}" type="slidenum">
              <a:rPr lang="en-US" smtClean="0"/>
              <a:t>3</a:t>
            </a:fld>
            <a:endParaRPr lang="en-US"/>
          </a:p>
        </p:txBody>
      </p:sp>
    </p:spTree>
    <p:extLst>
      <p:ext uri="{BB962C8B-B14F-4D97-AF65-F5344CB8AC3E}">
        <p14:creationId xmlns:p14="http://schemas.microsoft.com/office/powerpoint/2010/main" val="86164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actors before demonstrating the interface. Emphasise that role separation is enforced by the server, not just hidden in the user interface.</a:t>
            </a:r>
          </a:p>
        </p:txBody>
      </p:sp>
      <p:sp>
        <p:nvSpPr>
          <p:cNvPr id="4" name="Slide Number Placeholder 3"/>
          <p:cNvSpPr>
            <a:spLocks noGrp="1"/>
          </p:cNvSpPr>
          <p:nvPr>
            <p:ph type="sldNum" sz="quarter" idx="5"/>
          </p:nvPr>
        </p:nvSpPr>
        <p:spPr/>
        <p:txBody>
          <a:bodyPr/>
          <a:lstStyle/>
          <a:p>
            <a:fld id="{949919CB-FF42-4F44-B11F-060809BEBED7}" type="slidenum">
              <a:rPr lang="en-US" smtClean="0"/>
              <a:t>4</a:t>
            </a:fld>
            <a:endParaRPr lang="en-US"/>
          </a:p>
        </p:txBody>
      </p:sp>
    </p:spTree>
    <p:extLst>
      <p:ext uri="{BB962C8B-B14F-4D97-AF65-F5344CB8AC3E}">
        <p14:creationId xmlns:p14="http://schemas.microsoft.com/office/powerpoint/2010/main" val="1574127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left to right. The browser never sees a database credential or secret key. Server-side actions and route checks are why a student cannot reach administrative functions by editing the browser URL.</a:t>
            </a:r>
          </a:p>
        </p:txBody>
      </p:sp>
      <p:sp>
        <p:nvSpPr>
          <p:cNvPr id="4" name="Slide Number Placeholder 3"/>
          <p:cNvSpPr>
            <a:spLocks noGrp="1"/>
          </p:cNvSpPr>
          <p:nvPr>
            <p:ph type="sldNum" sz="quarter" idx="5"/>
          </p:nvPr>
        </p:nvSpPr>
        <p:spPr/>
        <p:txBody>
          <a:bodyPr/>
          <a:lstStyle/>
          <a:p>
            <a:fld id="{949919CB-FF42-4F44-B11F-060809BEBED7}" type="slidenum">
              <a:rPr lang="en-US" smtClean="0"/>
              <a:t>5</a:t>
            </a:fld>
            <a:endParaRPr lang="en-US"/>
          </a:p>
        </p:txBody>
      </p:sp>
    </p:spTree>
    <p:extLst>
      <p:ext uri="{BB962C8B-B14F-4D97-AF65-F5344CB8AC3E}">
        <p14:creationId xmlns:p14="http://schemas.microsoft.com/office/powerpoint/2010/main" val="2825602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important. Explain that approval prevents unreviewed content from reaching customers. Then explain idempotency in plain language: even if two payment confirmations arrive, the system processes the sale only once.</a:t>
            </a:r>
          </a:p>
        </p:txBody>
      </p:sp>
      <p:sp>
        <p:nvSpPr>
          <p:cNvPr id="4" name="Slide Number Placeholder 3"/>
          <p:cNvSpPr>
            <a:spLocks noGrp="1"/>
          </p:cNvSpPr>
          <p:nvPr>
            <p:ph type="sldNum" sz="quarter" idx="5"/>
          </p:nvPr>
        </p:nvSpPr>
        <p:spPr/>
        <p:txBody>
          <a:bodyPr/>
          <a:lstStyle/>
          <a:p>
            <a:fld id="{949919CB-FF42-4F44-B11F-060809BEBED7}" type="slidenum">
              <a:rPr lang="en-US" smtClean="0"/>
              <a:t>6</a:t>
            </a:fld>
            <a:endParaRPr lang="en-US"/>
          </a:p>
        </p:txBody>
      </p:sp>
    </p:spTree>
    <p:extLst>
      <p:ext uri="{BB962C8B-B14F-4D97-AF65-F5344CB8AC3E}">
        <p14:creationId xmlns:p14="http://schemas.microsoft.com/office/powerpoint/2010/main" val="269720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rush this slide. Pick two controls to explain in detail if the panel asks: role checks protect areas by user type, and idempotent payment processing prevents duplicate crediting.</a:t>
            </a:r>
          </a:p>
        </p:txBody>
      </p:sp>
      <p:sp>
        <p:nvSpPr>
          <p:cNvPr id="4" name="Slide Number Placeholder 3"/>
          <p:cNvSpPr>
            <a:spLocks noGrp="1"/>
          </p:cNvSpPr>
          <p:nvPr>
            <p:ph type="sldNum" sz="quarter" idx="5"/>
          </p:nvPr>
        </p:nvSpPr>
        <p:spPr/>
        <p:txBody>
          <a:bodyPr/>
          <a:lstStyle/>
          <a:p>
            <a:fld id="{949919CB-FF42-4F44-B11F-060809BEBED7}" type="slidenum">
              <a:rPr lang="en-US" smtClean="0"/>
              <a:t>7</a:t>
            </a:fld>
            <a:endParaRPr lang="en-US"/>
          </a:p>
        </p:txBody>
      </p:sp>
    </p:spTree>
    <p:extLst>
      <p:ext uri="{BB962C8B-B14F-4D97-AF65-F5344CB8AC3E}">
        <p14:creationId xmlns:p14="http://schemas.microsoft.com/office/powerpoint/2010/main" val="2256595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briefly. It establishes that the interface is responsive. Mention that the user ID option is useful where users may not remember the email address they registered with.</a:t>
            </a:r>
          </a:p>
        </p:txBody>
      </p:sp>
      <p:sp>
        <p:nvSpPr>
          <p:cNvPr id="4" name="Slide Number Placeholder 3"/>
          <p:cNvSpPr>
            <a:spLocks noGrp="1"/>
          </p:cNvSpPr>
          <p:nvPr>
            <p:ph type="sldNum" sz="quarter" idx="5"/>
          </p:nvPr>
        </p:nvSpPr>
        <p:spPr/>
        <p:txBody>
          <a:bodyPr/>
          <a:lstStyle/>
          <a:p>
            <a:fld id="{949919CB-FF42-4F44-B11F-060809BEBED7}" type="slidenum">
              <a:rPr lang="en-US" smtClean="0"/>
              <a:t>8</a:t>
            </a:fld>
            <a:endParaRPr lang="en-US"/>
          </a:p>
        </p:txBody>
      </p:sp>
    </p:spTree>
    <p:extLst>
      <p:ext uri="{BB962C8B-B14F-4D97-AF65-F5344CB8AC3E}">
        <p14:creationId xmlns:p14="http://schemas.microsoft.com/office/powerpoint/2010/main" val="1958201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how a student moves through the system: enrol, open a course, complete lessons, take required quizzes, and see progress update. The quiz result is calculated on the server and a passed quiz contributes to course completion.</a:t>
            </a:r>
          </a:p>
        </p:txBody>
      </p:sp>
      <p:sp>
        <p:nvSpPr>
          <p:cNvPr id="4" name="Slide Number Placeholder 3"/>
          <p:cNvSpPr>
            <a:spLocks noGrp="1"/>
          </p:cNvSpPr>
          <p:nvPr>
            <p:ph type="sldNum" sz="quarter" idx="5"/>
          </p:nvPr>
        </p:nvSpPr>
        <p:spPr/>
        <p:txBody>
          <a:bodyPr/>
          <a:lstStyle/>
          <a:p>
            <a:fld id="{949919CB-FF42-4F44-B11F-060809BEBED7}" type="slidenum">
              <a:rPr lang="en-US" smtClean="0"/>
              <a:t>9</a:t>
            </a:fld>
            <a:endParaRPr lang="en-US"/>
          </a:p>
        </p:txBody>
      </p:sp>
    </p:spTree>
    <p:extLst>
      <p:ext uri="{BB962C8B-B14F-4D97-AF65-F5344CB8AC3E}">
        <p14:creationId xmlns:p14="http://schemas.microsoft.com/office/powerpoint/2010/main" val="1857183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instructor cannot publish straight to learners. Explain the approval state first, then show that the approved instructor gets content tools, earnings information and a withdrawal process.</a:t>
            </a:r>
          </a:p>
        </p:txBody>
      </p:sp>
      <p:sp>
        <p:nvSpPr>
          <p:cNvPr id="4" name="Slide Number Placeholder 3"/>
          <p:cNvSpPr>
            <a:spLocks noGrp="1"/>
          </p:cNvSpPr>
          <p:nvPr>
            <p:ph type="sldNum" sz="quarter" idx="5"/>
          </p:nvPr>
        </p:nvSpPr>
        <p:spPr/>
        <p:txBody>
          <a:bodyPr/>
          <a:lstStyle/>
          <a:p>
            <a:fld id="{949919CB-FF42-4F44-B11F-060809BEBED7}" type="slidenum">
              <a:rPr lang="en-US" smtClean="0"/>
              <a:t>10</a:t>
            </a:fld>
            <a:endParaRPr lang="en-US"/>
          </a:p>
        </p:txBody>
      </p:sp>
    </p:spTree>
    <p:extLst>
      <p:ext uri="{BB962C8B-B14F-4D97-AF65-F5344CB8AC3E}">
        <p14:creationId xmlns:p14="http://schemas.microsoft.com/office/powerpoint/2010/main" val="4159667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other side of the platform. Highlight that administration is not just a dashboard; it is how the platform enforces trust, approves content and keeps an audit trail of sensitive decisions.</a:t>
            </a:r>
          </a:p>
        </p:txBody>
      </p:sp>
      <p:sp>
        <p:nvSpPr>
          <p:cNvPr id="4" name="Slide Number Placeholder 3"/>
          <p:cNvSpPr>
            <a:spLocks noGrp="1"/>
          </p:cNvSpPr>
          <p:nvPr>
            <p:ph type="sldNum" sz="quarter" idx="5"/>
          </p:nvPr>
        </p:nvSpPr>
        <p:spPr/>
        <p:txBody>
          <a:bodyPr/>
          <a:lstStyle/>
          <a:p>
            <a:fld id="{949919CB-FF42-4F44-B11F-060809BEBED7}" type="slidenum">
              <a:rPr lang="en-US" smtClean="0"/>
              <a:t>11</a:t>
            </a:fld>
            <a:endParaRPr lang="en-US"/>
          </a:p>
        </p:txBody>
      </p:sp>
    </p:spTree>
    <p:extLst>
      <p:ext uri="{BB962C8B-B14F-4D97-AF65-F5344CB8AC3E}">
        <p14:creationId xmlns:p14="http://schemas.microsoft.com/office/powerpoint/2010/main" val="2911046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the three testing levels: unit, integration, and user acceptance. Say that all 22 mapped cases passed. Use only two examples: a duplicate payment event did not credit an instructor twice, and a student was blocked from an admin route. The findings are positive, but the project also has clear limitations.</a:t>
            </a:r>
            <a:endParaRPr lang="en-US" dirty="0"/>
          </a:p>
        </p:txBody>
      </p:sp>
      <p:sp>
        <p:nvSpPr>
          <p:cNvPr id="4" name="Slide Number Placeholder 3"/>
          <p:cNvSpPr>
            <a:spLocks noGrp="1"/>
          </p:cNvSpPr>
          <p:nvPr>
            <p:ph type="sldNum" sz="quarter" idx="5"/>
          </p:nvPr>
        </p:nvSpPr>
        <p:spPr/>
        <p:txBody>
          <a:bodyPr/>
          <a:lstStyle/>
          <a:p>
            <a:fld id="{949919CB-FF42-4F44-B11F-060809BEBED7}" type="slidenum">
              <a:rPr lang="en-US" smtClean="0"/>
              <a:t>12</a:t>
            </a:fld>
            <a:endParaRPr lang="en-US"/>
          </a:p>
        </p:txBody>
      </p:sp>
    </p:spTree>
    <p:extLst>
      <p:ext uri="{BB962C8B-B14F-4D97-AF65-F5344CB8AC3E}">
        <p14:creationId xmlns:p14="http://schemas.microsoft.com/office/powerpoint/2010/main" val="183779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balanced conclusion. The system meets its scope and passes the mapped tests, but it has not been proven at production scale. Future work should take it from a tested project artefact to wider real-world deployment.</a:t>
            </a:r>
          </a:p>
        </p:txBody>
      </p:sp>
      <p:sp>
        <p:nvSpPr>
          <p:cNvPr id="4" name="Slide Number Placeholder 3"/>
          <p:cNvSpPr>
            <a:spLocks noGrp="1"/>
          </p:cNvSpPr>
          <p:nvPr>
            <p:ph type="sldNum" sz="quarter" idx="5"/>
          </p:nvPr>
        </p:nvSpPr>
        <p:spPr/>
        <p:txBody>
          <a:bodyPr/>
          <a:lstStyle/>
          <a:p>
            <a:fld id="{949919CB-FF42-4F44-B11F-060809BEBED7}" type="slidenum">
              <a:rPr lang="en-US" smtClean="0"/>
              <a:t>13</a:t>
            </a:fld>
            <a:endParaRPr lang="en-US"/>
          </a:p>
        </p:txBody>
      </p:sp>
    </p:spTree>
    <p:extLst>
      <p:ext uri="{BB962C8B-B14F-4D97-AF65-F5344CB8AC3E}">
        <p14:creationId xmlns:p14="http://schemas.microsoft.com/office/powerpoint/2010/main" val="2225489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the panel, then offer the live demo. Keep separate browser tabs ready for the student, instructor, and administrator accounts. If the network is unavailable, use the screenshots in this deck as the fallback evidence.</a:t>
            </a:r>
          </a:p>
        </p:txBody>
      </p:sp>
      <p:sp>
        <p:nvSpPr>
          <p:cNvPr id="4" name="Slide Number Placeholder 3"/>
          <p:cNvSpPr>
            <a:spLocks noGrp="1"/>
          </p:cNvSpPr>
          <p:nvPr>
            <p:ph type="sldNum" sz="quarter" idx="5"/>
          </p:nvPr>
        </p:nvSpPr>
        <p:spPr/>
        <p:txBody>
          <a:bodyPr/>
          <a:lstStyle/>
          <a:p>
            <a:fld id="{949919CB-FF42-4F44-B11F-060809BEBED7}" type="slidenum">
              <a:rPr lang="en-US" smtClean="0"/>
              <a:t>14</a:t>
            </a:fld>
            <a:endParaRPr lang="en-US"/>
          </a:p>
        </p:txBody>
      </p:sp>
    </p:spTree>
    <p:extLst>
      <p:ext uri="{BB962C8B-B14F-4D97-AF65-F5344CB8AC3E}">
        <p14:creationId xmlns:p14="http://schemas.microsoft.com/office/powerpoint/2010/main" val="1300579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DAD54-A877-EE2A-62CA-38D08E6DAC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E16A47-FCD5-63BC-546B-D42B90BB90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0D4BED-AA57-6A5A-5CB1-4F5352C58AE6}"/>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5" name="Footer Placeholder 4">
            <a:extLst>
              <a:ext uri="{FF2B5EF4-FFF2-40B4-BE49-F238E27FC236}">
                <a16:creationId xmlns:a16="http://schemas.microsoft.com/office/drawing/2014/main" id="{5685FAE9-92D9-8CA0-1699-27F6C09FC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E11FB9-3E99-C157-CD7A-9740488AE5BF}"/>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2893021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8DF2F-44F1-19A2-A6C1-46E407ABA5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8F4094-93AF-E890-B0D4-5B9EB2BA67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25173F-262C-87A6-B23D-E6797C9AB589}"/>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5" name="Footer Placeholder 4">
            <a:extLst>
              <a:ext uri="{FF2B5EF4-FFF2-40B4-BE49-F238E27FC236}">
                <a16:creationId xmlns:a16="http://schemas.microsoft.com/office/drawing/2014/main" id="{555187C1-855E-AA96-9752-266AC7AEB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DFE97-F0DA-7120-2283-CD83E0BEA5AE}"/>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169612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FFCCE-F60E-B6F0-59F6-516F2FADB8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B1F706-EC3B-5264-5A67-38CE92FB64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FF5665-1635-FC8F-63B7-B7BCEA57FB0B}"/>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5" name="Footer Placeholder 4">
            <a:extLst>
              <a:ext uri="{FF2B5EF4-FFF2-40B4-BE49-F238E27FC236}">
                <a16:creationId xmlns:a16="http://schemas.microsoft.com/office/drawing/2014/main" id="{636D3903-2E06-8055-EAE7-E120C2C9B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1960A2-44BE-7B52-01AE-9913F8A0653D}"/>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276212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79DE5-5D01-31FA-A81D-8575A20566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E115C5-A7D8-ECF9-7FB2-9C7F8E4527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C26AFE-704F-8B41-01CB-E7245DA9BC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A84A0B-4781-2AD9-C46B-A2822F828AF6}"/>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6" name="Footer Placeholder 5">
            <a:extLst>
              <a:ext uri="{FF2B5EF4-FFF2-40B4-BE49-F238E27FC236}">
                <a16:creationId xmlns:a16="http://schemas.microsoft.com/office/drawing/2014/main" id="{7AEB8121-6167-848F-07C5-3E34DF1D3E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D45E1-7F5A-3FA7-0C18-BFCE8682147A}"/>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56781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062C6-430C-D939-A618-EECA9AA034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2583C3-2CEB-C747-E990-D4FF3BAE59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A24B0B-5AC1-52A0-2C7E-509C19319A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459ED9-3C04-B9BF-16ED-50B0C850FD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BAEFE6-D716-325C-B457-1B25DE9FED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52AC58-1444-B126-2D35-8934854993B3}"/>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8" name="Footer Placeholder 7">
            <a:extLst>
              <a:ext uri="{FF2B5EF4-FFF2-40B4-BE49-F238E27FC236}">
                <a16:creationId xmlns:a16="http://schemas.microsoft.com/office/drawing/2014/main" id="{93034D57-8A6F-C08B-49E6-3BAF495B0B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3F834D-DCB3-AAD7-39EA-0804CB0E3319}"/>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309469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C83E4-1FF9-0307-A6A5-9D599E957CE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F72D7E-7C6A-BDAC-9D87-0E32FF27A0D5}"/>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4" name="Footer Placeholder 3">
            <a:extLst>
              <a:ext uri="{FF2B5EF4-FFF2-40B4-BE49-F238E27FC236}">
                <a16:creationId xmlns:a16="http://schemas.microsoft.com/office/drawing/2014/main" id="{4D8DEB7F-9B84-603A-715E-6ACB6DF5D9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9A0B44-B330-DAFA-B791-9754BD2BAA51}"/>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3725297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31E741-86FC-0F36-0289-7950A8D4FFB4}"/>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3" name="Footer Placeholder 2">
            <a:extLst>
              <a:ext uri="{FF2B5EF4-FFF2-40B4-BE49-F238E27FC236}">
                <a16:creationId xmlns:a16="http://schemas.microsoft.com/office/drawing/2014/main" id="{5D2CA675-F65D-B425-76D4-1D5A2285A8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5D1830-7AB8-339A-0895-29301A69625C}"/>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4259246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18A52-AE86-61C9-55B9-D0068B9BA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E88A06-60DB-3F37-F6F1-3FEFA9B00D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BC3B0C-8817-A267-5E86-B6ABDA695A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235C6-01EA-D9A9-B03C-9C7EDE07F468}"/>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6" name="Footer Placeholder 5">
            <a:extLst>
              <a:ext uri="{FF2B5EF4-FFF2-40B4-BE49-F238E27FC236}">
                <a16:creationId xmlns:a16="http://schemas.microsoft.com/office/drawing/2014/main" id="{A0574353-E827-4D54-C5E4-3B831C1388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5199D3-18BF-EA20-74E3-66D580164BC6}"/>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3153098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7839-2B09-6711-CEA0-CA00E45D44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AF08C4-0A0A-C788-676E-B751FC4E21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CD26DB-EE93-1089-0D6E-AB564E880F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52F3F7-B026-A74F-FBC9-1237E5C22014}"/>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6" name="Footer Placeholder 5">
            <a:extLst>
              <a:ext uri="{FF2B5EF4-FFF2-40B4-BE49-F238E27FC236}">
                <a16:creationId xmlns:a16="http://schemas.microsoft.com/office/drawing/2014/main" id="{B846718D-E2E8-991F-9261-08759F0ADF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F11030-A6BC-511C-D409-568BC4258D4A}"/>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3591596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54D4-89CB-4877-A052-FC7C1185EE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A4415A-9A04-9610-8323-DE9FD24543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115903-CC3F-DC8E-C018-16FC279BCBCB}"/>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5" name="Footer Placeholder 4">
            <a:extLst>
              <a:ext uri="{FF2B5EF4-FFF2-40B4-BE49-F238E27FC236}">
                <a16:creationId xmlns:a16="http://schemas.microsoft.com/office/drawing/2014/main" id="{5C914162-5D64-E267-221F-4C7B109AD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3BE6A-EFEF-24D4-A0F7-FC7441F9B0C6}"/>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456561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5C3FD1-A7FC-89C1-CF13-A8A5D2B210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BF5B8F-ECDE-439D-374C-2AA889D238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CD0B7B-05EE-99B7-9094-17A02EB25F17}"/>
              </a:ext>
            </a:extLst>
          </p:cNvPr>
          <p:cNvSpPr>
            <a:spLocks noGrp="1"/>
          </p:cNvSpPr>
          <p:nvPr>
            <p:ph type="dt" sz="half" idx="10"/>
          </p:nvPr>
        </p:nvSpPr>
        <p:spPr/>
        <p:txBody>
          <a:bodyPr/>
          <a:lstStyle/>
          <a:p>
            <a:fld id="{1F1C7189-3F07-4BBA-8D68-3A63EC086559}" type="datetimeFigureOut">
              <a:rPr lang="en-US" smtClean="0"/>
              <a:t>7/26/2026</a:t>
            </a:fld>
            <a:endParaRPr lang="en-US"/>
          </a:p>
        </p:txBody>
      </p:sp>
      <p:sp>
        <p:nvSpPr>
          <p:cNvPr id="5" name="Footer Placeholder 4">
            <a:extLst>
              <a:ext uri="{FF2B5EF4-FFF2-40B4-BE49-F238E27FC236}">
                <a16:creationId xmlns:a16="http://schemas.microsoft.com/office/drawing/2014/main" id="{85E74519-51FF-179B-EF39-91D3C08F1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29F685-3D3F-72ED-6AC7-ADAD49A66BE3}"/>
              </a:ext>
            </a:extLst>
          </p:cNvPr>
          <p:cNvSpPr>
            <a:spLocks noGrp="1"/>
          </p:cNvSpPr>
          <p:nvPr>
            <p:ph type="sldNum" sz="quarter" idx="12"/>
          </p:nvPr>
        </p:nvSpPr>
        <p:spPr/>
        <p:txBody>
          <a:bodyPr/>
          <a:lstStyle/>
          <a:p>
            <a:fld id="{48933EC3-65E1-4933-A0F9-8EB7EE81F0DC}" type="slidenum">
              <a:rPr lang="en-US" smtClean="0"/>
              <a:t>‹#›</a:t>
            </a:fld>
            <a:endParaRPr lang="en-US"/>
          </a:p>
        </p:txBody>
      </p:sp>
    </p:spTree>
    <p:extLst>
      <p:ext uri="{BB962C8B-B14F-4D97-AF65-F5344CB8AC3E}">
        <p14:creationId xmlns:p14="http://schemas.microsoft.com/office/powerpoint/2010/main" val="954977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32F825-6FA0-B77E-43FB-B80707B438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7D2B2C-E8B7-4975-656C-D8C4C9C6C4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3AB7C-4C30-FA7F-2130-BE0D051DA7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1C7189-3F07-4BBA-8D68-3A63EC086559}" type="datetimeFigureOut">
              <a:rPr lang="en-US" smtClean="0"/>
              <a:t>7/26/2026</a:t>
            </a:fld>
            <a:endParaRPr lang="en-US"/>
          </a:p>
        </p:txBody>
      </p:sp>
      <p:sp>
        <p:nvSpPr>
          <p:cNvPr id="5" name="Footer Placeholder 4">
            <a:extLst>
              <a:ext uri="{FF2B5EF4-FFF2-40B4-BE49-F238E27FC236}">
                <a16:creationId xmlns:a16="http://schemas.microsoft.com/office/drawing/2014/main" id="{6A4F09D3-DE2D-61B5-5371-F60448875A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1DC512-DF84-762C-C897-0B9F269848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933EC3-65E1-4933-A0F9-8EB7EE81F0DC}" type="slidenum">
              <a:rPr lang="en-US" smtClean="0"/>
              <a:t>‹#›</a:t>
            </a:fld>
            <a:endParaRPr lang="en-US"/>
          </a:p>
        </p:txBody>
      </p:sp>
    </p:spTree>
    <p:extLst>
      <p:ext uri="{BB962C8B-B14F-4D97-AF65-F5344CB8AC3E}">
        <p14:creationId xmlns:p14="http://schemas.microsoft.com/office/powerpoint/2010/main" val="1018150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FD5265-FCAF-1E8F-674F-0FF6BCC96735}"/>
              </a:ext>
            </a:extLst>
          </p:cNvPr>
          <p:cNvSpPr/>
          <p:nvPr/>
        </p:nvSpPr>
        <p:spPr>
          <a:xfrm>
            <a:off x="0" y="0"/>
            <a:ext cx="12192000" cy="68580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73B2ABBE-B86B-2CD0-D022-C2930ADF3098}"/>
              </a:ext>
            </a:extLst>
          </p:cNvPr>
          <p:cNvSpPr/>
          <p:nvPr/>
        </p:nvSpPr>
        <p:spPr>
          <a:xfrm>
            <a:off x="9017000" y="660400"/>
            <a:ext cx="3556000" cy="3556000"/>
          </a:xfrm>
          <a:prstGeom prst="ellipse">
            <a:avLst/>
          </a:prstGeom>
          <a:solidFill>
            <a:srgbClr val="0964DA">
              <a:alpha val="4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10B06C5E-14AD-DFBF-10BF-2AA77BB14540}"/>
              </a:ext>
            </a:extLst>
          </p:cNvPr>
          <p:cNvSpPr/>
          <p:nvPr/>
        </p:nvSpPr>
        <p:spPr>
          <a:xfrm>
            <a:off x="9969500" y="3937000"/>
            <a:ext cx="2286000" cy="2286000"/>
          </a:xfrm>
          <a:prstGeom prst="ellipse">
            <a:avLst/>
          </a:prstGeom>
          <a:solidFill>
            <a:srgbClr val="368AF0">
              <a:alpha val="3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E6C8826-40CB-0A7A-6B1F-FD102B0055EA}"/>
              </a:ext>
            </a:extLst>
          </p:cNvPr>
          <p:cNvSpPr txBox="1"/>
          <p:nvPr/>
        </p:nvSpPr>
        <p:spPr>
          <a:xfrm>
            <a:off x="711200" y="939800"/>
            <a:ext cx="6604000" cy="276999"/>
          </a:xfrm>
          <a:prstGeom prst="rect">
            <a:avLst/>
          </a:prstGeom>
          <a:noFill/>
        </p:spPr>
        <p:txBody>
          <a:bodyPr vert="horz" wrap="square" lIns="0" tIns="0" rIns="0" bIns="0" rtlCol="0" anchor="ctr">
            <a:noAutofit/>
          </a:bodyPr>
          <a:lstStyle/>
          <a:p>
            <a:r>
              <a:rPr lang="en-US" sz="1200" b="1" dirty="0">
                <a:solidFill>
                  <a:srgbClr val="E8F2FF"/>
                </a:solidFill>
                <a:latin typeface="Aptos" panose="020B0004020202020204" pitchFamily="34" charset="0"/>
              </a:rPr>
              <a:t>FINAL  PROJECT </a:t>
            </a:r>
          </a:p>
        </p:txBody>
      </p:sp>
      <p:sp>
        <p:nvSpPr>
          <p:cNvPr id="6" name="TextBox 5">
            <a:extLst>
              <a:ext uri="{FF2B5EF4-FFF2-40B4-BE49-F238E27FC236}">
                <a16:creationId xmlns:a16="http://schemas.microsoft.com/office/drawing/2014/main" id="{079E3131-55B5-7781-E56B-05776C0689C8}"/>
              </a:ext>
            </a:extLst>
          </p:cNvPr>
          <p:cNvSpPr txBox="1"/>
          <p:nvPr/>
        </p:nvSpPr>
        <p:spPr>
          <a:xfrm>
            <a:off x="711200" y="1473200"/>
            <a:ext cx="8001000" cy="1064399"/>
          </a:xfrm>
          <a:prstGeom prst="rect">
            <a:avLst/>
          </a:prstGeom>
          <a:noFill/>
        </p:spPr>
        <p:txBody>
          <a:bodyPr vert="horz" wrap="square" lIns="0" tIns="0" rIns="0" bIns="0" rtlCol="0" anchor="ctr">
            <a:noAutofit/>
          </a:bodyPr>
          <a:lstStyle/>
          <a:p>
            <a:r>
              <a:rPr lang="en-US" sz="3300" b="1" dirty="0">
                <a:solidFill>
                  <a:srgbClr val="FFFFFF"/>
                </a:solidFill>
                <a:latin typeface="Aptos" panose="020B0004020202020204" pitchFamily="34" charset="0"/>
              </a:rPr>
              <a:t>Design and Implementation
of an E-Learning Platform</a:t>
            </a:r>
          </a:p>
        </p:txBody>
      </p:sp>
      <p:sp>
        <p:nvSpPr>
          <p:cNvPr id="7" name="TextBox 6">
            <a:extLst>
              <a:ext uri="{FF2B5EF4-FFF2-40B4-BE49-F238E27FC236}">
                <a16:creationId xmlns:a16="http://schemas.microsoft.com/office/drawing/2014/main" id="{A392616D-6DD2-0F24-8667-FB6C25BFA96C}"/>
              </a:ext>
            </a:extLst>
          </p:cNvPr>
          <p:cNvSpPr txBox="1"/>
          <p:nvPr/>
        </p:nvSpPr>
        <p:spPr>
          <a:xfrm>
            <a:off x="711200" y="3098800"/>
            <a:ext cx="7239000" cy="276999"/>
          </a:xfrm>
          <a:prstGeom prst="rect">
            <a:avLst/>
          </a:prstGeom>
          <a:noFill/>
        </p:spPr>
        <p:txBody>
          <a:bodyPr vert="horz" wrap="square" lIns="0" tIns="0" rIns="0" bIns="0" rtlCol="0" anchor="ctr">
            <a:noAutofit/>
          </a:bodyPr>
          <a:lstStyle/>
          <a:p>
            <a:r>
              <a:rPr lang="en-US" sz="1600">
                <a:solidFill>
                  <a:srgbClr val="E8F2FF"/>
                </a:solidFill>
                <a:latin typeface="Aptos" panose="020B0004020202020204" pitchFamily="34" charset="0"/>
              </a:rPr>
              <a:t>A web-based course marketplace for students, instructors, and administrators</a:t>
            </a:r>
          </a:p>
        </p:txBody>
      </p:sp>
      <p:cxnSp>
        <p:nvCxnSpPr>
          <p:cNvPr id="8" name="Straight Connector 7">
            <a:extLst>
              <a:ext uri="{FF2B5EF4-FFF2-40B4-BE49-F238E27FC236}">
                <a16:creationId xmlns:a16="http://schemas.microsoft.com/office/drawing/2014/main" id="{AB48B771-06E1-3B5E-3D02-FA0A18277B14}"/>
              </a:ext>
            </a:extLst>
          </p:cNvPr>
          <p:cNvCxnSpPr/>
          <p:nvPr/>
        </p:nvCxnSpPr>
        <p:spPr>
          <a:xfrm>
            <a:off x="711200" y="3937000"/>
            <a:ext cx="1524000" cy="0"/>
          </a:xfrm>
          <a:prstGeom prst="line">
            <a:avLst/>
          </a:prstGeom>
          <a:ln w="9525">
            <a:solidFill>
              <a:srgbClr val="368A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7988074-9565-FF32-18BF-D4F6E601D7D9}"/>
              </a:ext>
            </a:extLst>
          </p:cNvPr>
          <p:cNvSpPr txBox="1"/>
          <p:nvPr/>
        </p:nvSpPr>
        <p:spPr>
          <a:xfrm>
            <a:off x="711200" y="3990343"/>
            <a:ext cx="5715000" cy="949957"/>
          </a:xfrm>
          <a:prstGeom prst="rect">
            <a:avLst/>
          </a:prstGeom>
          <a:noFill/>
        </p:spPr>
        <p:txBody>
          <a:bodyPr vert="horz" wrap="square" lIns="0" tIns="0" rIns="0" bIns="0" rtlCol="0" anchor="ctr">
            <a:noAutofit/>
          </a:bodyPr>
          <a:lstStyle/>
          <a:p>
            <a:r>
              <a:rPr lang="en-US" sz="1200" dirty="0">
                <a:solidFill>
                  <a:srgbClr val="FFFFFF"/>
                </a:solidFill>
                <a:latin typeface="Aptos" panose="020B0004020202020204" pitchFamily="34" charset="0"/>
              </a:rPr>
              <a:t>Prepared by: [Your Full Name]
Index Number: [Your Index Number]
Computer Science Department | Kumasi Technical University</a:t>
            </a:r>
          </a:p>
        </p:txBody>
      </p:sp>
      <p:sp>
        <p:nvSpPr>
          <p:cNvPr id="10" name="TextBox 9">
            <a:extLst>
              <a:ext uri="{FF2B5EF4-FFF2-40B4-BE49-F238E27FC236}">
                <a16:creationId xmlns:a16="http://schemas.microsoft.com/office/drawing/2014/main" id="{76CFC9F7-C12A-2459-194D-25100107DACC}"/>
              </a:ext>
            </a:extLst>
          </p:cNvPr>
          <p:cNvSpPr txBox="1"/>
          <p:nvPr/>
        </p:nvSpPr>
        <p:spPr>
          <a:xfrm>
            <a:off x="711200" y="5943600"/>
            <a:ext cx="1905000" cy="276999"/>
          </a:xfrm>
          <a:prstGeom prst="rect">
            <a:avLst/>
          </a:prstGeom>
          <a:noFill/>
        </p:spPr>
        <p:txBody>
          <a:bodyPr vert="horz" wrap="square" lIns="0" tIns="0" rIns="0" bIns="0" rtlCol="0" anchor="ctr">
            <a:noAutofit/>
          </a:bodyPr>
          <a:lstStyle/>
          <a:p>
            <a:r>
              <a:rPr lang="en-US" sz="1100">
                <a:solidFill>
                  <a:srgbClr val="E8F2FF"/>
                </a:solidFill>
                <a:latin typeface="Aptos" panose="020B0004020202020204" pitchFamily="34" charset="0"/>
              </a:rPr>
              <a:t>2026</a:t>
            </a:r>
          </a:p>
        </p:txBody>
      </p:sp>
    </p:spTree>
    <p:extLst>
      <p:ext uri="{BB962C8B-B14F-4D97-AF65-F5344CB8AC3E}">
        <p14:creationId xmlns:p14="http://schemas.microsoft.com/office/powerpoint/2010/main" val="3807180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38BDC5-6531-83EA-0CEF-E98DE548512C}"/>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EEA9F2B-B2B6-8791-D957-56874D5A7EB9}"/>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Background and Problem</a:t>
            </a:r>
          </a:p>
        </p:txBody>
      </p:sp>
      <p:sp>
        <p:nvSpPr>
          <p:cNvPr id="4" name="TextBox 3">
            <a:extLst>
              <a:ext uri="{FF2B5EF4-FFF2-40B4-BE49-F238E27FC236}">
                <a16:creationId xmlns:a16="http://schemas.microsoft.com/office/drawing/2014/main" id="{B32FA6C9-4078-4731-F39E-094753A2620F}"/>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Why a locally relevant e-learning marketplace is needed</a:t>
            </a:r>
          </a:p>
        </p:txBody>
      </p:sp>
      <p:cxnSp>
        <p:nvCxnSpPr>
          <p:cNvPr id="5" name="Straight Connector 4">
            <a:extLst>
              <a:ext uri="{FF2B5EF4-FFF2-40B4-BE49-F238E27FC236}">
                <a16:creationId xmlns:a16="http://schemas.microsoft.com/office/drawing/2014/main" id="{785F4FD8-3B2A-4D7A-FE45-0F7D99333B4C}"/>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143B0D7-ABE9-F055-4D8E-56CDACA63B06}"/>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320C1815-6067-96EC-5EC2-D21FE8E55CA7}"/>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2</a:t>
            </a:r>
          </a:p>
        </p:txBody>
      </p:sp>
      <p:sp>
        <p:nvSpPr>
          <p:cNvPr id="8" name="TextBox 7">
            <a:extLst>
              <a:ext uri="{FF2B5EF4-FFF2-40B4-BE49-F238E27FC236}">
                <a16:creationId xmlns:a16="http://schemas.microsoft.com/office/drawing/2014/main" id="{8AAC1743-FAE5-E8E9-F2E6-474D2A072BB1}"/>
              </a:ext>
            </a:extLst>
          </p:cNvPr>
          <p:cNvSpPr txBox="1"/>
          <p:nvPr/>
        </p:nvSpPr>
        <p:spPr>
          <a:xfrm>
            <a:off x="533400" y="1422400"/>
            <a:ext cx="1270000" cy="276999"/>
          </a:xfrm>
          <a:prstGeom prst="rect">
            <a:avLst/>
          </a:prstGeom>
          <a:noFill/>
        </p:spPr>
        <p:txBody>
          <a:bodyPr vert="horz" wrap="square" lIns="0" tIns="0" rIns="0" bIns="0" rtlCol="0" anchor="ctr">
            <a:noAutofit/>
          </a:bodyPr>
          <a:lstStyle/>
          <a:p>
            <a:r>
              <a:rPr lang="en-US" sz="1100" b="1" dirty="0">
                <a:solidFill>
                  <a:srgbClr val="0964DA"/>
                </a:solidFill>
                <a:latin typeface="Aptos" panose="020B0004020202020204" pitchFamily="34" charset="0"/>
              </a:rPr>
              <a:t>THE GAP</a:t>
            </a:r>
          </a:p>
        </p:txBody>
      </p:sp>
      <p:sp>
        <p:nvSpPr>
          <p:cNvPr id="9" name="TextBox 8">
            <a:extLst>
              <a:ext uri="{FF2B5EF4-FFF2-40B4-BE49-F238E27FC236}">
                <a16:creationId xmlns:a16="http://schemas.microsoft.com/office/drawing/2014/main" id="{E0F55E09-B39A-FACD-03A9-BBA7155F0DC1}"/>
              </a:ext>
            </a:extLst>
          </p:cNvPr>
          <p:cNvSpPr txBox="1"/>
          <p:nvPr/>
        </p:nvSpPr>
        <p:spPr>
          <a:xfrm>
            <a:off x="533400" y="1739900"/>
            <a:ext cx="10541000" cy="685800"/>
          </a:xfrm>
          <a:prstGeom prst="rect">
            <a:avLst/>
          </a:prstGeom>
          <a:noFill/>
        </p:spPr>
        <p:txBody>
          <a:bodyPr vert="horz" wrap="square" lIns="0" tIns="0" rIns="0" bIns="0" rtlCol="0" anchor="ctr">
            <a:noAutofit/>
          </a:bodyPr>
          <a:lstStyle/>
          <a:p>
            <a:r>
              <a:rPr lang="en-US" sz="2100" b="1" dirty="0">
                <a:solidFill>
                  <a:srgbClr val="162330"/>
                </a:solidFill>
                <a:latin typeface="Aptos" panose="020B0004020202020204" pitchFamily="34" charset="0"/>
              </a:rPr>
              <a:t>Online learning is growing, but existing platforms leave important needs unmet in the African context.</a:t>
            </a:r>
          </a:p>
        </p:txBody>
      </p:sp>
      <p:sp>
        <p:nvSpPr>
          <p:cNvPr id="10" name="Rectangle: Rounded Corners 9">
            <a:extLst>
              <a:ext uri="{FF2B5EF4-FFF2-40B4-BE49-F238E27FC236}">
                <a16:creationId xmlns:a16="http://schemas.microsoft.com/office/drawing/2014/main" id="{8E7172AD-7CF5-443E-988B-CB699C510F2D}"/>
              </a:ext>
            </a:extLst>
          </p:cNvPr>
          <p:cNvSpPr/>
          <p:nvPr/>
        </p:nvSpPr>
        <p:spPr>
          <a:xfrm>
            <a:off x="533400" y="2717800"/>
            <a:ext cx="3403600" cy="22098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E46DB27-8314-C9DC-6A2C-FD8F4962F3D7}"/>
              </a:ext>
            </a:extLst>
          </p:cNvPr>
          <p:cNvSpPr/>
          <p:nvPr/>
        </p:nvSpPr>
        <p:spPr>
          <a:xfrm>
            <a:off x="533400" y="2717800"/>
            <a:ext cx="76200" cy="22098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50DB8E1-5B8C-D8D4-BB91-6CE520C5F0C6}"/>
              </a:ext>
            </a:extLst>
          </p:cNvPr>
          <p:cNvSpPr txBox="1"/>
          <p:nvPr/>
        </p:nvSpPr>
        <p:spPr>
          <a:xfrm>
            <a:off x="787400" y="2908300"/>
            <a:ext cx="381000" cy="276999"/>
          </a:xfrm>
          <a:prstGeom prst="rect">
            <a:avLst/>
          </a:prstGeom>
          <a:noFill/>
        </p:spPr>
        <p:txBody>
          <a:bodyPr vert="horz" wrap="square" lIns="0" tIns="0" rIns="0" bIns="0" rtlCol="0" anchor="ctr">
            <a:noAutofit/>
          </a:bodyPr>
          <a:lstStyle/>
          <a:p>
            <a:r>
              <a:rPr lang="en-US" sz="1400" b="1">
                <a:solidFill>
                  <a:srgbClr val="0964DA"/>
                </a:solidFill>
                <a:latin typeface="Aptos" panose="020B0004020202020204" pitchFamily="34" charset="0"/>
              </a:rPr>
              <a:t>01</a:t>
            </a:r>
          </a:p>
        </p:txBody>
      </p:sp>
      <p:sp>
        <p:nvSpPr>
          <p:cNvPr id="13" name="TextBox 12">
            <a:extLst>
              <a:ext uri="{FF2B5EF4-FFF2-40B4-BE49-F238E27FC236}">
                <a16:creationId xmlns:a16="http://schemas.microsoft.com/office/drawing/2014/main" id="{AB87EDDD-0B13-C75E-B522-F8634FD2EE8C}"/>
              </a:ext>
            </a:extLst>
          </p:cNvPr>
          <p:cNvSpPr txBox="1"/>
          <p:nvPr/>
        </p:nvSpPr>
        <p:spPr>
          <a:xfrm>
            <a:off x="787400" y="3263900"/>
            <a:ext cx="2921000" cy="276999"/>
          </a:xfrm>
          <a:prstGeom prst="rect">
            <a:avLst/>
          </a:prstGeom>
          <a:noFill/>
        </p:spPr>
        <p:txBody>
          <a:bodyPr vert="horz" wrap="square" lIns="0" tIns="0" rIns="0" bIns="0" rtlCol="0" anchor="ctr">
            <a:noAutofit/>
          </a:bodyPr>
          <a:lstStyle/>
          <a:p>
            <a:r>
              <a:rPr lang="en-US" sz="1600" b="1" dirty="0">
                <a:solidFill>
                  <a:srgbClr val="162330"/>
                </a:solidFill>
                <a:latin typeface="Aptos" panose="020B0004020202020204" pitchFamily="34" charset="0"/>
              </a:rPr>
              <a:t>Local payment barrier</a:t>
            </a:r>
          </a:p>
        </p:txBody>
      </p:sp>
      <p:sp>
        <p:nvSpPr>
          <p:cNvPr id="14" name="TextBox 13">
            <a:extLst>
              <a:ext uri="{FF2B5EF4-FFF2-40B4-BE49-F238E27FC236}">
                <a16:creationId xmlns:a16="http://schemas.microsoft.com/office/drawing/2014/main" id="{19EC8FF4-BF54-678F-D566-B68FE365186B}"/>
              </a:ext>
            </a:extLst>
          </p:cNvPr>
          <p:cNvSpPr txBox="1"/>
          <p:nvPr/>
        </p:nvSpPr>
        <p:spPr>
          <a:xfrm>
            <a:off x="695960" y="3532009"/>
            <a:ext cx="2921000" cy="982980"/>
          </a:xfrm>
          <a:prstGeom prst="rect">
            <a:avLst/>
          </a:prstGeom>
          <a:noFill/>
        </p:spPr>
        <p:txBody>
          <a:bodyPr vert="horz" wrap="square" lIns="0" tIns="0" rIns="0" bIns="0" rtlCol="0" anchor="ctr">
            <a:noAutofit/>
          </a:bodyPr>
          <a:lstStyle/>
          <a:p>
            <a:r>
              <a:rPr lang="en-US" sz="1100" dirty="0">
                <a:solidFill>
                  <a:srgbClr val="566675"/>
                </a:solidFill>
                <a:latin typeface="Aptos" panose="020B0004020202020204" pitchFamily="34" charset="0"/>
              </a:rPr>
              <a:t>Many global platforms rely on international cards, which can exclude learners who depend on local cards or mobile money.</a:t>
            </a:r>
          </a:p>
        </p:txBody>
      </p:sp>
      <p:sp>
        <p:nvSpPr>
          <p:cNvPr id="15" name="Rectangle: Rounded Corners 14">
            <a:extLst>
              <a:ext uri="{FF2B5EF4-FFF2-40B4-BE49-F238E27FC236}">
                <a16:creationId xmlns:a16="http://schemas.microsoft.com/office/drawing/2014/main" id="{C1D86530-8F6A-569B-66AB-2151653B54DA}"/>
              </a:ext>
            </a:extLst>
          </p:cNvPr>
          <p:cNvSpPr/>
          <p:nvPr/>
        </p:nvSpPr>
        <p:spPr>
          <a:xfrm>
            <a:off x="4394200" y="2717800"/>
            <a:ext cx="3403600" cy="22098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C9D5EB5-3B7D-D788-CD03-3037B0702A90}"/>
              </a:ext>
            </a:extLst>
          </p:cNvPr>
          <p:cNvSpPr/>
          <p:nvPr/>
        </p:nvSpPr>
        <p:spPr>
          <a:xfrm>
            <a:off x="4394200" y="2717800"/>
            <a:ext cx="76200" cy="2209800"/>
          </a:xfrm>
          <a:prstGeom prst="rect">
            <a:avLst/>
          </a:prstGeom>
          <a:solidFill>
            <a:srgbClr val="E08E1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9448A3B-3570-0CC1-7EB6-F9E9A1966964}"/>
              </a:ext>
            </a:extLst>
          </p:cNvPr>
          <p:cNvSpPr txBox="1"/>
          <p:nvPr/>
        </p:nvSpPr>
        <p:spPr>
          <a:xfrm>
            <a:off x="4648200" y="2908300"/>
            <a:ext cx="381000" cy="276999"/>
          </a:xfrm>
          <a:prstGeom prst="rect">
            <a:avLst/>
          </a:prstGeom>
          <a:noFill/>
        </p:spPr>
        <p:txBody>
          <a:bodyPr vert="horz" wrap="square" lIns="0" tIns="0" rIns="0" bIns="0" rtlCol="0" anchor="ctr">
            <a:noAutofit/>
          </a:bodyPr>
          <a:lstStyle/>
          <a:p>
            <a:r>
              <a:rPr lang="en-US" sz="1400" b="1">
                <a:solidFill>
                  <a:srgbClr val="E08E14"/>
                </a:solidFill>
                <a:latin typeface="Aptos" panose="020B0004020202020204" pitchFamily="34" charset="0"/>
              </a:rPr>
              <a:t>02</a:t>
            </a:r>
          </a:p>
        </p:txBody>
      </p:sp>
      <p:sp>
        <p:nvSpPr>
          <p:cNvPr id="18" name="TextBox 17">
            <a:extLst>
              <a:ext uri="{FF2B5EF4-FFF2-40B4-BE49-F238E27FC236}">
                <a16:creationId xmlns:a16="http://schemas.microsoft.com/office/drawing/2014/main" id="{13E2B636-AA64-9171-5F95-BE8A0230909B}"/>
              </a:ext>
            </a:extLst>
          </p:cNvPr>
          <p:cNvSpPr txBox="1"/>
          <p:nvPr/>
        </p:nvSpPr>
        <p:spPr>
          <a:xfrm>
            <a:off x="4648200" y="3263900"/>
            <a:ext cx="29210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Weak content governance</a:t>
            </a:r>
          </a:p>
        </p:txBody>
      </p:sp>
      <p:sp>
        <p:nvSpPr>
          <p:cNvPr id="19" name="TextBox 18">
            <a:extLst>
              <a:ext uri="{FF2B5EF4-FFF2-40B4-BE49-F238E27FC236}">
                <a16:creationId xmlns:a16="http://schemas.microsoft.com/office/drawing/2014/main" id="{D6067829-70A5-9FB0-C71F-FF5A166A7545}"/>
              </a:ext>
            </a:extLst>
          </p:cNvPr>
          <p:cNvSpPr txBox="1"/>
          <p:nvPr/>
        </p:nvSpPr>
        <p:spPr>
          <a:xfrm>
            <a:off x="4648200" y="3771900"/>
            <a:ext cx="2921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Open marketplaces can allow unreviewed content to reach learners before a proper approval decision is made.</a:t>
            </a:r>
          </a:p>
        </p:txBody>
      </p:sp>
      <p:sp>
        <p:nvSpPr>
          <p:cNvPr id="20" name="Rectangle: Rounded Corners 19">
            <a:extLst>
              <a:ext uri="{FF2B5EF4-FFF2-40B4-BE49-F238E27FC236}">
                <a16:creationId xmlns:a16="http://schemas.microsoft.com/office/drawing/2014/main" id="{09827B56-EA3E-83DD-DC40-72AE58DFA0AD}"/>
              </a:ext>
            </a:extLst>
          </p:cNvPr>
          <p:cNvSpPr/>
          <p:nvPr/>
        </p:nvSpPr>
        <p:spPr>
          <a:xfrm>
            <a:off x="8255000" y="2717800"/>
            <a:ext cx="3403600" cy="22098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2784C7F-34AF-B002-6258-680F3B9DEB5B}"/>
              </a:ext>
            </a:extLst>
          </p:cNvPr>
          <p:cNvSpPr/>
          <p:nvPr/>
        </p:nvSpPr>
        <p:spPr>
          <a:xfrm>
            <a:off x="8255000" y="2717800"/>
            <a:ext cx="76200" cy="2209800"/>
          </a:xfrm>
          <a:prstGeom prst="rect">
            <a:avLst/>
          </a:prstGeom>
          <a:solidFill>
            <a:srgbClr val="C93F3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AEC3A94-7312-74D6-ADE2-859BC684BEC2}"/>
              </a:ext>
            </a:extLst>
          </p:cNvPr>
          <p:cNvSpPr txBox="1"/>
          <p:nvPr/>
        </p:nvSpPr>
        <p:spPr>
          <a:xfrm>
            <a:off x="8509000" y="2908300"/>
            <a:ext cx="381000" cy="276999"/>
          </a:xfrm>
          <a:prstGeom prst="rect">
            <a:avLst/>
          </a:prstGeom>
          <a:noFill/>
        </p:spPr>
        <p:txBody>
          <a:bodyPr vert="horz" wrap="square" lIns="0" tIns="0" rIns="0" bIns="0" rtlCol="0" anchor="ctr">
            <a:noAutofit/>
          </a:bodyPr>
          <a:lstStyle/>
          <a:p>
            <a:r>
              <a:rPr lang="en-US" sz="1400" b="1">
                <a:solidFill>
                  <a:srgbClr val="C93F3F"/>
                </a:solidFill>
                <a:latin typeface="Aptos" panose="020B0004020202020204" pitchFamily="34" charset="0"/>
              </a:rPr>
              <a:t>03</a:t>
            </a:r>
          </a:p>
        </p:txBody>
      </p:sp>
      <p:sp>
        <p:nvSpPr>
          <p:cNvPr id="23" name="TextBox 22">
            <a:extLst>
              <a:ext uri="{FF2B5EF4-FFF2-40B4-BE49-F238E27FC236}">
                <a16:creationId xmlns:a16="http://schemas.microsoft.com/office/drawing/2014/main" id="{B9B55282-A710-6E69-3114-58648780FE0C}"/>
              </a:ext>
            </a:extLst>
          </p:cNvPr>
          <p:cNvSpPr txBox="1"/>
          <p:nvPr/>
        </p:nvSpPr>
        <p:spPr>
          <a:xfrm>
            <a:off x="8509000" y="3263900"/>
            <a:ext cx="29210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Trust and security concerns</a:t>
            </a:r>
          </a:p>
        </p:txBody>
      </p:sp>
      <p:sp>
        <p:nvSpPr>
          <p:cNvPr id="24" name="TextBox 23">
            <a:extLst>
              <a:ext uri="{FF2B5EF4-FFF2-40B4-BE49-F238E27FC236}">
                <a16:creationId xmlns:a16="http://schemas.microsoft.com/office/drawing/2014/main" id="{94DDCB78-F4B9-CC95-FEAC-41AB281CD8D1}"/>
              </a:ext>
            </a:extLst>
          </p:cNvPr>
          <p:cNvSpPr txBox="1"/>
          <p:nvPr/>
        </p:nvSpPr>
        <p:spPr>
          <a:xfrm>
            <a:off x="8509000" y="3771900"/>
            <a:ext cx="2921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Weak account controls, unclear records, and poor payment handling discourage both learners and instructors.</a:t>
            </a:r>
          </a:p>
        </p:txBody>
      </p:sp>
      <p:sp>
        <p:nvSpPr>
          <p:cNvPr id="25" name="TextBox 24">
            <a:extLst>
              <a:ext uri="{FF2B5EF4-FFF2-40B4-BE49-F238E27FC236}">
                <a16:creationId xmlns:a16="http://schemas.microsoft.com/office/drawing/2014/main" id="{58B7DE39-9E5D-7288-6672-39FB6FCFAD5F}"/>
              </a:ext>
            </a:extLst>
          </p:cNvPr>
          <p:cNvSpPr txBox="1"/>
          <p:nvPr/>
        </p:nvSpPr>
        <p:spPr>
          <a:xfrm>
            <a:off x="533400" y="5410200"/>
            <a:ext cx="10795000" cy="276999"/>
          </a:xfrm>
          <a:prstGeom prst="rect">
            <a:avLst/>
          </a:prstGeom>
          <a:noFill/>
        </p:spPr>
        <p:txBody>
          <a:bodyPr vert="horz" wrap="square" lIns="0" tIns="0" rIns="0" bIns="0" rtlCol="0" anchor="ctr">
            <a:noAutofit/>
          </a:bodyPr>
          <a:lstStyle/>
          <a:p>
            <a:r>
              <a:rPr lang="en-US" sz="1500" b="1">
                <a:solidFill>
                  <a:srgbClr val="162330"/>
                </a:solidFill>
                <a:latin typeface="Aptos" panose="020B0004020202020204" pitchFamily="34" charset="0"/>
              </a:rPr>
              <a:t>Design question: Can one low-cost platform combine local payment, content approval, and secure role-based access?</a:t>
            </a:r>
          </a:p>
        </p:txBody>
      </p:sp>
    </p:spTree>
    <p:extLst>
      <p:ext uri="{BB962C8B-B14F-4D97-AF65-F5344CB8AC3E}">
        <p14:creationId xmlns:p14="http://schemas.microsoft.com/office/powerpoint/2010/main" val="3282303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8E53C8-1559-A0C9-E3CE-0336C1BD9870}"/>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6F9175A-9744-636A-235F-C999419E9EDC}"/>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Aim and Objectives</a:t>
            </a:r>
          </a:p>
        </p:txBody>
      </p:sp>
      <p:sp>
        <p:nvSpPr>
          <p:cNvPr id="4" name="TextBox 3">
            <a:extLst>
              <a:ext uri="{FF2B5EF4-FFF2-40B4-BE49-F238E27FC236}">
                <a16:creationId xmlns:a16="http://schemas.microsoft.com/office/drawing/2014/main" id="{9865E301-CB29-4FB9-8505-29E3BC41FDEC}"/>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What the project set out to achieve</a:t>
            </a:r>
          </a:p>
        </p:txBody>
      </p:sp>
      <p:cxnSp>
        <p:nvCxnSpPr>
          <p:cNvPr id="5" name="Straight Connector 4">
            <a:extLst>
              <a:ext uri="{FF2B5EF4-FFF2-40B4-BE49-F238E27FC236}">
                <a16:creationId xmlns:a16="http://schemas.microsoft.com/office/drawing/2014/main" id="{251E0BC6-9A33-3BE5-1680-C4E42F58E443}"/>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C5AA017-750B-AA08-60F9-FC1CFF5E741D}"/>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B850430C-637B-4E16-8217-AD580AFCD6DC}"/>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3</a:t>
            </a:r>
          </a:p>
        </p:txBody>
      </p:sp>
      <p:sp>
        <p:nvSpPr>
          <p:cNvPr id="8" name="Rectangle: Rounded Corners 7">
            <a:extLst>
              <a:ext uri="{FF2B5EF4-FFF2-40B4-BE49-F238E27FC236}">
                <a16:creationId xmlns:a16="http://schemas.microsoft.com/office/drawing/2014/main" id="{DC23946A-576A-298F-F476-1B1498DBA55E}"/>
              </a:ext>
            </a:extLst>
          </p:cNvPr>
          <p:cNvSpPr/>
          <p:nvPr/>
        </p:nvSpPr>
        <p:spPr>
          <a:xfrm>
            <a:off x="533400" y="1498600"/>
            <a:ext cx="4267200" cy="3937000"/>
          </a:xfrm>
          <a:prstGeom prst="roundRect">
            <a:avLst/>
          </a:prstGeom>
          <a:solidFill>
            <a:srgbClr val="0B1F3A"/>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BE713A6-379F-B6D1-D587-2226A34AACA4}"/>
              </a:ext>
            </a:extLst>
          </p:cNvPr>
          <p:cNvSpPr txBox="1"/>
          <p:nvPr/>
        </p:nvSpPr>
        <p:spPr>
          <a:xfrm>
            <a:off x="914400" y="1716901"/>
            <a:ext cx="3429000" cy="1851799"/>
          </a:xfrm>
          <a:prstGeom prst="rect">
            <a:avLst/>
          </a:prstGeom>
          <a:noFill/>
        </p:spPr>
        <p:txBody>
          <a:bodyPr vert="horz" wrap="square" lIns="0" tIns="0" rIns="0" bIns="0" rtlCol="0" anchor="ctr">
            <a:noAutofit/>
          </a:bodyPr>
          <a:lstStyle/>
          <a:p>
            <a:r>
              <a:rPr lang="en-US" sz="2500" b="1" dirty="0">
                <a:solidFill>
                  <a:srgbClr val="FFFFFF"/>
                </a:solidFill>
                <a:latin typeface="Aptos" panose="020B0004020202020204" pitchFamily="34" charset="0"/>
              </a:rPr>
              <a:t>To design and implement a secure web-based e-learning marketplace.</a:t>
            </a:r>
          </a:p>
        </p:txBody>
      </p:sp>
      <p:sp>
        <p:nvSpPr>
          <p:cNvPr id="11" name="TextBox 10">
            <a:extLst>
              <a:ext uri="{FF2B5EF4-FFF2-40B4-BE49-F238E27FC236}">
                <a16:creationId xmlns:a16="http://schemas.microsoft.com/office/drawing/2014/main" id="{6B12C241-2B95-1542-95A5-715333CEC0A1}"/>
              </a:ext>
            </a:extLst>
          </p:cNvPr>
          <p:cNvSpPr txBox="1"/>
          <p:nvPr/>
        </p:nvSpPr>
        <p:spPr>
          <a:xfrm>
            <a:off x="914400" y="3842950"/>
            <a:ext cx="3429000" cy="975499"/>
          </a:xfrm>
          <a:prstGeom prst="rect">
            <a:avLst/>
          </a:prstGeom>
          <a:noFill/>
        </p:spPr>
        <p:txBody>
          <a:bodyPr vert="horz" wrap="square" lIns="0" tIns="0" rIns="0" bIns="0" rtlCol="0" anchor="ctr">
            <a:noAutofit/>
          </a:bodyPr>
          <a:lstStyle/>
          <a:p>
            <a:r>
              <a:rPr lang="en-US" sz="1300" dirty="0">
                <a:solidFill>
                  <a:srgbClr val="E8F2FF"/>
                </a:solidFill>
                <a:latin typeface="Aptos" panose="020B0004020202020204" pitchFamily="34" charset="0"/>
              </a:rPr>
              <a:t>The platform supports role-based course management, local payment, automated assessment, and transparent revenue sharing.</a:t>
            </a:r>
          </a:p>
        </p:txBody>
      </p:sp>
      <p:sp>
        <p:nvSpPr>
          <p:cNvPr id="12" name="Oval 11">
            <a:extLst>
              <a:ext uri="{FF2B5EF4-FFF2-40B4-BE49-F238E27FC236}">
                <a16:creationId xmlns:a16="http://schemas.microsoft.com/office/drawing/2014/main" id="{8CCD6650-0ACB-7A13-EE65-B186C2A0E8A3}"/>
              </a:ext>
            </a:extLst>
          </p:cNvPr>
          <p:cNvSpPr/>
          <p:nvPr/>
        </p:nvSpPr>
        <p:spPr>
          <a:xfrm>
            <a:off x="5334000" y="1574800"/>
            <a:ext cx="406400" cy="406400"/>
          </a:xfrm>
          <a:prstGeom prst="ellipse">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41914C5-A8C1-BEF0-AC0E-3DD8864CF3EB}"/>
              </a:ext>
            </a:extLst>
          </p:cNvPr>
          <p:cNvSpPr txBox="1"/>
          <p:nvPr/>
        </p:nvSpPr>
        <p:spPr>
          <a:xfrm>
            <a:off x="5334000" y="1676400"/>
            <a:ext cx="40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1</a:t>
            </a:r>
          </a:p>
        </p:txBody>
      </p:sp>
      <p:sp>
        <p:nvSpPr>
          <p:cNvPr id="14" name="TextBox 13">
            <a:extLst>
              <a:ext uri="{FF2B5EF4-FFF2-40B4-BE49-F238E27FC236}">
                <a16:creationId xmlns:a16="http://schemas.microsoft.com/office/drawing/2014/main" id="{ACC663CF-C02C-AA39-7459-4E631CE03B0B}"/>
              </a:ext>
            </a:extLst>
          </p:cNvPr>
          <p:cNvSpPr txBox="1"/>
          <p:nvPr/>
        </p:nvSpPr>
        <p:spPr>
          <a:xfrm>
            <a:off x="5943600" y="1625600"/>
            <a:ext cx="5334000" cy="276999"/>
          </a:xfrm>
          <a:prstGeom prst="rect">
            <a:avLst/>
          </a:prstGeom>
          <a:noFill/>
        </p:spPr>
        <p:txBody>
          <a:bodyPr vert="horz" wrap="square" lIns="0" tIns="0" rIns="0" bIns="0" rtlCol="0" anchor="ctr">
            <a:noAutofit/>
          </a:bodyPr>
          <a:lstStyle/>
          <a:p>
            <a:r>
              <a:rPr lang="en-US" sz="1400" b="1">
                <a:solidFill>
                  <a:srgbClr val="162330"/>
                </a:solidFill>
                <a:latin typeface="Aptos" panose="020B0004020202020204" pitchFamily="34" charset="0"/>
              </a:rPr>
              <a:t>Separate student, instructor, and administrator privileges.</a:t>
            </a:r>
          </a:p>
        </p:txBody>
      </p:sp>
      <p:sp>
        <p:nvSpPr>
          <p:cNvPr id="15" name="Oval 14">
            <a:extLst>
              <a:ext uri="{FF2B5EF4-FFF2-40B4-BE49-F238E27FC236}">
                <a16:creationId xmlns:a16="http://schemas.microsoft.com/office/drawing/2014/main" id="{ED11468F-1E90-4BAF-71ED-7DF7945C8B4F}"/>
              </a:ext>
            </a:extLst>
          </p:cNvPr>
          <p:cNvSpPr/>
          <p:nvPr/>
        </p:nvSpPr>
        <p:spPr>
          <a:xfrm>
            <a:off x="5334000" y="2336800"/>
            <a:ext cx="406400" cy="406400"/>
          </a:xfrm>
          <a:prstGeom prst="ellipse">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F6B917E-45F2-7EAB-55EF-16CAF1C94D4D}"/>
              </a:ext>
            </a:extLst>
          </p:cNvPr>
          <p:cNvSpPr txBox="1"/>
          <p:nvPr/>
        </p:nvSpPr>
        <p:spPr>
          <a:xfrm>
            <a:off x="5334000" y="2438400"/>
            <a:ext cx="40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2</a:t>
            </a:r>
          </a:p>
        </p:txBody>
      </p:sp>
      <p:sp>
        <p:nvSpPr>
          <p:cNvPr id="17" name="TextBox 16">
            <a:extLst>
              <a:ext uri="{FF2B5EF4-FFF2-40B4-BE49-F238E27FC236}">
                <a16:creationId xmlns:a16="http://schemas.microsoft.com/office/drawing/2014/main" id="{7E6A50F0-106D-98E4-4F5B-28A8EAF01877}"/>
              </a:ext>
            </a:extLst>
          </p:cNvPr>
          <p:cNvSpPr txBox="1"/>
          <p:nvPr/>
        </p:nvSpPr>
        <p:spPr>
          <a:xfrm>
            <a:off x="5943600" y="2387600"/>
            <a:ext cx="5334000" cy="276999"/>
          </a:xfrm>
          <a:prstGeom prst="rect">
            <a:avLst/>
          </a:prstGeom>
          <a:noFill/>
        </p:spPr>
        <p:txBody>
          <a:bodyPr vert="horz" wrap="square" lIns="0" tIns="0" rIns="0" bIns="0" rtlCol="0" anchor="ctr">
            <a:noAutofit/>
          </a:bodyPr>
          <a:lstStyle/>
          <a:p>
            <a:r>
              <a:rPr lang="en-US" sz="1400" b="1">
                <a:solidFill>
                  <a:srgbClr val="162330"/>
                </a:solidFill>
                <a:latin typeface="Aptos" panose="020B0004020202020204" pitchFamily="34" charset="0"/>
              </a:rPr>
              <a:t>Support course creation, review, approval, and publication.</a:t>
            </a:r>
          </a:p>
        </p:txBody>
      </p:sp>
      <p:sp>
        <p:nvSpPr>
          <p:cNvPr id="18" name="Oval 17">
            <a:extLst>
              <a:ext uri="{FF2B5EF4-FFF2-40B4-BE49-F238E27FC236}">
                <a16:creationId xmlns:a16="http://schemas.microsoft.com/office/drawing/2014/main" id="{DB47D908-7B0B-409B-A068-F8585AC74FB4}"/>
              </a:ext>
            </a:extLst>
          </p:cNvPr>
          <p:cNvSpPr/>
          <p:nvPr/>
        </p:nvSpPr>
        <p:spPr>
          <a:xfrm>
            <a:off x="5334000" y="3098800"/>
            <a:ext cx="406400" cy="406400"/>
          </a:xfrm>
          <a:prstGeom prst="ellipse">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1F15FAF-2EA9-36E2-FB6E-07C770D74C46}"/>
              </a:ext>
            </a:extLst>
          </p:cNvPr>
          <p:cNvSpPr txBox="1"/>
          <p:nvPr/>
        </p:nvSpPr>
        <p:spPr>
          <a:xfrm>
            <a:off x="5334000" y="3200400"/>
            <a:ext cx="40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3</a:t>
            </a:r>
          </a:p>
        </p:txBody>
      </p:sp>
      <p:sp>
        <p:nvSpPr>
          <p:cNvPr id="20" name="TextBox 19">
            <a:extLst>
              <a:ext uri="{FF2B5EF4-FFF2-40B4-BE49-F238E27FC236}">
                <a16:creationId xmlns:a16="http://schemas.microsoft.com/office/drawing/2014/main" id="{4D6DD596-8CEE-31A8-6371-74CDA8889C42}"/>
              </a:ext>
            </a:extLst>
          </p:cNvPr>
          <p:cNvSpPr txBox="1"/>
          <p:nvPr/>
        </p:nvSpPr>
        <p:spPr>
          <a:xfrm>
            <a:off x="5943600" y="3149600"/>
            <a:ext cx="5334000" cy="276999"/>
          </a:xfrm>
          <a:prstGeom prst="rect">
            <a:avLst/>
          </a:prstGeom>
          <a:noFill/>
        </p:spPr>
        <p:txBody>
          <a:bodyPr vert="horz" wrap="square" lIns="0" tIns="0" rIns="0" bIns="0" rtlCol="0" anchor="ctr">
            <a:noAutofit/>
          </a:bodyPr>
          <a:lstStyle/>
          <a:p>
            <a:r>
              <a:rPr lang="en-US" sz="1400" b="1">
                <a:solidFill>
                  <a:srgbClr val="162330"/>
                </a:solidFill>
                <a:latin typeface="Aptos" panose="020B0004020202020204" pitchFamily="34" charset="0"/>
              </a:rPr>
              <a:t>Protect accounts through secure authentication and audit logs.</a:t>
            </a:r>
          </a:p>
        </p:txBody>
      </p:sp>
      <p:sp>
        <p:nvSpPr>
          <p:cNvPr id="21" name="Oval 20">
            <a:extLst>
              <a:ext uri="{FF2B5EF4-FFF2-40B4-BE49-F238E27FC236}">
                <a16:creationId xmlns:a16="http://schemas.microsoft.com/office/drawing/2014/main" id="{513E09F4-B440-686B-AB76-EC4B46CADAE8}"/>
              </a:ext>
            </a:extLst>
          </p:cNvPr>
          <p:cNvSpPr/>
          <p:nvPr/>
        </p:nvSpPr>
        <p:spPr>
          <a:xfrm>
            <a:off x="5334000" y="3860800"/>
            <a:ext cx="406400" cy="406400"/>
          </a:xfrm>
          <a:prstGeom prst="ellipse">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21EC278-1DB7-9653-AB6D-F8E453956E09}"/>
              </a:ext>
            </a:extLst>
          </p:cNvPr>
          <p:cNvSpPr txBox="1"/>
          <p:nvPr/>
        </p:nvSpPr>
        <p:spPr>
          <a:xfrm>
            <a:off x="5334000" y="3962400"/>
            <a:ext cx="40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4</a:t>
            </a:r>
          </a:p>
        </p:txBody>
      </p:sp>
      <p:sp>
        <p:nvSpPr>
          <p:cNvPr id="23" name="TextBox 22">
            <a:extLst>
              <a:ext uri="{FF2B5EF4-FFF2-40B4-BE49-F238E27FC236}">
                <a16:creationId xmlns:a16="http://schemas.microsoft.com/office/drawing/2014/main" id="{9031F972-0157-C871-A18B-9C9A761E1283}"/>
              </a:ext>
            </a:extLst>
          </p:cNvPr>
          <p:cNvSpPr txBox="1"/>
          <p:nvPr/>
        </p:nvSpPr>
        <p:spPr>
          <a:xfrm>
            <a:off x="5943600" y="3911600"/>
            <a:ext cx="5334000" cy="276999"/>
          </a:xfrm>
          <a:prstGeom prst="rect">
            <a:avLst/>
          </a:prstGeom>
          <a:noFill/>
        </p:spPr>
        <p:txBody>
          <a:bodyPr vert="horz" wrap="square" lIns="0" tIns="0" rIns="0" bIns="0" rtlCol="0" anchor="ctr">
            <a:noAutofit/>
          </a:bodyPr>
          <a:lstStyle/>
          <a:p>
            <a:r>
              <a:rPr lang="en-US" sz="1400" b="1">
                <a:solidFill>
                  <a:srgbClr val="162330"/>
                </a:solidFill>
                <a:latin typeface="Aptos" panose="020B0004020202020204" pitchFamily="34" charset="0"/>
              </a:rPr>
              <a:t>Enable free and paid enrolment with automatic revenue sharing.</a:t>
            </a:r>
          </a:p>
        </p:txBody>
      </p:sp>
      <p:sp>
        <p:nvSpPr>
          <p:cNvPr id="24" name="Oval 23">
            <a:extLst>
              <a:ext uri="{FF2B5EF4-FFF2-40B4-BE49-F238E27FC236}">
                <a16:creationId xmlns:a16="http://schemas.microsoft.com/office/drawing/2014/main" id="{466BC74F-4EB0-E6A8-A112-0604A009D416}"/>
              </a:ext>
            </a:extLst>
          </p:cNvPr>
          <p:cNvSpPr/>
          <p:nvPr/>
        </p:nvSpPr>
        <p:spPr>
          <a:xfrm>
            <a:off x="5334000" y="4622800"/>
            <a:ext cx="406400" cy="406400"/>
          </a:xfrm>
          <a:prstGeom prst="ellipse">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6B6132D-8824-50BC-5CDA-A78398E6A798}"/>
              </a:ext>
            </a:extLst>
          </p:cNvPr>
          <p:cNvSpPr txBox="1"/>
          <p:nvPr/>
        </p:nvSpPr>
        <p:spPr>
          <a:xfrm>
            <a:off x="5334000" y="4724400"/>
            <a:ext cx="40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5</a:t>
            </a:r>
          </a:p>
        </p:txBody>
      </p:sp>
      <p:sp>
        <p:nvSpPr>
          <p:cNvPr id="26" name="TextBox 25">
            <a:extLst>
              <a:ext uri="{FF2B5EF4-FFF2-40B4-BE49-F238E27FC236}">
                <a16:creationId xmlns:a16="http://schemas.microsoft.com/office/drawing/2014/main" id="{C1FB275D-16DD-BA52-5EBD-4E406DADE958}"/>
              </a:ext>
            </a:extLst>
          </p:cNvPr>
          <p:cNvSpPr txBox="1"/>
          <p:nvPr/>
        </p:nvSpPr>
        <p:spPr>
          <a:xfrm>
            <a:off x="5943600" y="4673600"/>
            <a:ext cx="5334000" cy="276999"/>
          </a:xfrm>
          <a:prstGeom prst="rect">
            <a:avLst/>
          </a:prstGeom>
          <a:noFill/>
        </p:spPr>
        <p:txBody>
          <a:bodyPr vert="horz" wrap="square" lIns="0" tIns="0" rIns="0" bIns="0" rtlCol="0" anchor="ctr">
            <a:noAutofit/>
          </a:bodyPr>
          <a:lstStyle/>
          <a:p>
            <a:r>
              <a:rPr lang="en-US" sz="1400" b="1">
                <a:solidFill>
                  <a:srgbClr val="162330"/>
                </a:solidFill>
                <a:latin typeface="Aptos" panose="020B0004020202020204" pitchFamily="34" charset="0"/>
              </a:rPr>
              <a:t>Provide timed quizzes, automatic grading, and progress tracking.</a:t>
            </a:r>
          </a:p>
        </p:txBody>
      </p:sp>
    </p:spTree>
    <p:extLst>
      <p:ext uri="{BB962C8B-B14F-4D97-AF65-F5344CB8AC3E}">
        <p14:creationId xmlns:p14="http://schemas.microsoft.com/office/powerpoint/2010/main" val="2566855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06E087-4C3B-5D2C-F5FF-CC62EF8CDED3}"/>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4A478EF-7763-BC8D-E9F7-B9E96BB360E6}"/>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Proposed Solution</a:t>
            </a:r>
          </a:p>
        </p:txBody>
      </p:sp>
      <p:sp>
        <p:nvSpPr>
          <p:cNvPr id="4" name="TextBox 3">
            <a:extLst>
              <a:ext uri="{FF2B5EF4-FFF2-40B4-BE49-F238E27FC236}">
                <a16:creationId xmlns:a16="http://schemas.microsoft.com/office/drawing/2014/main" id="{C9F54075-8B3A-F8D7-2B30-682F5A0CBB87}"/>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One platform, three roles, controlled access</a:t>
            </a:r>
          </a:p>
        </p:txBody>
      </p:sp>
      <p:cxnSp>
        <p:nvCxnSpPr>
          <p:cNvPr id="5" name="Straight Connector 4">
            <a:extLst>
              <a:ext uri="{FF2B5EF4-FFF2-40B4-BE49-F238E27FC236}">
                <a16:creationId xmlns:a16="http://schemas.microsoft.com/office/drawing/2014/main" id="{7D567926-1B9F-F5C4-BBA5-D7E6DCD046E0}"/>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7BA8014-EB24-7A02-5A0D-77F4C071D869}"/>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33B731E8-87B4-9DE9-43AC-8C0EC2A87014}"/>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4</a:t>
            </a:r>
          </a:p>
        </p:txBody>
      </p:sp>
      <p:sp>
        <p:nvSpPr>
          <p:cNvPr id="8" name="Rectangle: Rounded Corners 7">
            <a:extLst>
              <a:ext uri="{FF2B5EF4-FFF2-40B4-BE49-F238E27FC236}">
                <a16:creationId xmlns:a16="http://schemas.microsoft.com/office/drawing/2014/main" id="{6D2F0CBF-D938-304C-7C32-D64FE3E959B7}"/>
              </a:ext>
            </a:extLst>
          </p:cNvPr>
          <p:cNvSpPr/>
          <p:nvPr/>
        </p:nvSpPr>
        <p:spPr>
          <a:xfrm>
            <a:off x="533400" y="1676400"/>
            <a:ext cx="3403600" cy="30226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0351072-D653-7986-DB87-1305371EF739}"/>
              </a:ext>
            </a:extLst>
          </p:cNvPr>
          <p:cNvSpPr/>
          <p:nvPr/>
        </p:nvSpPr>
        <p:spPr>
          <a:xfrm>
            <a:off x="787400" y="1943100"/>
            <a:ext cx="558800" cy="558800"/>
          </a:xfrm>
          <a:prstGeom prst="ellipse">
            <a:avLst/>
          </a:prstGeom>
          <a:solidFill>
            <a:srgbClr val="0964DA"/>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527D622-15F6-BD59-A342-0765B50BCA03}"/>
              </a:ext>
            </a:extLst>
          </p:cNvPr>
          <p:cNvSpPr txBox="1"/>
          <p:nvPr/>
        </p:nvSpPr>
        <p:spPr>
          <a:xfrm>
            <a:off x="787400" y="2120900"/>
            <a:ext cx="558800" cy="276999"/>
          </a:xfrm>
          <a:prstGeom prst="rect">
            <a:avLst/>
          </a:prstGeom>
          <a:noFill/>
        </p:spPr>
        <p:txBody>
          <a:bodyPr vert="horz" wrap="square" lIns="0" tIns="0" rIns="0" bIns="0" rtlCol="0" anchor="ctr">
            <a:noAutofit/>
          </a:bodyPr>
          <a:lstStyle/>
          <a:p>
            <a:pPr algn="ctr"/>
            <a:r>
              <a:rPr lang="en-US" sz="1300" b="1">
                <a:solidFill>
                  <a:srgbClr val="FFFFFF"/>
                </a:solidFill>
                <a:latin typeface="Aptos" panose="020B0004020202020204" pitchFamily="34" charset="0"/>
              </a:rPr>
              <a:t>1</a:t>
            </a:r>
          </a:p>
        </p:txBody>
      </p:sp>
      <p:sp>
        <p:nvSpPr>
          <p:cNvPr id="11" name="TextBox 10">
            <a:extLst>
              <a:ext uri="{FF2B5EF4-FFF2-40B4-BE49-F238E27FC236}">
                <a16:creationId xmlns:a16="http://schemas.microsoft.com/office/drawing/2014/main" id="{1B0FBE2D-7595-EF05-A172-90ABC6D4D3F4}"/>
              </a:ext>
            </a:extLst>
          </p:cNvPr>
          <p:cNvSpPr txBox="1"/>
          <p:nvPr/>
        </p:nvSpPr>
        <p:spPr>
          <a:xfrm>
            <a:off x="787400" y="2768600"/>
            <a:ext cx="28956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STUDENT</a:t>
            </a:r>
          </a:p>
        </p:txBody>
      </p:sp>
      <p:sp>
        <p:nvSpPr>
          <p:cNvPr id="12" name="TextBox 11">
            <a:extLst>
              <a:ext uri="{FF2B5EF4-FFF2-40B4-BE49-F238E27FC236}">
                <a16:creationId xmlns:a16="http://schemas.microsoft.com/office/drawing/2014/main" id="{FF07DCDE-5753-C042-ACC8-FE24362586CB}"/>
              </a:ext>
            </a:extLst>
          </p:cNvPr>
          <p:cNvSpPr txBox="1"/>
          <p:nvPr/>
        </p:nvSpPr>
        <p:spPr>
          <a:xfrm>
            <a:off x="787400" y="3225800"/>
            <a:ext cx="2844800" cy="276999"/>
          </a:xfrm>
          <a:prstGeom prst="rect">
            <a:avLst/>
          </a:prstGeom>
          <a:noFill/>
        </p:spPr>
        <p:txBody>
          <a:bodyPr vert="horz" wrap="square" lIns="0" tIns="0" rIns="0" bIns="0" rtlCol="0" anchor="ctr">
            <a:noAutofit/>
          </a:bodyPr>
          <a:lstStyle/>
          <a:p>
            <a:r>
              <a:rPr lang="en-US" sz="1200">
                <a:solidFill>
                  <a:srgbClr val="566675"/>
                </a:solidFill>
                <a:latin typeface="Aptos" panose="020B0004020202020204" pitchFamily="34" charset="0"/>
              </a:rPr>
              <a:t>Browse approved courses
Enrol, learn and track progress
Take quizzes, review and message</a:t>
            </a:r>
          </a:p>
        </p:txBody>
      </p:sp>
      <p:sp>
        <p:nvSpPr>
          <p:cNvPr id="13" name="Rectangle: Rounded Corners 12">
            <a:extLst>
              <a:ext uri="{FF2B5EF4-FFF2-40B4-BE49-F238E27FC236}">
                <a16:creationId xmlns:a16="http://schemas.microsoft.com/office/drawing/2014/main" id="{F98E09AE-2148-7ABE-034A-6E5D9001C9A8}"/>
              </a:ext>
            </a:extLst>
          </p:cNvPr>
          <p:cNvSpPr/>
          <p:nvPr/>
        </p:nvSpPr>
        <p:spPr>
          <a:xfrm>
            <a:off x="4318000" y="1676400"/>
            <a:ext cx="3403600" cy="30226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BCFE450-DF93-14D3-3CD1-810F77862758}"/>
              </a:ext>
            </a:extLst>
          </p:cNvPr>
          <p:cNvSpPr/>
          <p:nvPr/>
        </p:nvSpPr>
        <p:spPr>
          <a:xfrm>
            <a:off x="4572000" y="1943100"/>
            <a:ext cx="558800" cy="558800"/>
          </a:xfrm>
          <a:prstGeom prst="ellipse">
            <a:avLst/>
          </a:prstGeom>
          <a:solidFill>
            <a:srgbClr val="148E66"/>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FF6E499-1942-A830-5997-8A748DC54D93}"/>
              </a:ext>
            </a:extLst>
          </p:cNvPr>
          <p:cNvSpPr txBox="1"/>
          <p:nvPr/>
        </p:nvSpPr>
        <p:spPr>
          <a:xfrm>
            <a:off x="4572000" y="2120900"/>
            <a:ext cx="558800" cy="276999"/>
          </a:xfrm>
          <a:prstGeom prst="rect">
            <a:avLst/>
          </a:prstGeom>
          <a:noFill/>
        </p:spPr>
        <p:txBody>
          <a:bodyPr vert="horz" wrap="square" lIns="0" tIns="0" rIns="0" bIns="0" rtlCol="0" anchor="ctr">
            <a:noAutofit/>
          </a:bodyPr>
          <a:lstStyle/>
          <a:p>
            <a:pPr algn="ctr"/>
            <a:r>
              <a:rPr lang="en-US" sz="1300" b="1">
                <a:solidFill>
                  <a:srgbClr val="FFFFFF"/>
                </a:solidFill>
                <a:latin typeface="Aptos" panose="020B0004020202020204" pitchFamily="34" charset="0"/>
              </a:rPr>
              <a:t>2</a:t>
            </a:r>
          </a:p>
        </p:txBody>
      </p:sp>
      <p:sp>
        <p:nvSpPr>
          <p:cNvPr id="16" name="TextBox 15">
            <a:extLst>
              <a:ext uri="{FF2B5EF4-FFF2-40B4-BE49-F238E27FC236}">
                <a16:creationId xmlns:a16="http://schemas.microsoft.com/office/drawing/2014/main" id="{295CEB2F-26F7-2E9C-FF89-626683ABB6E9}"/>
              </a:ext>
            </a:extLst>
          </p:cNvPr>
          <p:cNvSpPr txBox="1"/>
          <p:nvPr/>
        </p:nvSpPr>
        <p:spPr>
          <a:xfrm>
            <a:off x="4572000" y="2768600"/>
            <a:ext cx="28956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INSTRUCTOR</a:t>
            </a:r>
          </a:p>
        </p:txBody>
      </p:sp>
      <p:sp>
        <p:nvSpPr>
          <p:cNvPr id="17" name="TextBox 16">
            <a:extLst>
              <a:ext uri="{FF2B5EF4-FFF2-40B4-BE49-F238E27FC236}">
                <a16:creationId xmlns:a16="http://schemas.microsoft.com/office/drawing/2014/main" id="{4323576C-B117-502F-5BA4-C10C45F96765}"/>
              </a:ext>
            </a:extLst>
          </p:cNvPr>
          <p:cNvSpPr txBox="1"/>
          <p:nvPr/>
        </p:nvSpPr>
        <p:spPr>
          <a:xfrm>
            <a:off x="4572000" y="3225800"/>
            <a:ext cx="2844800" cy="276999"/>
          </a:xfrm>
          <a:prstGeom prst="rect">
            <a:avLst/>
          </a:prstGeom>
          <a:noFill/>
        </p:spPr>
        <p:txBody>
          <a:bodyPr vert="horz" wrap="square" lIns="0" tIns="0" rIns="0" bIns="0" rtlCol="0" anchor="ctr">
            <a:noAutofit/>
          </a:bodyPr>
          <a:lstStyle/>
          <a:p>
            <a:r>
              <a:rPr lang="en-US" sz="1200">
                <a:solidFill>
                  <a:srgbClr val="566675"/>
                </a:solidFill>
                <a:latin typeface="Aptos" panose="020B0004020202020204" pitchFamily="34" charset="0"/>
              </a:rPr>
              <a:t>Apply for approval
Create courses and assessments
View earnings and request withdrawals</a:t>
            </a:r>
          </a:p>
        </p:txBody>
      </p:sp>
      <p:sp>
        <p:nvSpPr>
          <p:cNvPr id="18" name="Rectangle: Rounded Corners 17">
            <a:extLst>
              <a:ext uri="{FF2B5EF4-FFF2-40B4-BE49-F238E27FC236}">
                <a16:creationId xmlns:a16="http://schemas.microsoft.com/office/drawing/2014/main" id="{906B65CA-37D8-2853-2BCF-514A17348B6C}"/>
              </a:ext>
            </a:extLst>
          </p:cNvPr>
          <p:cNvSpPr/>
          <p:nvPr/>
        </p:nvSpPr>
        <p:spPr>
          <a:xfrm>
            <a:off x="8102600" y="1676400"/>
            <a:ext cx="3403600" cy="30226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522CB41-CE08-880A-294A-C08B3482FC9B}"/>
              </a:ext>
            </a:extLst>
          </p:cNvPr>
          <p:cNvSpPr/>
          <p:nvPr/>
        </p:nvSpPr>
        <p:spPr>
          <a:xfrm>
            <a:off x="8356600" y="1943100"/>
            <a:ext cx="558800" cy="558800"/>
          </a:xfrm>
          <a:prstGeom prst="ellipse">
            <a:avLst/>
          </a:prstGeom>
          <a:solidFill>
            <a:srgbClr val="E08E14"/>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E4D0ADD-D557-EC90-1293-8F7D3F40D41A}"/>
              </a:ext>
            </a:extLst>
          </p:cNvPr>
          <p:cNvSpPr txBox="1"/>
          <p:nvPr/>
        </p:nvSpPr>
        <p:spPr>
          <a:xfrm>
            <a:off x="8356600" y="2120900"/>
            <a:ext cx="558800" cy="276999"/>
          </a:xfrm>
          <a:prstGeom prst="rect">
            <a:avLst/>
          </a:prstGeom>
          <a:noFill/>
        </p:spPr>
        <p:txBody>
          <a:bodyPr vert="horz" wrap="square" lIns="0" tIns="0" rIns="0" bIns="0" rtlCol="0" anchor="ctr">
            <a:noAutofit/>
          </a:bodyPr>
          <a:lstStyle/>
          <a:p>
            <a:pPr algn="ctr"/>
            <a:r>
              <a:rPr lang="en-US" sz="1300" b="1">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5100F84C-3562-B49D-8624-83BE4B387778}"/>
              </a:ext>
            </a:extLst>
          </p:cNvPr>
          <p:cNvSpPr txBox="1"/>
          <p:nvPr/>
        </p:nvSpPr>
        <p:spPr>
          <a:xfrm>
            <a:off x="8356600" y="2768600"/>
            <a:ext cx="28956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ADMINISTRATOR</a:t>
            </a:r>
          </a:p>
        </p:txBody>
      </p:sp>
      <p:sp>
        <p:nvSpPr>
          <p:cNvPr id="22" name="TextBox 21">
            <a:extLst>
              <a:ext uri="{FF2B5EF4-FFF2-40B4-BE49-F238E27FC236}">
                <a16:creationId xmlns:a16="http://schemas.microsoft.com/office/drawing/2014/main" id="{030065E0-EE27-4D59-69A0-FF588D0732A2}"/>
              </a:ext>
            </a:extLst>
          </p:cNvPr>
          <p:cNvSpPr txBox="1"/>
          <p:nvPr/>
        </p:nvSpPr>
        <p:spPr>
          <a:xfrm>
            <a:off x="8356600" y="3225800"/>
            <a:ext cx="2844800" cy="276999"/>
          </a:xfrm>
          <a:prstGeom prst="rect">
            <a:avLst/>
          </a:prstGeom>
          <a:noFill/>
        </p:spPr>
        <p:txBody>
          <a:bodyPr vert="horz" wrap="square" lIns="0" tIns="0" rIns="0" bIns="0" rtlCol="0" anchor="ctr">
            <a:noAutofit/>
          </a:bodyPr>
          <a:lstStyle/>
          <a:p>
            <a:r>
              <a:rPr lang="en-US" sz="1200">
                <a:solidFill>
                  <a:srgbClr val="566675"/>
                </a:solidFill>
                <a:latin typeface="Aptos" panose="020B0004020202020204" pitchFamily="34" charset="0"/>
              </a:rPr>
              <a:t>Approve instructors and courses
Manage users and withdrawals
Monitor analytics and audit logs</a:t>
            </a:r>
          </a:p>
        </p:txBody>
      </p:sp>
      <p:sp>
        <p:nvSpPr>
          <p:cNvPr id="23" name="TextBox 22">
            <a:extLst>
              <a:ext uri="{FF2B5EF4-FFF2-40B4-BE49-F238E27FC236}">
                <a16:creationId xmlns:a16="http://schemas.microsoft.com/office/drawing/2014/main" id="{D3D82CCB-4830-B9EF-6189-5B454B09C394}"/>
              </a:ext>
            </a:extLst>
          </p:cNvPr>
          <p:cNvSpPr txBox="1"/>
          <p:nvPr/>
        </p:nvSpPr>
        <p:spPr>
          <a:xfrm>
            <a:off x="533400" y="5207000"/>
            <a:ext cx="1397000" cy="276999"/>
          </a:xfrm>
          <a:prstGeom prst="rect">
            <a:avLst/>
          </a:prstGeom>
          <a:noFill/>
        </p:spPr>
        <p:txBody>
          <a:bodyPr vert="horz" wrap="square" lIns="0" tIns="0" rIns="0" bIns="0" rtlCol="0" anchor="ctr">
            <a:noAutofit/>
          </a:bodyPr>
          <a:lstStyle/>
          <a:p>
            <a:r>
              <a:rPr lang="en-US" sz="1100" b="1">
                <a:solidFill>
                  <a:srgbClr val="0964DA"/>
                </a:solidFill>
                <a:latin typeface="Aptos" panose="020B0004020202020204" pitchFamily="34" charset="0"/>
              </a:rPr>
              <a:t>Core journey</a:t>
            </a:r>
          </a:p>
        </p:txBody>
      </p:sp>
      <p:sp>
        <p:nvSpPr>
          <p:cNvPr id="24" name="Rectangle: Rounded Corners 23">
            <a:extLst>
              <a:ext uri="{FF2B5EF4-FFF2-40B4-BE49-F238E27FC236}">
                <a16:creationId xmlns:a16="http://schemas.microsoft.com/office/drawing/2014/main" id="{A2347F28-B363-31DF-FF72-30E5372358D1}"/>
              </a:ext>
            </a:extLst>
          </p:cNvPr>
          <p:cNvSpPr/>
          <p:nvPr/>
        </p:nvSpPr>
        <p:spPr>
          <a:xfrm>
            <a:off x="533400" y="5562600"/>
            <a:ext cx="16764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FBB27DE-624C-9A8D-C140-12CE189F63E2}"/>
              </a:ext>
            </a:extLst>
          </p:cNvPr>
          <p:cNvSpPr txBox="1"/>
          <p:nvPr/>
        </p:nvSpPr>
        <p:spPr>
          <a:xfrm>
            <a:off x="533400" y="5676900"/>
            <a:ext cx="167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Create account</a:t>
            </a:r>
          </a:p>
        </p:txBody>
      </p:sp>
      <p:cxnSp>
        <p:nvCxnSpPr>
          <p:cNvPr id="26" name="Straight Connector 25">
            <a:extLst>
              <a:ext uri="{FF2B5EF4-FFF2-40B4-BE49-F238E27FC236}">
                <a16:creationId xmlns:a16="http://schemas.microsoft.com/office/drawing/2014/main" id="{6F6981BB-D8B7-C36B-44A2-935D5A0E71C9}"/>
              </a:ext>
            </a:extLst>
          </p:cNvPr>
          <p:cNvCxnSpPr/>
          <p:nvPr/>
        </p:nvCxnSpPr>
        <p:spPr>
          <a:xfrm>
            <a:off x="2260600" y="5803900"/>
            <a:ext cx="3429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59FCE830-C227-A9E4-B79D-0B2AD448B03F}"/>
              </a:ext>
            </a:extLst>
          </p:cNvPr>
          <p:cNvSpPr/>
          <p:nvPr/>
        </p:nvSpPr>
        <p:spPr>
          <a:xfrm>
            <a:off x="2667000" y="5562600"/>
            <a:ext cx="16764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B8A863C-6039-A39B-F31F-A20F35637A43}"/>
              </a:ext>
            </a:extLst>
          </p:cNvPr>
          <p:cNvSpPr txBox="1"/>
          <p:nvPr/>
        </p:nvSpPr>
        <p:spPr>
          <a:xfrm>
            <a:off x="2667000" y="5676900"/>
            <a:ext cx="167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Approved course</a:t>
            </a:r>
          </a:p>
        </p:txBody>
      </p:sp>
      <p:cxnSp>
        <p:nvCxnSpPr>
          <p:cNvPr id="29" name="Straight Connector 28">
            <a:extLst>
              <a:ext uri="{FF2B5EF4-FFF2-40B4-BE49-F238E27FC236}">
                <a16:creationId xmlns:a16="http://schemas.microsoft.com/office/drawing/2014/main" id="{4BF59F3D-987E-85C0-C022-BBFC59038472}"/>
              </a:ext>
            </a:extLst>
          </p:cNvPr>
          <p:cNvCxnSpPr/>
          <p:nvPr/>
        </p:nvCxnSpPr>
        <p:spPr>
          <a:xfrm>
            <a:off x="4394200" y="5803900"/>
            <a:ext cx="3429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FB55829C-B808-D536-5AFD-F6CEE2257946}"/>
              </a:ext>
            </a:extLst>
          </p:cNvPr>
          <p:cNvSpPr/>
          <p:nvPr/>
        </p:nvSpPr>
        <p:spPr>
          <a:xfrm>
            <a:off x="4800600" y="5562600"/>
            <a:ext cx="16764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FBF10A1-96C4-23D6-F064-4F39519B64A8}"/>
              </a:ext>
            </a:extLst>
          </p:cNvPr>
          <p:cNvSpPr txBox="1"/>
          <p:nvPr/>
        </p:nvSpPr>
        <p:spPr>
          <a:xfrm>
            <a:off x="4800600" y="5676900"/>
            <a:ext cx="167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Enrol &amp; pay</a:t>
            </a:r>
          </a:p>
        </p:txBody>
      </p:sp>
      <p:cxnSp>
        <p:nvCxnSpPr>
          <p:cNvPr id="32" name="Straight Connector 31">
            <a:extLst>
              <a:ext uri="{FF2B5EF4-FFF2-40B4-BE49-F238E27FC236}">
                <a16:creationId xmlns:a16="http://schemas.microsoft.com/office/drawing/2014/main" id="{1C26A362-6BB6-D5F7-6325-00B669B35049}"/>
              </a:ext>
            </a:extLst>
          </p:cNvPr>
          <p:cNvCxnSpPr/>
          <p:nvPr/>
        </p:nvCxnSpPr>
        <p:spPr>
          <a:xfrm>
            <a:off x="6527800" y="5803900"/>
            <a:ext cx="3429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113C9A85-60CE-2841-F83B-C7A95AF117E9}"/>
              </a:ext>
            </a:extLst>
          </p:cNvPr>
          <p:cNvSpPr/>
          <p:nvPr/>
        </p:nvSpPr>
        <p:spPr>
          <a:xfrm>
            <a:off x="6934200" y="5562600"/>
            <a:ext cx="16764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E4CF328-E276-112F-66DB-96F6A8E53775}"/>
              </a:ext>
            </a:extLst>
          </p:cNvPr>
          <p:cNvSpPr txBox="1"/>
          <p:nvPr/>
        </p:nvSpPr>
        <p:spPr>
          <a:xfrm>
            <a:off x="6934200" y="5676900"/>
            <a:ext cx="167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Learn &amp; assess</a:t>
            </a:r>
          </a:p>
        </p:txBody>
      </p:sp>
      <p:cxnSp>
        <p:nvCxnSpPr>
          <p:cNvPr id="35" name="Straight Connector 34">
            <a:extLst>
              <a:ext uri="{FF2B5EF4-FFF2-40B4-BE49-F238E27FC236}">
                <a16:creationId xmlns:a16="http://schemas.microsoft.com/office/drawing/2014/main" id="{B122B936-C31D-4305-ABD2-82D68B68E3F1}"/>
              </a:ext>
            </a:extLst>
          </p:cNvPr>
          <p:cNvCxnSpPr/>
          <p:nvPr/>
        </p:nvCxnSpPr>
        <p:spPr>
          <a:xfrm>
            <a:off x="8661400" y="5803900"/>
            <a:ext cx="3429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D2DE9805-CC85-E834-9DD2-57A42EED2613}"/>
              </a:ext>
            </a:extLst>
          </p:cNvPr>
          <p:cNvSpPr/>
          <p:nvPr/>
        </p:nvSpPr>
        <p:spPr>
          <a:xfrm>
            <a:off x="9067800" y="5562600"/>
            <a:ext cx="16764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8052AF13-6362-3F15-1B15-3636893464DF}"/>
              </a:ext>
            </a:extLst>
          </p:cNvPr>
          <p:cNvSpPr txBox="1"/>
          <p:nvPr/>
        </p:nvSpPr>
        <p:spPr>
          <a:xfrm>
            <a:off x="9067800" y="5676900"/>
            <a:ext cx="16764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Track outcome</a:t>
            </a:r>
          </a:p>
        </p:txBody>
      </p:sp>
    </p:spTree>
    <p:extLst>
      <p:ext uri="{BB962C8B-B14F-4D97-AF65-F5344CB8AC3E}">
        <p14:creationId xmlns:p14="http://schemas.microsoft.com/office/powerpoint/2010/main" val="2536850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03BF43-3A07-5080-E093-7523E51845A8}"/>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E5AC5B-A3F3-CEBE-8F9C-1EAC36E108F2}"/>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System Architecture</a:t>
            </a:r>
          </a:p>
        </p:txBody>
      </p:sp>
      <p:sp>
        <p:nvSpPr>
          <p:cNvPr id="4" name="TextBox 3">
            <a:extLst>
              <a:ext uri="{FF2B5EF4-FFF2-40B4-BE49-F238E27FC236}">
                <a16:creationId xmlns:a16="http://schemas.microsoft.com/office/drawing/2014/main" id="{9C4DF694-8B49-5B02-F5F3-8563BA1451A1}"/>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Three tiers, with external services isolated from the client</a:t>
            </a:r>
          </a:p>
        </p:txBody>
      </p:sp>
      <p:cxnSp>
        <p:nvCxnSpPr>
          <p:cNvPr id="5" name="Straight Connector 4">
            <a:extLst>
              <a:ext uri="{FF2B5EF4-FFF2-40B4-BE49-F238E27FC236}">
                <a16:creationId xmlns:a16="http://schemas.microsoft.com/office/drawing/2014/main" id="{DB4F5F77-AE8E-D871-6527-9C918DE4C0A1}"/>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663099C-77DD-A6E0-4B03-75594CFBE1EF}"/>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dirty="0">
                <a:solidFill>
                  <a:srgbClr val="566675"/>
                </a:solidFill>
                <a:latin typeface="Aptos" panose="020B0004020202020204" pitchFamily="34" charset="0"/>
              </a:rPr>
              <a:t>E-LEARNING PLATFORM</a:t>
            </a:r>
          </a:p>
        </p:txBody>
      </p:sp>
      <p:sp>
        <p:nvSpPr>
          <p:cNvPr id="7" name="TextBox 6">
            <a:extLst>
              <a:ext uri="{FF2B5EF4-FFF2-40B4-BE49-F238E27FC236}">
                <a16:creationId xmlns:a16="http://schemas.microsoft.com/office/drawing/2014/main" id="{977DDB2F-D27D-C7D2-12B0-6B18FC3B13C4}"/>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5</a:t>
            </a:r>
          </a:p>
        </p:txBody>
      </p:sp>
      <p:sp>
        <p:nvSpPr>
          <p:cNvPr id="8" name="TextBox 7">
            <a:extLst>
              <a:ext uri="{FF2B5EF4-FFF2-40B4-BE49-F238E27FC236}">
                <a16:creationId xmlns:a16="http://schemas.microsoft.com/office/drawing/2014/main" id="{372F89E5-00FC-BA97-F6BF-127D5E00E9DC}"/>
              </a:ext>
            </a:extLst>
          </p:cNvPr>
          <p:cNvSpPr txBox="1"/>
          <p:nvPr/>
        </p:nvSpPr>
        <p:spPr>
          <a:xfrm>
            <a:off x="914400" y="1651000"/>
            <a:ext cx="2540000" cy="276999"/>
          </a:xfrm>
          <a:prstGeom prst="rect">
            <a:avLst/>
          </a:prstGeom>
          <a:noFill/>
        </p:spPr>
        <p:txBody>
          <a:bodyPr vert="horz" wrap="square" lIns="0" tIns="0" rIns="0" bIns="0" rtlCol="0" anchor="ctr">
            <a:noAutofit/>
          </a:bodyPr>
          <a:lstStyle/>
          <a:p>
            <a:pPr algn="ctr"/>
            <a:r>
              <a:rPr lang="en-US" sz="1200" b="1">
                <a:solidFill>
                  <a:srgbClr val="0964DA"/>
                </a:solidFill>
                <a:latin typeface="Aptos" panose="020B0004020202020204" pitchFamily="34" charset="0"/>
              </a:rPr>
              <a:t>Presentation tier</a:t>
            </a:r>
          </a:p>
        </p:txBody>
      </p:sp>
      <p:sp>
        <p:nvSpPr>
          <p:cNvPr id="9" name="TextBox 8">
            <a:extLst>
              <a:ext uri="{FF2B5EF4-FFF2-40B4-BE49-F238E27FC236}">
                <a16:creationId xmlns:a16="http://schemas.microsoft.com/office/drawing/2014/main" id="{CFC221B4-583D-3372-5318-2F96AA9D0788}"/>
              </a:ext>
            </a:extLst>
          </p:cNvPr>
          <p:cNvSpPr txBox="1"/>
          <p:nvPr/>
        </p:nvSpPr>
        <p:spPr>
          <a:xfrm>
            <a:off x="4826000" y="1651000"/>
            <a:ext cx="2794000" cy="276999"/>
          </a:xfrm>
          <a:prstGeom prst="rect">
            <a:avLst/>
          </a:prstGeom>
          <a:noFill/>
        </p:spPr>
        <p:txBody>
          <a:bodyPr vert="horz" wrap="square" lIns="0" tIns="0" rIns="0" bIns="0" rtlCol="0" anchor="ctr">
            <a:noAutofit/>
          </a:bodyPr>
          <a:lstStyle/>
          <a:p>
            <a:pPr algn="ctr"/>
            <a:r>
              <a:rPr lang="en-US" sz="1200" b="1">
                <a:solidFill>
                  <a:srgbClr val="0964DA"/>
                </a:solidFill>
                <a:latin typeface="Aptos" panose="020B0004020202020204" pitchFamily="34" charset="0"/>
              </a:rPr>
              <a:t>Application tier</a:t>
            </a:r>
          </a:p>
        </p:txBody>
      </p:sp>
      <p:sp>
        <p:nvSpPr>
          <p:cNvPr id="10" name="TextBox 9">
            <a:extLst>
              <a:ext uri="{FF2B5EF4-FFF2-40B4-BE49-F238E27FC236}">
                <a16:creationId xmlns:a16="http://schemas.microsoft.com/office/drawing/2014/main" id="{74B96B52-C869-82AB-C708-BFD40C2AC52E}"/>
              </a:ext>
            </a:extLst>
          </p:cNvPr>
          <p:cNvSpPr txBox="1"/>
          <p:nvPr/>
        </p:nvSpPr>
        <p:spPr>
          <a:xfrm>
            <a:off x="9194800" y="1651000"/>
            <a:ext cx="2032000" cy="276999"/>
          </a:xfrm>
          <a:prstGeom prst="rect">
            <a:avLst/>
          </a:prstGeom>
          <a:noFill/>
        </p:spPr>
        <p:txBody>
          <a:bodyPr vert="horz" wrap="square" lIns="0" tIns="0" rIns="0" bIns="0" rtlCol="0" anchor="ctr">
            <a:noAutofit/>
          </a:bodyPr>
          <a:lstStyle/>
          <a:p>
            <a:pPr algn="ctr"/>
            <a:r>
              <a:rPr lang="en-US" sz="1200" b="1">
                <a:solidFill>
                  <a:srgbClr val="0964DA"/>
                </a:solidFill>
                <a:latin typeface="Aptos" panose="020B0004020202020204" pitchFamily="34" charset="0"/>
              </a:rPr>
              <a:t>Data tier</a:t>
            </a:r>
          </a:p>
        </p:txBody>
      </p:sp>
      <p:sp>
        <p:nvSpPr>
          <p:cNvPr id="11" name="Rectangle: Rounded Corners 10">
            <a:extLst>
              <a:ext uri="{FF2B5EF4-FFF2-40B4-BE49-F238E27FC236}">
                <a16:creationId xmlns:a16="http://schemas.microsoft.com/office/drawing/2014/main" id="{FC08C13F-953D-A1E9-4307-DA64E8F68C87}"/>
              </a:ext>
            </a:extLst>
          </p:cNvPr>
          <p:cNvSpPr/>
          <p:nvPr/>
        </p:nvSpPr>
        <p:spPr>
          <a:xfrm>
            <a:off x="685800" y="2159000"/>
            <a:ext cx="2667000" cy="2159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594324D-C1CB-911D-7196-F24A41DAF7A2}"/>
              </a:ext>
            </a:extLst>
          </p:cNvPr>
          <p:cNvSpPr txBox="1"/>
          <p:nvPr/>
        </p:nvSpPr>
        <p:spPr>
          <a:xfrm>
            <a:off x="939800" y="2514600"/>
            <a:ext cx="2159000" cy="276999"/>
          </a:xfrm>
          <a:prstGeom prst="rect">
            <a:avLst/>
          </a:prstGeom>
          <a:noFill/>
        </p:spPr>
        <p:txBody>
          <a:bodyPr vert="horz" wrap="square" lIns="0" tIns="0" rIns="0" bIns="0" rtlCol="0" anchor="ctr">
            <a:noAutofit/>
          </a:bodyPr>
          <a:lstStyle/>
          <a:p>
            <a:pPr algn="ctr"/>
            <a:r>
              <a:rPr lang="en-US" b="1">
                <a:solidFill>
                  <a:srgbClr val="162330"/>
                </a:solidFill>
                <a:latin typeface="Aptos" panose="020B0004020202020204" pitchFamily="34" charset="0"/>
              </a:rPr>
              <a:t>Browser</a:t>
            </a:r>
          </a:p>
        </p:txBody>
      </p:sp>
      <p:sp>
        <p:nvSpPr>
          <p:cNvPr id="13" name="TextBox 12">
            <a:extLst>
              <a:ext uri="{FF2B5EF4-FFF2-40B4-BE49-F238E27FC236}">
                <a16:creationId xmlns:a16="http://schemas.microsoft.com/office/drawing/2014/main" id="{D98BCCF9-896E-BA74-3271-FF6367CCF455}"/>
              </a:ext>
            </a:extLst>
          </p:cNvPr>
          <p:cNvSpPr txBox="1"/>
          <p:nvPr/>
        </p:nvSpPr>
        <p:spPr>
          <a:xfrm>
            <a:off x="939800" y="3073400"/>
            <a:ext cx="2159000" cy="276999"/>
          </a:xfrm>
          <a:prstGeom prst="rect">
            <a:avLst/>
          </a:prstGeom>
          <a:noFill/>
        </p:spPr>
        <p:txBody>
          <a:bodyPr vert="horz" wrap="square" lIns="0" tIns="0" rIns="0" bIns="0" rtlCol="0" anchor="ctr">
            <a:noAutofit/>
          </a:bodyPr>
          <a:lstStyle/>
          <a:p>
            <a:pPr algn="ctr"/>
            <a:r>
              <a:rPr lang="en-US" sz="1200">
                <a:solidFill>
                  <a:srgbClr val="566675"/>
                </a:solidFill>
                <a:latin typeface="Aptos" panose="020B0004020202020204" pitchFamily="34" charset="0"/>
              </a:rPr>
              <a:t>Responsive React interface
Pages, forms, dashboards
Mobile and desktop access</a:t>
            </a:r>
          </a:p>
        </p:txBody>
      </p:sp>
      <p:sp>
        <p:nvSpPr>
          <p:cNvPr id="14" name="Rectangle: Rounded Corners 13">
            <a:extLst>
              <a:ext uri="{FF2B5EF4-FFF2-40B4-BE49-F238E27FC236}">
                <a16:creationId xmlns:a16="http://schemas.microsoft.com/office/drawing/2014/main" id="{A26A9BCE-82E7-13F3-6127-6FCBCBA0BA5F}"/>
              </a:ext>
            </a:extLst>
          </p:cNvPr>
          <p:cNvSpPr/>
          <p:nvPr/>
        </p:nvSpPr>
        <p:spPr>
          <a:xfrm>
            <a:off x="4191000" y="1930400"/>
            <a:ext cx="3683000" cy="2768600"/>
          </a:xfrm>
          <a:prstGeom prst="roundRect">
            <a:avLst/>
          </a:prstGeom>
          <a:solidFill>
            <a:srgbClr val="0B1F3A"/>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1026E70-889D-922E-A086-9E36B979DBFF}"/>
              </a:ext>
            </a:extLst>
          </p:cNvPr>
          <p:cNvSpPr txBox="1"/>
          <p:nvPr/>
        </p:nvSpPr>
        <p:spPr>
          <a:xfrm>
            <a:off x="4495800" y="2260600"/>
            <a:ext cx="3048000" cy="276999"/>
          </a:xfrm>
          <a:prstGeom prst="rect">
            <a:avLst/>
          </a:prstGeom>
          <a:noFill/>
        </p:spPr>
        <p:txBody>
          <a:bodyPr vert="horz" wrap="square" lIns="0" tIns="0" rIns="0" bIns="0" rtlCol="0" anchor="ctr">
            <a:noAutofit/>
          </a:bodyPr>
          <a:lstStyle/>
          <a:p>
            <a:pPr algn="ctr"/>
            <a:r>
              <a:rPr lang="en-US" sz="1900" b="1">
                <a:solidFill>
                  <a:srgbClr val="FFFFFF"/>
                </a:solidFill>
                <a:latin typeface="Aptos" panose="020B0004020202020204" pitchFamily="34" charset="0"/>
              </a:rPr>
              <a:t>Next.js application</a:t>
            </a:r>
          </a:p>
        </p:txBody>
      </p:sp>
      <p:sp>
        <p:nvSpPr>
          <p:cNvPr id="16" name="TextBox 15">
            <a:extLst>
              <a:ext uri="{FF2B5EF4-FFF2-40B4-BE49-F238E27FC236}">
                <a16:creationId xmlns:a16="http://schemas.microsoft.com/office/drawing/2014/main" id="{9331B9B4-F6F7-5F6C-A31B-3DA8958655E3}"/>
              </a:ext>
            </a:extLst>
          </p:cNvPr>
          <p:cNvSpPr txBox="1"/>
          <p:nvPr/>
        </p:nvSpPr>
        <p:spPr>
          <a:xfrm>
            <a:off x="4495800" y="2895600"/>
            <a:ext cx="3048000" cy="276999"/>
          </a:xfrm>
          <a:prstGeom prst="rect">
            <a:avLst/>
          </a:prstGeom>
          <a:noFill/>
        </p:spPr>
        <p:txBody>
          <a:bodyPr vert="horz" wrap="square" lIns="0" tIns="0" rIns="0" bIns="0" rtlCol="0" anchor="ctr">
            <a:noAutofit/>
          </a:bodyPr>
          <a:lstStyle/>
          <a:p>
            <a:pPr algn="ctr"/>
            <a:r>
              <a:rPr lang="en-US" sz="1200">
                <a:solidFill>
                  <a:srgbClr val="E8F2FF"/>
                </a:solidFill>
                <a:latin typeface="Aptos" panose="020B0004020202020204" pitchFamily="34" charset="0"/>
              </a:rPr>
              <a:t>Server Components  |  Server Actions
API routes  |  Middleware
Validation  |  Domain services</a:t>
            </a:r>
          </a:p>
        </p:txBody>
      </p:sp>
      <p:sp>
        <p:nvSpPr>
          <p:cNvPr id="17" name="Rectangle: Rounded Corners 16">
            <a:extLst>
              <a:ext uri="{FF2B5EF4-FFF2-40B4-BE49-F238E27FC236}">
                <a16:creationId xmlns:a16="http://schemas.microsoft.com/office/drawing/2014/main" id="{16B6D103-3E5F-1C91-3BE8-00E31565A602}"/>
              </a:ext>
            </a:extLst>
          </p:cNvPr>
          <p:cNvSpPr/>
          <p:nvPr/>
        </p:nvSpPr>
        <p:spPr>
          <a:xfrm>
            <a:off x="8839200" y="2159000"/>
            <a:ext cx="2667000" cy="2159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97602F6-7481-0423-6B71-9B4733BEA7E6}"/>
              </a:ext>
            </a:extLst>
          </p:cNvPr>
          <p:cNvSpPr txBox="1"/>
          <p:nvPr/>
        </p:nvSpPr>
        <p:spPr>
          <a:xfrm>
            <a:off x="9093200" y="2514600"/>
            <a:ext cx="2159000" cy="276999"/>
          </a:xfrm>
          <a:prstGeom prst="rect">
            <a:avLst/>
          </a:prstGeom>
          <a:noFill/>
        </p:spPr>
        <p:txBody>
          <a:bodyPr vert="horz" wrap="square" lIns="0" tIns="0" rIns="0" bIns="0" rtlCol="0" anchor="ctr">
            <a:noAutofit/>
          </a:bodyPr>
          <a:lstStyle/>
          <a:p>
            <a:pPr algn="ctr"/>
            <a:r>
              <a:rPr lang="en-US" b="1">
                <a:solidFill>
                  <a:srgbClr val="162330"/>
                </a:solidFill>
                <a:latin typeface="Aptos" panose="020B0004020202020204" pitchFamily="34" charset="0"/>
              </a:rPr>
              <a:t>PostgreSQL</a:t>
            </a:r>
          </a:p>
        </p:txBody>
      </p:sp>
      <p:sp>
        <p:nvSpPr>
          <p:cNvPr id="19" name="TextBox 18">
            <a:extLst>
              <a:ext uri="{FF2B5EF4-FFF2-40B4-BE49-F238E27FC236}">
                <a16:creationId xmlns:a16="http://schemas.microsoft.com/office/drawing/2014/main" id="{DCC51DDB-8F76-06D6-CD01-D5780920C2EE}"/>
              </a:ext>
            </a:extLst>
          </p:cNvPr>
          <p:cNvSpPr txBox="1"/>
          <p:nvPr/>
        </p:nvSpPr>
        <p:spPr>
          <a:xfrm>
            <a:off x="9093200" y="3073400"/>
            <a:ext cx="2159000" cy="276999"/>
          </a:xfrm>
          <a:prstGeom prst="rect">
            <a:avLst/>
          </a:prstGeom>
          <a:noFill/>
        </p:spPr>
        <p:txBody>
          <a:bodyPr vert="horz" wrap="square" lIns="0" tIns="0" rIns="0" bIns="0" rtlCol="0" anchor="ctr">
            <a:noAutofit/>
          </a:bodyPr>
          <a:lstStyle/>
          <a:p>
            <a:pPr algn="ctr"/>
            <a:r>
              <a:rPr lang="en-US" sz="1200">
                <a:solidFill>
                  <a:srgbClr val="566675"/>
                </a:solidFill>
                <a:latin typeface="Aptos" panose="020B0004020202020204" pitchFamily="34" charset="0"/>
              </a:rPr>
              <a:t>Prisma ORM
Users, courses, payments
Progress and audit records</a:t>
            </a:r>
          </a:p>
        </p:txBody>
      </p:sp>
      <p:cxnSp>
        <p:nvCxnSpPr>
          <p:cNvPr id="20" name="Straight Connector 19">
            <a:extLst>
              <a:ext uri="{FF2B5EF4-FFF2-40B4-BE49-F238E27FC236}">
                <a16:creationId xmlns:a16="http://schemas.microsoft.com/office/drawing/2014/main" id="{DE7491E6-717A-B3C1-F0D3-9C3669426CE5}"/>
              </a:ext>
            </a:extLst>
          </p:cNvPr>
          <p:cNvCxnSpPr/>
          <p:nvPr/>
        </p:nvCxnSpPr>
        <p:spPr>
          <a:xfrm>
            <a:off x="3378200" y="3238500"/>
            <a:ext cx="762000" cy="0"/>
          </a:xfrm>
          <a:prstGeom prst="line">
            <a:avLst/>
          </a:prstGeom>
          <a:ln w="25400">
            <a:solidFill>
              <a:srgbClr val="0964DA"/>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29BB0B3-6343-73FA-844C-7C0FFD3DF95F}"/>
              </a:ext>
            </a:extLst>
          </p:cNvPr>
          <p:cNvCxnSpPr/>
          <p:nvPr/>
        </p:nvCxnSpPr>
        <p:spPr>
          <a:xfrm>
            <a:off x="7899400" y="3238500"/>
            <a:ext cx="889000" cy="0"/>
          </a:xfrm>
          <a:prstGeom prst="line">
            <a:avLst/>
          </a:prstGeom>
          <a:ln w="2540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BE8095FD-4288-F50F-0A8B-BA3283074ADD}"/>
              </a:ext>
            </a:extLst>
          </p:cNvPr>
          <p:cNvSpPr txBox="1"/>
          <p:nvPr/>
        </p:nvSpPr>
        <p:spPr>
          <a:xfrm>
            <a:off x="533400" y="5156200"/>
            <a:ext cx="1778000" cy="276999"/>
          </a:xfrm>
          <a:prstGeom prst="rect">
            <a:avLst/>
          </a:prstGeom>
          <a:noFill/>
        </p:spPr>
        <p:txBody>
          <a:bodyPr vert="horz" wrap="square" lIns="0" tIns="0" rIns="0" bIns="0" rtlCol="0" anchor="ctr">
            <a:noAutofit/>
          </a:bodyPr>
          <a:lstStyle/>
          <a:p>
            <a:r>
              <a:rPr lang="en-US" sz="1100" b="1">
                <a:solidFill>
                  <a:srgbClr val="0964DA"/>
                </a:solidFill>
                <a:latin typeface="Aptos" panose="020B0004020202020204" pitchFamily="34" charset="0"/>
              </a:rPr>
              <a:t>External services</a:t>
            </a:r>
          </a:p>
        </p:txBody>
      </p:sp>
      <p:sp>
        <p:nvSpPr>
          <p:cNvPr id="23" name="Rectangle: Rounded Corners 22">
            <a:extLst>
              <a:ext uri="{FF2B5EF4-FFF2-40B4-BE49-F238E27FC236}">
                <a16:creationId xmlns:a16="http://schemas.microsoft.com/office/drawing/2014/main" id="{A13F758C-DCF9-0E51-346F-9F9ED7AB4565}"/>
              </a:ext>
            </a:extLst>
          </p:cNvPr>
          <p:cNvSpPr/>
          <p:nvPr/>
        </p:nvSpPr>
        <p:spPr>
          <a:xfrm>
            <a:off x="533400" y="5511800"/>
            <a:ext cx="2463800" cy="482600"/>
          </a:xfrm>
          <a:prstGeom prst="roundRect">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C45B419-62BF-9EBE-4DF5-54B11913C00B}"/>
              </a:ext>
            </a:extLst>
          </p:cNvPr>
          <p:cNvSpPr txBox="1"/>
          <p:nvPr/>
        </p:nvSpPr>
        <p:spPr>
          <a:xfrm>
            <a:off x="660400" y="5626100"/>
            <a:ext cx="1117600" cy="276999"/>
          </a:xfrm>
          <a:prstGeom prst="rect">
            <a:avLst/>
          </a:prstGeom>
          <a:noFill/>
        </p:spPr>
        <p:txBody>
          <a:bodyPr vert="horz" wrap="square" lIns="0" tIns="0" rIns="0" bIns="0" rtlCol="0" anchor="ctr">
            <a:noAutofit/>
          </a:bodyPr>
          <a:lstStyle/>
          <a:p>
            <a:r>
              <a:rPr lang="en-US" sz="1000" b="1">
                <a:solidFill>
                  <a:srgbClr val="0964DA"/>
                </a:solidFill>
                <a:latin typeface="Aptos" panose="020B0004020202020204" pitchFamily="34" charset="0"/>
              </a:rPr>
              <a:t>Paystack</a:t>
            </a:r>
          </a:p>
        </p:txBody>
      </p:sp>
      <p:sp>
        <p:nvSpPr>
          <p:cNvPr id="25" name="TextBox 24">
            <a:extLst>
              <a:ext uri="{FF2B5EF4-FFF2-40B4-BE49-F238E27FC236}">
                <a16:creationId xmlns:a16="http://schemas.microsoft.com/office/drawing/2014/main" id="{64BF4529-E47B-1BF3-7FB4-E0E4AFEB1D6B}"/>
              </a:ext>
            </a:extLst>
          </p:cNvPr>
          <p:cNvSpPr txBox="1"/>
          <p:nvPr/>
        </p:nvSpPr>
        <p:spPr>
          <a:xfrm>
            <a:off x="1739900" y="5626100"/>
            <a:ext cx="1117600" cy="276999"/>
          </a:xfrm>
          <a:prstGeom prst="rect">
            <a:avLst/>
          </a:prstGeom>
          <a:noFill/>
        </p:spPr>
        <p:txBody>
          <a:bodyPr vert="horz" wrap="square" lIns="0" tIns="0" rIns="0" bIns="0" rtlCol="0" anchor="ctr">
            <a:noAutofit/>
          </a:bodyPr>
          <a:lstStyle/>
          <a:p>
            <a:pPr algn="r"/>
            <a:r>
              <a:rPr lang="en-US" sz="800">
                <a:solidFill>
                  <a:srgbClr val="566675"/>
                </a:solidFill>
                <a:latin typeface="Aptos" panose="020B0004020202020204" pitchFamily="34" charset="0"/>
              </a:rPr>
              <a:t>Payment processing</a:t>
            </a:r>
          </a:p>
        </p:txBody>
      </p:sp>
      <p:sp>
        <p:nvSpPr>
          <p:cNvPr id="26" name="Rectangle: Rounded Corners 25">
            <a:extLst>
              <a:ext uri="{FF2B5EF4-FFF2-40B4-BE49-F238E27FC236}">
                <a16:creationId xmlns:a16="http://schemas.microsoft.com/office/drawing/2014/main" id="{4F5D3DA1-743B-91DE-44DF-8E2DF1EBF75A}"/>
              </a:ext>
            </a:extLst>
          </p:cNvPr>
          <p:cNvSpPr/>
          <p:nvPr/>
        </p:nvSpPr>
        <p:spPr>
          <a:xfrm>
            <a:off x="3302000" y="5511800"/>
            <a:ext cx="2463800" cy="482600"/>
          </a:xfrm>
          <a:prstGeom prst="roundRect">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4288C73-414B-26AD-CDFD-E43E38B61EE5}"/>
              </a:ext>
            </a:extLst>
          </p:cNvPr>
          <p:cNvSpPr txBox="1"/>
          <p:nvPr/>
        </p:nvSpPr>
        <p:spPr>
          <a:xfrm>
            <a:off x="3429000" y="5626100"/>
            <a:ext cx="1117600" cy="276999"/>
          </a:xfrm>
          <a:prstGeom prst="rect">
            <a:avLst/>
          </a:prstGeom>
          <a:noFill/>
        </p:spPr>
        <p:txBody>
          <a:bodyPr vert="horz" wrap="square" lIns="0" tIns="0" rIns="0" bIns="0" rtlCol="0" anchor="ctr">
            <a:noAutofit/>
          </a:bodyPr>
          <a:lstStyle/>
          <a:p>
            <a:r>
              <a:rPr lang="en-US" sz="1000" b="1" dirty="0">
                <a:solidFill>
                  <a:srgbClr val="148E66"/>
                </a:solidFill>
                <a:latin typeface="Aptos" panose="020B0004020202020204" pitchFamily="34" charset="0"/>
              </a:rPr>
              <a:t>Google SMTP</a:t>
            </a:r>
          </a:p>
        </p:txBody>
      </p:sp>
      <p:sp>
        <p:nvSpPr>
          <p:cNvPr id="28" name="TextBox 27">
            <a:extLst>
              <a:ext uri="{FF2B5EF4-FFF2-40B4-BE49-F238E27FC236}">
                <a16:creationId xmlns:a16="http://schemas.microsoft.com/office/drawing/2014/main" id="{6665F811-34A2-02BC-FF57-54E011B02169}"/>
              </a:ext>
            </a:extLst>
          </p:cNvPr>
          <p:cNvSpPr txBox="1"/>
          <p:nvPr/>
        </p:nvSpPr>
        <p:spPr>
          <a:xfrm>
            <a:off x="4508500" y="5626100"/>
            <a:ext cx="1117600" cy="276999"/>
          </a:xfrm>
          <a:prstGeom prst="rect">
            <a:avLst/>
          </a:prstGeom>
          <a:noFill/>
        </p:spPr>
        <p:txBody>
          <a:bodyPr vert="horz" wrap="square" lIns="0" tIns="0" rIns="0" bIns="0" rtlCol="0" anchor="ctr">
            <a:noAutofit/>
          </a:bodyPr>
          <a:lstStyle/>
          <a:p>
            <a:pPr algn="r"/>
            <a:r>
              <a:rPr lang="en-US" sz="800">
                <a:solidFill>
                  <a:srgbClr val="566675"/>
                </a:solidFill>
                <a:latin typeface="Aptos" panose="020B0004020202020204" pitchFamily="34" charset="0"/>
              </a:rPr>
              <a:t>Email and verification</a:t>
            </a:r>
          </a:p>
        </p:txBody>
      </p:sp>
      <p:sp>
        <p:nvSpPr>
          <p:cNvPr id="29" name="Rectangle: Rounded Corners 28">
            <a:extLst>
              <a:ext uri="{FF2B5EF4-FFF2-40B4-BE49-F238E27FC236}">
                <a16:creationId xmlns:a16="http://schemas.microsoft.com/office/drawing/2014/main" id="{119AA973-A1A3-5E1E-BE36-8DF5702E689B}"/>
              </a:ext>
            </a:extLst>
          </p:cNvPr>
          <p:cNvSpPr/>
          <p:nvPr/>
        </p:nvSpPr>
        <p:spPr>
          <a:xfrm>
            <a:off x="6070600" y="5511800"/>
            <a:ext cx="2463800" cy="482600"/>
          </a:xfrm>
          <a:prstGeom prst="roundRect">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60E5A10-6EF2-F2CB-F6FB-41BF55C74219}"/>
              </a:ext>
            </a:extLst>
          </p:cNvPr>
          <p:cNvSpPr txBox="1"/>
          <p:nvPr/>
        </p:nvSpPr>
        <p:spPr>
          <a:xfrm>
            <a:off x="6197600" y="5626100"/>
            <a:ext cx="1117600" cy="276999"/>
          </a:xfrm>
          <a:prstGeom prst="rect">
            <a:avLst/>
          </a:prstGeom>
          <a:noFill/>
        </p:spPr>
        <p:txBody>
          <a:bodyPr vert="horz" wrap="square" lIns="0" tIns="0" rIns="0" bIns="0" rtlCol="0" anchor="ctr">
            <a:noAutofit/>
          </a:bodyPr>
          <a:lstStyle/>
          <a:p>
            <a:r>
              <a:rPr lang="en-US" sz="1000" b="1" dirty="0">
                <a:solidFill>
                  <a:srgbClr val="E08E14"/>
                </a:solidFill>
                <a:latin typeface="Aptos" panose="020B0004020202020204" pitchFamily="34" charset="0"/>
              </a:rPr>
              <a:t>Blob storage</a:t>
            </a:r>
          </a:p>
        </p:txBody>
      </p:sp>
      <p:sp>
        <p:nvSpPr>
          <p:cNvPr id="31" name="TextBox 30">
            <a:extLst>
              <a:ext uri="{FF2B5EF4-FFF2-40B4-BE49-F238E27FC236}">
                <a16:creationId xmlns:a16="http://schemas.microsoft.com/office/drawing/2014/main" id="{6B28A8E6-C8EE-D254-A1E8-74D539D3B1CE}"/>
              </a:ext>
            </a:extLst>
          </p:cNvPr>
          <p:cNvSpPr txBox="1"/>
          <p:nvPr/>
        </p:nvSpPr>
        <p:spPr>
          <a:xfrm>
            <a:off x="7277100" y="5626100"/>
            <a:ext cx="1117600" cy="276999"/>
          </a:xfrm>
          <a:prstGeom prst="rect">
            <a:avLst/>
          </a:prstGeom>
          <a:noFill/>
        </p:spPr>
        <p:txBody>
          <a:bodyPr vert="horz" wrap="square" lIns="0" tIns="0" rIns="0" bIns="0" rtlCol="0" anchor="ctr">
            <a:noAutofit/>
          </a:bodyPr>
          <a:lstStyle/>
          <a:p>
            <a:pPr algn="r"/>
            <a:r>
              <a:rPr lang="en-US" sz="800">
                <a:solidFill>
                  <a:srgbClr val="566675"/>
                </a:solidFill>
                <a:latin typeface="Aptos" panose="020B0004020202020204" pitchFamily="34" charset="0"/>
              </a:rPr>
              <a:t>Files and documents</a:t>
            </a:r>
          </a:p>
        </p:txBody>
      </p:sp>
      <p:sp>
        <p:nvSpPr>
          <p:cNvPr id="32" name="Rectangle: Rounded Corners 31">
            <a:extLst>
              <a:ext uri="{FF2B5EF4-FFF2-40B4-BE49-F238E27FC236}">
                <a16:creationId xmlns:a16="http://schemas.microsoft.com/office/drawing/2014/main" id="{63C2D256-919A-1D2E-063D-F04A7C183250}"/>
              </a:ext>
            </a:extLst>
          </p:cNvPr>
          <p:cNvSpPr/>
          <p:nvPr/>
        </p:nvSpPr>
        <p:spPr>
          <a:xfrm>
            <a:off x="8839200" y="5511800"/>
            <a:ext cx="2463800" cy="482600"/>
          </a:xfrm>
          <a:prstGeom prst="roundRect">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7AD2C74-7BD0-70E5-B073-4E5C787FDAEF}"/>
              </a:ext>
            </a:extLst>
          </p:cNvPr>
          <p:cNvSpPr txBox="1"/>
          <p:nvPr/>
        </p:nvSpPr>
        <p:spPr>
          <a:xfrm>
            <a:off x="8966200" y="5626100"/>
            <a:ext cx="1117600" cy="276999"/>
          </a:xfrm>
          <a:prstGeom prst="rect">
            <a:avLst/>
          </a:prstGeom>
          <a:noFill/>
        </p:spPr>
        <p:txBody>
          <a:bodyPr vert="horz" wrap="square" lIns="0" tIns="0" rIns="0" bIns="0" rtlCol="0" anchor="ctr">
            <a:noAutofit/>
          </a:bodyPr>
          <a:lstStyle/>
          <a:p>
            <a:r>
              <a:rPr lang="en-US" sz="1000" b="1">
                <a:solidFill>
                  <a:srgbClr val="C93F3F"/>
                </a:solidFill>
                <a:latin typeface="Aptos" panose="020B0004020202020204" pitchFamily="34" charset="0"/>
              </a:rPr>
              <a:t>Google</a:t>
            </a:r>
          </a:p>
        </p:txBody>
      </p:sp>
      <p:sp>
        <p:nvSpPr>
          <p:cNvPr id="34" name="TextBox 33">
            <a:extLst>
              <a:ext uri="{FF2B5EF4-FFF2-40B4-BE49-F238E27FC236}">
                <a16:creationId xmlns:a16="http://schemas.microsoft.com/office/drawing/2014/main" id="{562BC911-B756-DBC8-5BDC-5712BF8627D6}"/>
              </a:ext>
            </a:extLst>
          </p:cNvPr>
          <p:cNvSpPr txBox="1"/>
          <p:nvPr/>
        </p:nvSpPr>
        <p:spPr>
          <a:xfrm>
            <a:off x="10045700" y="5626100"/>
            <a:ext cx="1117600" cy="276999"/>
          </a:xfrm>
          <a:prstGeom prst="rect">
            <a:avLst/>
          </a:prstGeom>
          <a:noFill/>
        </p:spPr>
        <p:txBody>
          <a:bodyPr vert="horz" wrap="square" lIns="0" tIns="0" rIns="0" bIns="0" rtlCol="0" anchor="ctr">
            <a:noAutofit/>
          </a:bodyPr>
          <a:lstStyle/>
          <a:p>
            <a:pPr algn="r"/>
            <a:r>
              <a:rPr lang="en-US" sz="800">
                <a:solidFill>
                  <a:srgbClr val="566675"/>
                </a:solidFill>
                <a:latin typeface="Aptos" panose="020B0004020202020204" pitchFamily="34" charset="0"/>
              </a:rPr>
              <a:t>OAuth sign-in</a:t>
            </a:r>
          </a:p>
        </p:txBody>
      </p:sp>
    </p:spTree>
    <p:extLst>
      <p:ext uri="{BB962C8B-B14F-4D97-AF65-F5344CB8AC3E}">
        <p14:creationId xmlns:p14="http://schemas.microsoft.com/office/powerpoint/2010/main" val="4157149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41616F-CA77-AEC4-84D1-552B67FB076E}"/>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CDF5BF4-40C8-DF8D-8624-C93CAA18D5BB}"/>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Key Workflows</a:t>
            </a:r>
          </a:p>
        </p:txBody>
      </p:sp>
      <p:sp>
        <p:nvSpPr>
          <p:cNvPr id="4" name="TextBox 3">
            <a:extLst>
              <a:ext uri="{FF2B5EF4-FFF2-40B4-BE49-F238E27FC236}">
                <a16:creationId xmlns:a16="http://schemas.microsoft.com/office/drawing/2014/main" id="{13A0E8EE-C578-EE6D-C6C2-560905562937}"/>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The controls that protect course quality and payment processing</a:t>
            </a:r>
          </a:p>
        </p:txBody>
      </p:sp>
      <p:cxnSp>
        <p:nvCxnSpPr>
          <p:cNvPr id="5" name="Straight Connector 4">
            <a:extLst>
              <a:ext uri="{FF2B5EF4-FFF2-40B4-BE49-F238E27FC236}">
                <a16:creationId xmlns:a16="http://schemas.microsoft.com/office/drawing/2014/main" id="{A14CD8CB-6E3C-CADA-7B0F-C95C49C131AB}"/>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79E454B-7468-B5B6-53AC-AB1242353C22}"/>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34DDB881-7926-7A4A-E4B0-5AF12E93618E}"/>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6</a:t>
            </a:r>
          </a:p>
        </p:txBody>
      </p:sp>
      <p:sp>
        <p:nvSpPr>
          <p:cNvPr id="8" name="TextBox 7">
            <a:extLst>
              <a:ext uri="{FF2B5EF4-FFF2-40B4-BE49-F238E27FC236}">
                <a16:creationId xmlns:a16="http://schemas.microsoft.com/office/drawing/2014/main" id="{81230E10-A827-42DA-8750-01FE8BCADD3E}"/>
              </a:ext>
            </a:extLst>
          </p:cNvPr>
          <p:cNvSpPr txBox="1"/>
          <p:nvPr/>
        </p:nvSpPr>
        <p:spPr>
          <a:xfrm>
            <a:off x="533400" y="1473200"/>
            <a:ext cx="3175000" cy="276999"/>
          </a:xfrm>
          <a:prstGeom prst="rect">
            <a:avLst/>
          </a:prstGeom>
          <a:noFill/>
        </p:spPr>
        <p:txBody>
          <a:bodyPr vert="horz" wrap="square" lIns="0" tIns="0" rIns="0" bIns="0" rtlCol="0" anchor="ctr">
            <a:noAutofit/>
          </a:bodyPr>
          <a:lstStyle/>
          <a:p>
            <a:r>
              <a:rPr lang="en-US" sz="1500" b="1">
                <a:solidFill>
                  <a:srgbClr val="162330"/>
                </a:solidFill>
                <a:latin typeface="Aptos" panose="020B0004020202020204" pitchFamily="34" charset="0"/>
              </a:rPr>
              <a:t>Course approval workflow</a:t>
            </a:r>
          </a:p>
        </p:txBody>
      </p:sp>
      <p:sp>
        <p:nvSpPr>
          <p:cNvPr id="9" name="Rectangle: Rounded Corners 8">
            <a:extLst>
              <a:ext uri="{FF2B5EF4-FFF2-40B4-BE49-F238E27FC236}">
                <a16:creationId xmlns:a16="http://schemas.microsoft.com/office/drawing/2014/main" id="{20030AB0-A885-038A-4AA7-39D23E04C489}"/>
              </a:ext>
            </a:extLst>
          </p:cNvPr>
          <p:cNvSpPr/>
          <p:nvPr/>
        </p:nvSpPr>
        <p:spPr>
          <a:xfrm>
            <a:off x="533400" y="1905000"/>
            <a:ext cx="20828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2F9FAA6-AA5F-5CA5-839A-F96A81891FDD}"/>
              </a:ext>
            </a:extLst>
          </p:cNvPr>
          <p:cNvSpPr txBox="1"/>
          <p:nvPr/>
        </p:nvSpPr>
        <p:spPr>
          <a:xfrm>
            <a:off x="533400" y="2019300"/>
            <a:ext cx="20828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Draft</a:t>
            </a:r>
          </a:p>
        </p:txBody>
      </p:sp>
      <p:cxnSp>
        <p:nvCxnSpPr>
          <p:cNvPr id="11" name="Straight Connector 10">
            <a:extLst>
              <a:ext uri="{FF2B5EF4-FFF2-40B4-BE49-F238E27FC236}">
                <a16:creationId xmlns:a16="http://schemas.microsoft.com/office/drawing/2014/main" id="{899F545F-13C0-C52A-C934-9735A5A85BF4}"/>
              </a:ext>
            </a:extLst>
          </p:cNvPr>
          <p:cNvCxnSpPr/>
          <p:nvPr/>
        </p:nvCxnSpPr>
        <p:spPr>
          <a:xfrm>
            <a:off x="2616200" y="2146300"/>
            <a:ext cx="4826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D03FC9AC-CA13-2F3A-2B9D-A1C9EE8E8DDD}"/>
              </a:ext>
            </a:extLst>
          </p:cNvPr>
          <p:cNvSpPr/>
          <p:nvPr/>
        </p:nvSpPr>
        <p:spPr>
          <a:xfrm>
            <a:off x="3149600" y="1905000"/>
            <a:ext cx="20828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EDEE4CE-D759-C3FB-F348-07115F49E1DC}"/>
              </a:ext>
            </a:extLst>
          </p:cNvPr>
          <p:cNvSpPr txBox="1"/>
          <p:nvPr/>
        </p:nvSpPr>
        <p:spPr>
          <a:xfrm>
            <a:off x="3149600" y="2019300"/>
            <a:ext cx="20828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Pending review</a:t>
            </a:r>
          </a:p>
        </p:txBody>
      </p:sp>
      <p:cxnSp>
        <p:nvCxnSpPr>
          <p:cNvPr id="14" name="Straight Connector 13">
            <a:extLst>
              <a:ext uri="{FF2B5EF4-FFF2-40B4-BE49-F238E27FC236}">
                <a16:creationId xmlns:a16="http://schemas.microsoft.com/office/drawing/2014/main" id="{53BB3152-0ABC-71AD-761E-26B20F185085}"/>
              </a:ext>
            </a:extLst>
          </p:cNvPr>
          <p:cNvCxnSpPr/>
          <p:nvPr/>
        </p:nvCxnSpPr>
        <p:spPr>
          <a:xfrm>
            <a:off x="5232400" y="2146300"/>
            <a:ext cx="4826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E16EF132-498B-A05B-1BE4-DB4F76979A0C}"/>
              </a:ext>
            </a:extLst>
          </p:cNvPr>
          <p:cNvSpPr/>
          <p:nvPr/>
        </p:nvSpPr>
        <p:spPr>
          <a:xfrm>
            <a:off x="5765800" y="1905000"/>
            <a:ext cx="20828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81AD007-CFD9-1454-A0D5-DDDAD5D395C3}"/>
              </a:ext>
            </a:extLst>
          </p:cNvPr>
          <p:cNvSpPr txBox="1"/>
          <p:nvPr/>
        </p:nvSpPr>
        <p:spPr>
          <a:xfrm>
            <a:off x="5765800" y="2019300"/>
            <a:ext cx="20828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Approved</a:t>
            </a:r>
          </a:p>
        </p:txBody>
      </p:sp>
      <p:cxnSp>
        <p:nvCxnSpPr>
          <p:cNvPr id="17" name="Straight Connector 16">
            <a:extLst>
              <a:ext uri="{FF2B5EF4-FFF2-40B4-BE49-F238E27FC236}">
                <a16:creationId xmlns:a16="http://schemas.microsoft.com/office/drawing/2014/main" id="{53B9ACF7-10EB-BB2C-12F0-23475B6D1EEE}"/>
              </a:ext>
            </a:extLst>
          </p:cNvPr>
          <p:cNvCxnSpPr/>
          <p:nvPr/>
        </p:nvCxnSpPr>
        <p:spPr>
          <a:xfrm>
            <a:off x="7848600" y="2146300"/>
            <a:ext cx="4826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4358B342-38B1-74CB-2557-492BFAA69D7B}"/>
              </a:ext>
            </a:extLst>
          </p:cNvPr>
          <p:cNvSpPr/>
          <p:nvPr/>
        </p:nvSpPr>
        <p:spPr>
          <a:xfrm>
            <a:off x="8382000" y="1905000"/>
            <a:ext cx="20828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46A8931-152E-4478-609D-6D88C3BFF69C}"/>
              </a:ext>
            </a:extLst>
          </p:cNvPr>
          <p:cNvSpPr txBox="1"/>
          <p:nvPr/>
        </p:nvSpPr>
        <p:spPr>
          <a:xfrm>
            <a:off x="8382000" y="2019300"/>
            <a:ext cx="20828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Published</a:t>
            </a:r>
          </a:p>
        </p:txBody>
      </p:sp>
      <p:sp>
        <p:nvSpPr>
          <p:cNvPr id="20" name="TextBox 19">
            <a:extLst>
              <a:ext uri="{FF2B5EF4-FFF2-40B4-BE49-F238E27FC236}">
                <a16:creationId xmlns:a16="http://schemas.microsoft.com/office/drawing/2014/main" id="{C1704292-298D-0969-0C28-1442BB1D31C8}"/>
              </a:ext>
            </a:extLst>
          </p:cNvPr>
          <p:cNvSpPr txBox="1"/>
          <p:nvPr/>
        </p:nvSpPr>
        <p:spPr>
          <a:xfrm>
            <a:off x="533400" y="2628900"/>
            <a:ext cx="10668000" cy="276999"/>
          </a:xfrm>
          <a:prstGeom prst="rect">
            <a:avLst/>
          </a:prstGeom>
          <a:noFill/>
        </p:spPr>
        <p:txBody>
          <a:bodyPr vert="horz" wrap="square" lIns="0" tIns="0" rIns="0" bIns="0" rtlCol="0" anchor="ctr">
            <a:noAutofit/>
          </a:bodyPr>
          <a:lstStyle/>
          <a:p>
            <a:r>
              <a:rPr lang="en-US" sz="1200">
                <a:solidFill>
                  <a:srgbClr val="566675"/>
                </a:solidFill>
                <a:latin typeface="Aptos" panose="020B0004020202020204" pitchFamily="34" charset="0"/>
              </a:rPr>
              <a:t>Rejected courses return to the instructor with a reason. Hidden courses are removed from the catalogue while enrolled learners keep access.</a:t>
            </a:r>
          </a:p>
        </p:txBody>
      </p:sp>
      <p:cxnSp>
        <p:nvCxnSpPr>
          <p:cNvPr id="21" name="Straight Connector 20">
            <a:extLst>
              <a:ext uri="{FF2B5EF4-FFF2-40B4-BE49-F238E27FC236}">
                <a16:creationId xmlns:a16="http://schemas.microsoft.com/office/drawing/2014/main" id="{145E98B5-970C-679C-F57A-49B91A8781F5}"/>
              </a:ext>
            </a:extLst>
          </p:cNvPr>
          <p:cNvCxnSpPr/>
          <p:nvPr/>
        </p:nvCxnSpPr>
        <p:spPr>
          <a:xfrm>
            <a:off x="533400" y="34290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800AB89-1653-06CC-6561-BD5151B2A83D}"/>
              </a:ext>
            </a:extLst>
          </p:cNvPr>
          <p:cNvSpPr txBox="1"/>
          <p:nvPr/>
        </p:nvSpPr>
        <p:spPr>
          <a:xfrm>
            <a:off x="533400" y="3733800"/>
            <a:ext cx="3175000" cy="276999"/>
          </a:xfrm>
          <a:prstGeom prst="rect">
            <a:avLst/>
          </a:prstGeom>
          <a:noFill/>
        </p:spPr>
        <p:txBody>
          <a:bodyPr vert="horz" wrap="square" lIns="0" tIns="0" rIns="0" bIns="0" rtlCol="0" anchor="ctr">
            <a:noAutofit/>
          </a:bodyPr>
          <a:lstStyle/>
          <a:p>
            <a:r>
              <a:rPr lang="en-US" sz="1500" b="1">
                <a:solidFill>
                  <a:srgbClr val="162330"/>
                </a:solidFill>
                <a:latin typeface="Aptos" panose="020B0004020202020204" pitchFamily="34" charset="0"/>
              </a:rPr>
              <a:t>Paid enrolment workflow</a:t>
            </a:r>
          </a:p>
        </p:txBody>
      </p:sp>
      <p:sp>
        <p:nvSpPr>
          <p:cNvPr id="23" name="Rectangle: Rounded Corners 22">
            <a:extLst>
              <a:ext uri="{FF2B5EF4-FFF2-40B4-BE49-F238E27FC236}">
                <a16:creationId xmlns:a16="http://schemas.microsoft.com/office/drawing/2014/main" id="{2BC9B816-82AA-14A0-A109-3D47CDF86185}"/>
              </a:ext>
            </a:extLst>
          </p:cNvPr>
          <p:cNvSpPr/>
          <p:nvPr/>
        </p:nvSpPr>
        <p:spPr>
          <a:xfrm>
            <a:off x="533400" y="4165600"/>
            <a:ext cx="20828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0334B26-B402-EC5D-42B3-8915F16561E2}"/>
              </a:ext>
            </a:extLst>
          </p:cNvPr>
          <p:cNvSpPr txBox="1"/>
          <p:nvPr/>
        </p:nvSpPr>
        <p:spPr>
          <a:xfrm>
            <a:off x="533400" y="4279900"/>
            <a:ext cx="20828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Student enrols</a:t>
            </a:r>
          </a:p>
        </p:txBody>
      </p:sp>
      <p:cxnSp>
        <p:nvCxnSpPr>
          <p:cNvPr id="25" name="Straight Connector 24">
            <a:extLst>
              <a:ext uri="{FF2B5EF4-FFF2-40B4-BE49-F238E27FC236}">
                <a16:creationId xmlns:a16="http://schemas.microsoft.com/office/drawing/2014/main" id="{16DC1F0D-80BC-CCAE-9ADC-22195449B21D}"/>
              </a:ext>
            </a:extLst>
          </p:cNvPr>
          <p:cNvCxnSpPr/>
          <p:nvPr/>
        </p:nvCxnSpPr>
        <p:spPr>
          <a:xfrm>
            <a:off x="2616200" y="4406900"/>
            <a:ext cx="4826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5798795F-27D8-285B-6393-D6D2895742B6}"/>
              </a:ext>
            </a:extLst>
          </p:cNvPr>
          <p:cNvSpPr/>
          <p:nvPr/>
        </p:nvSpPr>
        <p:spPr>
          <a:xfrm>
            <a:off x="3149600" y="4165600"/>
            <a:ext cx="20828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D70E20F-7F80-A1E9-E399-F84CF14ED60E}"/>
              </a:ext>
            </a:extLst>
          </p:cNvPr>
          <p:cNvSpPr txBox="1"/>
          <p:nvPr/>
        </p:nvSpPr>
        <p:spPr>
          <a:xfrm>
            <a:off x="3149600" y="4279900"/>
            <a:ext cx="20828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Payment pending</a:t>
            </a:r>
          </a:p>
        </p:txBody>
      </p:sp>
      <p:cxnSp>
        <p:nvCxnSpPr>
          <p:cNvPr id="28" name="Straight Connector 27">
            <a:extLst>
              <a:ext uri="{FF2B5EF4-FFF2-40B4-BE49-F238E27FC236}">
                <a16:creationId xmlns:a16="http://schemas.microsoft.com/office/drawing/2014/main" id="{5DD3AAF2-BBBD-6D3E-A35D-93D7DE737518}"/>
              </a:ext>
            </a:extLst>
          </p:cNvPr>
          <p:cNvCxnSpPr/>
          <p:nvPr/>
        </p:nvCxnSpPr>
        <p:spPr>
          <a:xfrm>
            <a:off x="5232400" y="4406900"/>
            <a:ext cx="4826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6B7D140F-4E6E-17F7-0673-4B089935FF40}"/>
              </a:ext>
            </a:extLst>
          </p:cNvPr>
          <p:cNvSpPr/>
          <p:nvPr/>
        </p:nvSpPr>
        <p:spPr>
          <a:xfrm>
            <a:off x="5765800" y="4165600"/>
            <a:ext cx="20828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0082EEF-08F4-BF9F-A1B3-2DED8307BAF7}"/>
              </a:ext>
            </a:extLst>
          </p:cNvPr>
          <p:cNvSpPr txBox="1"/>
          <p:nvPr/>
        </p:nvSpPr>
        <p:spPr>
          <a:xfrm>
            <a:off x="5765800" y="4279900"/>
            <a:ext cx="20828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Paystack verifies</a:t>
            </a:r>
          </a:p>
        </p:txBody>
      </p:sp>
      <p:cxnSp>
        <p:nvCxnSpPr>
          <p:cNvPr id="31" name="Straight Connector 30">
            <a:extLst>
              <a:ext uri="{FF2B5EF4-FFF2-40B4-BE49-F238E27FC236}">
                <a16:creationId xmlns:a16="http://schemas.microsoft.com/office/drawing/2014/main" id="{9F141B1B-D3E0-2349-87AF-5F65AA727B54}"/>
              </a:ext>
            </a:extLst>
          </p:cNvPr>
          <p:cNvCxnSpPr/>
          <p:nvPr/>
        </p:nvCxnSpPr>
        <p:spPr>
          <a:xfrm>
            <a:off x="7848600" y="4406900"/>
            <a:ext cx="482600" cy="0"/>
          </a:xfrm>
          <a:prstGeom prst="line">
            <a:avLst/>
          </a:prstGeom>
          <a:ln w="19050">
            <a:solidFill>
              <a:srgbClr val="0964DA"/>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616242F7-EB51-B2EE-4B03-6CACD70E20BF}"/>
              </a:ext>
            </a:extLst>
          </p:cNvPr>
          <p:cNvSpPr/>
          <p:nvPr/>
        </p:nvSpPr>
        <p:spPr>
          <a:xfrm>
            <a:off x="8382000" y="4165600"/>
            <a:ext cx="2082800" cy="482600"/>
          </a:xfrm>
          <a:prstGeom prst="roundRect">
            <a:avLst/>
          </a:prstGeom>
          <a:solidFill>
            <a:srgbClr val="E8F2FF"/>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59B38FB2-39C6-29D8-75B7-026E19CB8003}"/>
              </a:ext>
            </a:extLst>
          </p:cNvPr>
          <p:cNvSpPr txBox="1"/>
          <p:nvPr/>
        </p:nvSpPr>
        <p:spPr>
          <a:xfrm>
            <a:off x="8382000" y="4279900"/>
            <a:ext cx="2082800" cy="276999"/>
          </a:xfrm>
          <a:prstGeom prst="rect">
            <a:avLst/>
          </a:prstGeom>
          <a:noFill/>
        </p:spPr>
        <p:txBody>
          <a:bodyPr vert="horz" wrap="square" lIns="0" tIns="0" rIns="0" bIns="0" rtlCol="0" anchor="ctr">
            <a:noAutofit/>
          </a:bodyPr>
          <a:lstStyle/>
          <a:p>
            <a:pPr algn="ctr"/>
            <a:r>
              <a:rPr lang="en-US" sz="1000" b="1">
                <a:solidFill>
                  <a:srgbClr val="0964DA"/>
                </a:solidFill>
                <a:latin typeface="Aptos" panose="020B0004020202020204" pitchFamily="34" charset="0"/>
              </a:rPr>
              <a:t>Enrol + credit</a:t>
            </a:r>
          </a:p>
        </p:txBody>
      </p:sp>
      <p:sp>
        <p:nvSpPr>
          <p:cNvPr id="34" name="Rectangle: Rounded Corners 33">
            <a:extLst>
              <a:ext uri="{FF2B5EF4-FFF2-40B4-BE49-F238E27FC236}">
                <a16:creationId xmlns:a16="http://schemas.microsoft.com/office/drawing/2014/main" id="{01741BE2-AC37-8811-B181-4413DA937925}"/>
              </a:ext>
            </a:extLst>
          </p:cNvPr>
          <p:cNvSpPr/>
          <p:nvPr/>
        </p:nvSpPr>
        <p:spPr>
          <a:xfrm>
            <a:off x="533400" y="5080000"/>
            <a:ext cx="11125200" cy="698500"/>
          </a:xfrm>
          <a:prstGeom prst="roundRect">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C34BE24-91FE-E4B6-36EE-BD6A5EC341E4}"/>
              </a:ext>
            </a:extLst>
          </p:cNvPr>
          <p:cNvSpPr txBox="1"/>
          <p:nvPr/>
        </p:nvSpPr>
        <p:spPr>
          <a:xfrm>
            <a:off x="787400" y="5295900"/>
            <a:ext cx="10541000" cy="276999"/>
          </a:xfrm>
          <a:prstGeom prst="rect">
            <a:avLst/>
          </a:prstGeom>
          <a:noFill/>
        </p:spPr>
        <p:txBody>
          <a:bodyPr vert="horz" wrap="square" lIns="0" tIns="0" rIns="0" bIns="0" rtlCol="0" anchor="ctr">
            <a:noAutofit/>
          </a:bodyPr>
          <a:lstStyle/>
          <a:p>
            <a:r>
              <a:rPr lang="en-US" sz="1300" b="1">
                <a:solidFill>
                  <a:srgbClr val="162330"/>
                </a:solidFill>
                <a:latin typeface="Aptos" panose="020B0004020202020204" pitchFamily="34" charset="0"/>
              </a:rPr>
              <a:t>Reliability safeguard: browser callback and Paystack webhook use the same idempotent completion process, so a payment cannot be credited twice.</a:t>
            </a:r>
          </a:p>
        </p:txBody>
      </p:sp>
    </p:spTree>
    <p:extLst>
      <p:ext uri="{BB962C8B-B14F-4D97-AF65-F5344CB8AC3E}">
        <p14:creationId xmlns:p14="http://schemas.microsoft.com/office/powerpoint/2010/main" val="1171457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74631D-9C0B-92CF-91D4-01DAF5A7FCFC}"/>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7B07001-F647-5A40-E4EA-77A8250ABF68}"/>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Security and Reliability Controls</a:t>
            </a:r>
          </a:p>
        </p:txBody>
      </p:sp>
      <p:sp>
        <p:nvSpPr>
          <p:cNvPr id="4" name="TextBox 3">
            <a:extLst>
              <a:ext uri="{FF2B5EF4-FFF2-40B4-BE49-F238E27FC236}">
                <a16:creationId xmlns:a16="http://schemas.microsoft.com/office/drawing/2014/main" id="{5B8C498C-987B-6263-848B-96C6A218EB8A}"/>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Controls implemented to protect users, content, and payments</a:t>
            </a:r>
          </a:p>
        </p:txBody>
      </p:sp>
      <p:cxnSp>
        <p:nvCxnSpPr>
          <p:cNvPr id="5" name="Straight Connector 4">
            <a:extLst>
              <a:ext uri="{FF2B5EF4-FFF2-40B4-BE49-F238E27FC236}">
                <a16:creationId xmlns:a16="http://schemas.microsoft.com/office/drawing/2014/main" id="{91A21F0F-AD9E-AFC0-0F07-F62B2C30CE7E}"/>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D3AA687-342C-E051-6D1C-5319C2EE2CCB}"/>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840B29E8-06CD-B114-972C-03862BD87CD3}"/>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7</a:t>
            </a:r>
          </a:p>
        </p:txBody>
      </p:sp>
      <p:sp>
        <p:nvSpPr>
          <p:cNvPr id="8" name="Rectangle: Rounded Corners 7">
            <a:extLst>
              <a:ext uri="{FF2B5EF4-FFF2-40B4-BE49-F238E27FC236}">
                <a16:creationId xmlns:a16="http://schemas.microsoft.com/office/drawing/2014/main" id="{02785B42-EFB5-72E7-8C64-507F9E06AE03}"/>
              </a:ext>
            </a:extLst>
          </p:cNvPr>
          <p:cNvSpPr/>
          <p:nvPr/>
        </p:nvSpPr>
        <p:spPr>
          <a:xfrm>
            <a:off x="533400" y="1600200"/>
            <a:ext cx="3429000" cy="1651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B3FC86B-09BF-BAD5-13C6-02CD3BF0D235}"/>
              </a:ext>
            </a:extLst>
          </p:cNvPr>
          <p:cNvSpPr/>
          <p:nvPr/>
        </p:nvSpPr>
        <p:spPr>
          <a:xfrm>
            <a:off x="533400" y="1600200"/>
            <a:ext cx="76200" cy="16510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8E364E2-4E90-950B-6828-455F47E1863F}"/>
              </a:ext>
            </a:extLst>
          </p:cNvPr>
          <p:cNvSpPr txBox="1"/>
          <p:nvPr/>
        </p:nvSpPr>
        <p:spPr>
          <a:xfrm>
            <a:off x="787400" y="1790700"/>
            <a:ext cx="381000" cy="276999"/>
          </a:xfrm>
          <a:prstGeom prst="rect">
            <a:avLst/>
          </a:prstGeom>
          <a:noFill/>
        </p:spPr>
        <p:txBody>
          <a:bodyPr vert="horz" wrap="square" lIns="0" tIns="0" rIns="0" bIns="0" rtlCol="0" anchor="ctr">
            <a:noAutofit/>
          </a:bodyPr>
          <a:lstStyle/>
          <a:p>
            <a:r>
              <a:rPr lang="en-US" sz="1400" b="1">
                <a:solidFill>
                  <a:srgbClr val="0964DA"/>
                </a:solidFill>
                <a:latin typeface="Aptos" panose="020B0004020202020204" pitchFamily="34" charset="0"/>
              </a:rPr>
              <a:t>01</a:t>
            </a:r>
          </a:p>
        </p:txBody>
      </p:sp>
      <p:sp>
        <p:nvSpPr>
          <p:cNvPr id="11" name="TextBox 10">
            <a:extLst>
              <a:ext uri="{FF2B5EF4-FFF2-40B4-BE49-F238E27FC236}">
                <a16:creationId xmlns:a16="http://schemas.microsoft.com/office/drawing/2014/main" id="{1FACF444-A5F6-1B20-7BD2-D97422E5B632}"/>
              </a:ext>
            </a:extLst>
          </p:cNvPr>
          <p:cNvSpPr txBox="1"/>
          <p:nvPr/>
        </p:nvSpPr>
        <p:spPr>
          <a:xfrm>
            <a:off x="787400" y="2146300"/>
            <a:ext cx="29464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Role-based access</a:t>
            </a:r>
          </a:p>
        </p:txBody>
      </p:sp>
      <p:sp>
        <p:nvSpPr>
          <p:cNvPr id="12" name="TextBox 11">
            <a:extLst>
              <a:ext uri="{FF2B5EF4-FFF2-40B4-BE49-F238E27FC236}">
                <a16:creationId xmlns:a16="http://schemas.microsoft.com/office/drawing/2014/main" id="{E845DDC2-0DFD-E0E3-63E1-7CDE23AEECF6}"/>
              </a:ext>
            </a:extLst>
          </p:cNvPr>
          <p:cNvSpPr txBox="1"/>
          <p:nvPr/>
        </p:nvSpPr>
        <p:spPr>
          <a:xfrm>
            <a:off x="787400" y="2654300"/>
            <a:ext cx="29464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Middleware and server-side role checks.</a:t>
            </a:r>
          </a:p>
        </p:txBody>
      </p:sp>
      <p:sp>
        <p:nvSpPr>
          <p:cNvPr id="13" name="Rectangle: Rounded Corners 12">
            <a:extLst>
              <a:ext uri="{FF2B5EF4-FFF2-40B4-BE49-F238E27FC236}">
                <a16:creationId xmlns:a16="http://schemas.microsoft.com/office/drawing/2014/main" id="{838C0A9A-C7D1-BF52-5500-8EDE23A550BA}"/>
              </a:ext>
            </a:extLst>
          </p:cNvPr>
          <p:cNvSpPr/>
          <p:nvPr/>
        </p:nvSpPr>
        <p:spPr>
          <a:xfrm>
            <a:off x="4305300" y="1600200"/>
            <a:ext cx="3429000" cy="1651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3AE1499-01FD-F27F-B23C-7A88CE7CEA84}"/>
              </a:ext>
            </a:extLst>
          </p:cNvPr>
          <p:cNvSpPr/>
          <p:nvPr/>
        </p:nvSpPr>
        <p:spPr>
          <a:xfrm>
            <a:off x="4305300" y="1600200"/>
            <a:ext cx="76200" cy="1651000"/>
          </a:xfrm>
          <a:prstGeom prst="rect">
            <a:avLst/>
          </a:prstGeom>
          <a:solidFill>
            <a:srgbClr val="148E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9A2DF1F-63B6-B29A-8319-19EEF9A93172}"/>
              </a:ext>
            </a:extLst>
          </p:cNvPr>
          <p:cNvSpPr txBox="1"/>
          <p:nvPr/>
        </p:nvSpPr>
        <p:spPr>
          <a:xfrm>
            <a:off x="4559300" y="1790700"/>
            <a:ext cx="381000" cy="276999"/>
          </a:xfrm>
          <a:prstGeom prst="rect">
            <a:avLst/>
          </a:prstGeom>
          <a:noFill/>
        </p:spPr>
        <p:txBody>
          <a:bodyPr vert="horz" wrap="square" lIns="0" tIns="0" rIns="0" bIns="0" rtlCol="0" anchor="ctr">
            <a:noAutofit/>
          </a:bodyPr>
          <a:lstStyle/>
          <a:p>
            <a:r>
              <a:rPr lang="en-US" sz="1400" b="1">
                <a:solidFill>
                  <a:srgbClr val="148E66"/>
                </a:solidFill>
                <a:latin typeface="Aptos" panose="020B0004020202020204" pitchFamily="34" charset="0"/>
              </a:rPr>
              <a:t>02</a:t>
            </a:r>
          </a:p>
        </p:txBody>
      </p:sp>
      <p:sp>
        <p:nvSpPr>
          <p:cNvPr id="16" name="TextBox 15">
            <a:extLst>
              <a:ext uri="{FF2B5EF4-FFF2-40B4-BE49-F238E27FC236}">
                <a16:creationId xmlns:a16="http://schemas.microsoft.com/office/drawing/2014/main" id="{4E428E7B-999F-4E23-12CF-BF8858A0EC6D}"/>
              </a:ext>
            </a:extLst>
          </p:cNvPr>
          <p:cNvSpPr txBox="1"/>
          <p:nvPr/>
        </p:nvSpPr>
        <p:spPr>
          <a:xfrm>
            <a:off x="4559300" y="2146300"/>
            <a:ext cx="29464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Password protection</a:t>
            </a:r>
          </a:p>
        </p:txBody>
      </p:sp>
      <p:sp>
        <p:nvSpPr>
          <p:cNvPr id="17" name="TextBox 16">
            <a:extLst>
              <a:ext uri="{FF2B5EF4-FFF2-40B4-BE49-F238E27FC236}">
                <a16:creationId xmlns:a16="http://schemas.microsoft.com/office/drawing/2014/main" id="{592E4EB9-250A-9706-4DEB-4679AB6069B5}"/>
              </a:ext>
            </a:extLst>
          </p:cNvPr>
          <p:cNvSpPr txBox="1"/>
          <p:nvPr/>
        </p:nvSpPr>
        <p:spPr>
          <a:xfrm>
            <a:off x="4559300" y="2654300"/>
            <a:ext cx="29464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bcrypt hashing and password rules.</a:t>
            </a:r>
          </a:p>
        </p:txBody>
      </p:sp>
      <p:sp>
        <p:nvSpPr>
          <p:cNvPr id="18" name="Rectangle: Rounded Corners 17">
            <a:extLst>
              <a:ext uri="{FF2B5EF4-FFF2-40B4-BE49-F238E27FC236}">
                <a16:creationId xmlns:a16="http://schemas.microsoft.com/office/drawing/2014/main" id="{EF1ADA94-4310-D326-C7CF-35CD476E98AE}"/>
              </a:ext>
            </a:extLst>
          </p:cNvPr>
          <p:cNvSpPr/>
          <p:nvPr/>
        </p:nvSpPr>
        <p:spPr>
          <a:xfrm>
            <a:off x="8077200" y="1600200"/>
            <a:ext cx="3429000" cy="1651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8BABA20-5ABA-0754-D0F1-25981480D23B}"/>
              </a:ext>
            </a:extLst>
          </p:cNvPr>
          <p:cNvSpPr/>
          <p:nvPr/>
        </p:nvSpPr>
        <p:spPr>
          <a:xfrm>
            <a:off x="8077200" y="1600200"/>
            <a:ext cx="76200" cy="1651000"/>
          </a:xfrm>
          <a:prstGeom prst="rect">
            <a:avLst/>
          </a:prstGeom>
          <a:solidFill>
            <a:srgbClr val="E08E1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FBF1AAA-E671-2B7B-E44A-BB73F2A8F8E0}"/>
              </a:ext>
            </a:extLst>
          </p:cNvPr>
          <p:cNvSpPr txBox="1"/>
          <p:nvPr/>
        </p:nvSpPr>
        <p:spPr>
          <a:xfrm>
            <a:off x="8331200" y="1790700"/>
            <a:ext cx="381000" cy="276999"/>
          </a:xfrm>
          <a:prstGeom prst="rect">
            <a:avLst/>
          </a:prstGeom>
          <a:noFill/>
        </p:spPr>
        <p:txBody>
          <a:bodyPr vert="horz" wrap="square" lIns="0" tIns="0" rIns="0" bIns="0" rtlCol="0" anchor="ctr">
            <a:noAutofit/>
          </a:bodyPr>
          <a:lstStyle/>
          <a:p>
            <a:r>
              <a:rPr lang="en-US" sz="1400" b="1">
                <a:solidFill>
                  <a:srgbClr val="E08E14"/>
                </a:solidFill>
                <a:latin typeface="Aptos" panose="020B0004020202020204" pitchFamily="34" charset="0"/>
              </a:rPr>
              <a:t>03</a:t>
            </a:r>
          </a:p>
        </p:txBody>
      </p:sp>
      <p:sp>
        <p:nvSpPr>
          <p:cNvPr id="21" name="TextBox 20">
            <a:extLst>
              <a:ext uri="{FF2B5EF4-FFF2-40B4-BE49-F238E27FC236}">
                <a16:creationId xmlns:a16="http://schemas.microsoft.com/office/drawing/2014/main" id="{503327E4-20D3-DD64-F5F7-D654D16E4A7E}"/>
              </a:ext>
            </a:extLst>
          </p:cNvPr>
          <p:cNvSpPr txBox="1"/>
          <p:nvPr/>
        </p:nvSpPr>
        <p:spPr>
          <a:xfrm>
            <a:off x="8331200" y="2146300"/>
            <a:ext cx="29464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Rate limiting</a:t>
            </a:r>
          </a:p>
        </p:txBody>
      </p:sp>
      <p:sp>
        <p:nvSpPr>
          <p:cNvPr id="22" name="TextBox 21">
            <a:extLst>
              <a:ext uri="{FF2B5EF4-FFF2-40B4-BE49-F238E27FC236}">
                <a16:creationId xmlns:a16="http://schemas.microsoft.com/office/drawing/2014/main" id="{1B68C733-7BC6-B84C-60EC-FD38AB7828E5}"/>
              </a:ext>
            </a:extLst>
          </p:cNvPr>
          <p:cNvSpPr txBox="1"/>
          <p:nvPr/>
        </p:nvSpPr>
        <p:spPr>
          <a:xfrm>
            <a:off x="8331200" y="2654300"/>
            <a:ext cx="29464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Database-backed protection against abuse.</a:t>
            </a:r>
          </a:p>
        </p:txBody>
      </p:sp>
      <p:sp>
        <p:nvSpPr>
          <p:cNvPr id="23" name="Rectangle: Rounded Corners 22">
            <a:extLst>
              <a:ext uri="{FF2B5EF4-FFF2-40B4-BE49-F238E27FC236}">
                <a16:creationId xmlns:a16="http://schemas.microsoft.com/office/drawing/2014/main" id="{BB3888B3-14E8-E037-F365-C4F920E511BD}"/>
              </a:ext>
            </a:extLst>
          </p:cNvPr>
          <p:cNvSpPr/>
          <p:nvPr/>
        </p:nvSpPr>
        <p:spPr>
          <a:xfrm>
            <a:off x="533400" y="3657600"/>
            <a:ext cx="3429000" cy="1651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9BD9684-11DB-BBDD-22A5-9FE3E197D5F8}"/>
              </a:ext>
            </a:extLst>
          </p:cNvPr>
          <p:cNvSpPr/>
          <p:nvPr/>
        </p:nvSpPr>
        <p:spPr>
          <a:xfrm>
            <a:off x="533400" y="3657600"/>
            <a:ext cx="76200" cy="1651000"/>
          </a:xfrm>
          <a:prstGeom prst="rect">
            <a:avLst/>
          </a:prstGeom>
          <a:solidFill>
            <a:srgbClr val="C93F3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FA6C0B5-2B90-2013-0391-C965C4EE7458}"/>
              </a:ext>
            </a:extLst>
          </p:cNvPr>
          <p:cNvSpPr txBox="1"/>
          <p:nvPr/>
        </p:nvSpPr>
        <p:spPr>
          <a:xfrm>
            <a:off x="787400" y="3848100"/>
            <a:ext cx="381000" cy="276999"/>
          </a:xfrm>
          <a:prstGeom prst="rect">
            <a:avLst/>
          </a:prstGeom>
          <a:noFill/>
        </p:spPr>
        <p:txBody>
          <a:bodyPr vert="horz" wrap="square" lIns="0" tIns="0" rIns="0" bIns="0" rtlCol="0" anchor="ctr">
            <a:noAutofit/>
          </a:bodyPr>
          <a:lstStyle/>
          <a:p>
            <a:r>
              <a:rPr lang="en-US" sz="1400" b="1">
                <a:solidFill>
                  <a:srgbClr val="C93F3F"/>
                </a:solidFill>
                <a:latin typeface="Aptos" panose="020B0004020202020204" pitchFamily="34" charset="0"/>
              </a:rPr>
              <a:t>04</a:t>
            </a:r>
          </a:p>
        </p:txBody>
      </p:sp>
      <p:sp>
        <p:nvSpPr>
          <p:cNvPr id="26" name="TextBox 25">
            <a:extLst>
              <a:ext uri="{FF2B5EF4-FFF2-40B4-BE49-F238E27FC236}">
                <a16:creationId xmlns:a16="http://schemas.microsoft.com/office/drawing/2014/main" id="{0BAB6CA2-7CC8-2EE2-7362-1614CD60BA85}"/>
              </a:ext>
            </a:extLst>
          </p:cNvPr>
          <p:cNvSpPr txBox="1"/>
          <p:nvPr/>
        </p:nvSpPr>
        <p:spPr>
          <a:xfrm>
            <a:off x="787400" y="4203700"/>
            <a:ext cx="29464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Signed quiz sessions</a:t>
            </a:r>
          </a:p>
        </p:txBody>
      </p:sp>
      <p:sp>
        <p:nvSpPr>
          <p:cNvPr id="27" name="TextBox 26">
            <a:extLst>
              <a:ext uri="{FF2B5EF4-FFF2-40B4-BE49-F238E27FC236}">
                <a16:creationId xmlns:a16="http://schemas.microsoft.com/office/drawing/2014/main" id="{0F73FE26-C791-5ECD-9376-316DB2296558}"/>
              </a:ext>
            </a:extLst>
          </p:cNvPr>
          <p:cNvSpPr txBox="1"/>
          <p:nvPr/>
        </p:nvSpPr>
        <p:spPr>
          <a:xfrm>
            <a:off x="787400" y="4711700"/>
            <a:ext cx="29464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Server-controlled attempt start time.</a:t>
            </a:r>
          </a:p>
        </p:txBody>
      </p:sp>
      <p:sp>
        <p:nvSpPr>
          <p:cNvPr id="28" name="Rectangle: Rounded Corners 27">
            <a:extLst>
              <a:ext uri="{FF2B5EF4-FFF2-40B4-BE49-F238E27FC236}">
                <a16:creationId xmlns:a16="http://schemas.microsoft.com/office/drawing/2014/main" id="{3B19B922-FA42-D4A6-F937-4089EE734AEB}"/>
              </a:ext>
            </a:extLst>
          </p:cNvPr>
          <p:cNvSpPr/>
          <p:nvPr/>
        </p:nvSpPr>
        <p:spPr>
          <a:xfrm>
            <a:off x="4305300" y="3657600"/>
            <a:ext cx="3429000" cy="1651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8306BFA-BB24-EBF4-5DBA-F364F88B9596}"/>
              </a:ext>
            </a:extLst>
          </p:cNvPr>
          <p:cNvSpPr/>
          <p:nvPr/>
        </p:nvSpPr>
        <p:spPr>
          <a:xfrm>
            <a:off x="4305300" y="3657600"/>
            <a:ext cx="76200" cy="16510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381AAEB-DA86-D364-C302-919EBC472C79}"/>
              </a:ext>
            </a:extLst>
          </p:cNvPr>
          <p:cNvSpPr txBox="1"/>
          <p:nvPr/>
        </p:nvSpPr>
        <p:spPr>
          <a:xfrm>
            <a:off x="4559300" y="3848100"/>
            <a:ext cx="381000" cy="276999"/>
          </a:xfrm>
          <a:prstGeom prst="rect">
            <a:avLst/>
          </a:prstGeom>
          <a:noFill/>
        </p:spPr>
        <p:txBody>
          <a:bodyPr vert="horz" wrap="square" lIns="0" tIns="0" rIns="0" bIns="0" rtlCol="0" anchor="ctr">
            <a:noAutofit/>
          </a:bodyPr>
          <a:lstStyle/>
          <a:p>
            <a:r>
              <a:rPr lang="en-US" sz="1400" b="1">
                <a:solidFill>
                  <a:srgbClr val="0964DA"/>
                </a:solidFill>
                <a:latin typeface="Aptos" panose="020B0004020202020204" pitchFamily="34" charset="0"/>
              </a:rPr>
              <a:t>05</a:t>
            </a:r>
          </a:p>
        </p:txBody>
      </p:sp>
      <p:sp>
        <p:nvSpPr>
          <p:cNvPr id="31" name="TextBox 30">
            <a:extLst>
              <a:ext uri="{FF2B5EF4-FFF2-40B4-BE49-F238E27FC236}">
                <a16:creationId xmlns:a16="http://schemas.microsoft.com/office/drawing/2014/main" id="{584BA318-3FEE-5BF7-BCD3-58D8F0AC35BA}"/>
              </a:ext>
            </a:extLst>
          </p:cNvPr>
          <p:cNvSpPr txBox="1"/>
          <p:nvPr/>
        </p:nvSpPr>
        <p:spPr>
          <a:xfrm>
            <a:off x="4559300" y="4203700"/>
            <a:ext cx="29464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Payment verification</a:t>
            </a:r>
          </a:p>
        </p:txBody>
      </p:sp>
      <p:sp>
        <p:nvSpPr>
          <p:cNvPr id="32" name="TextBox 31">
            <a:extLst>
              <a:ext uri="{FF2B5EF4-FFF2-40B4-BE49-F238E27FC236}">
                <a16:creationId xmlns:a16="http://schemas.microsoft.com/office/drawing/2014/main" id="{E58689E7-6CAB-1445-2A7B-D3EAF3853CE5}"/>
              </a:ext>
            </a:extLst>
          </p:cNvPr>
          <p:cNvSpPr txBox="1"/>
          <p:nvPr/>
        </p:nvSpPr>
        <p:spPr>
          <a:xfrm>
            <a:off x="4559300" y="4711700"/>
            <a:ext cx="29464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Verified transaction and idempotent processing.</a:t>
            </a:r>
          </a:p>
        </p:txBody>
      </p:sp>
      <p:sp>
        <p:nvSpPr>
          <p:cNvPr id="33" name="Rectangle: Rounded Corners 32">
            <a:extLst>
              <a:ext uri="{FF2B5EF4-FFF2-40B4-BE49-F238E27FC236}">
                <a16:creationId xmlns:a16="http://schemas.microsoft.com/office/drawing/2014/main" id="{2D4D5440-45AB-9548-9739-3B1A31712A29}"/>
              </a:ext>
            </a:extLst>
          </p:cNvPr>
          <p:cNvSpPr/>
          <p:nvPr/>
        </p:nvSpPr>
        <p:spPr>
          <a:xfrm>
            <a:off x="8077200" y="3657600"/>
            <a:ext cx="3429000" cy="1651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7227F83-B63A-BE77-6003-1DAD27C277AA}"/>
              </a:ext>
            </a:extLst>
          </p:cNvPr>
          <p:cNvSpPr/>
          <p:nvPr/>
        </p:nvSpPr>
        <p:spPr>
          <a:xfrm>
            <a:off x="8077200" y="3657600"/>
            <a:ext cx="76200" cy="1651000"/>
          </a:xfrm>
          <a:prstGeom prst="rect">
            <a:avLst/>
          </a:prstGeom>
          <a:solidFill>
            <a:srgbClr val="148E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5522595-B4EE-9B4E-FCE9-7272B38C1172}"/>
              </a:ext>
            </a:extLst>
          </p:cNvPr>
          <p:cNvSpPr txBox="1"/>
          <p:nvPr/>
        </p:nvSpPr>
        <p:spPr>
          <a:xfrm>
            <a:off x="8331200" y="3848100"/>
            <a:ext cx="381000" cy="276999"/>
          </a:xfrm>
          <a:prstGeom prst="rect">
            <a:avLst/>
          </a:prstGeom>
          <a:noFill/>
        </p:spPr>
        <p:txBody>
          <a:bodyPr vert="horz" wrap="square" lIns="0" tIns="0" rIns="0" bIns="0" rtlCol="0" anchor="ctr">
            <a:noAutofit/>
          </a:bodyPr>
          <a:lstStyle/>
          <a:p>
            <a:r>
              <a:rPr lang="en-US" sz="1400" b="1">
                <a:solidFill>
                  <a:srgbClr val="148E66"/>
                </a:solidFill>
                <a:latin typeface="Aptos" panose="020B0004020202020204" pitchFamily="34" charset="0"/>
              </a:rPr>
              <a:t>06</a:t>
            </a:r>
          </a:p>
        </p:txBody>
      </p:sp>
      <p:sp>
        <p:nvSpPr>
          <p:cNvPr id="36" name="TextBox 35">
            <a:extLst>
              <a:ext uri="{FF2B5EF4-FFF2-40B4-BE49-F238E27FC236}">
                <a16:creationId xmlns:a16="http://schemas.microsoft.com/office/drawing/2014/main" id="{4EE80E23-15FA-E45D-ADE3-4EEFE41BDB6A}"/>
              </a:ext>
            </a:extLst>
          </p:cNvPr>
          <p:cNvSpPr txBox="1"/>
          <p:nvPr/>
        </p:nvSpPr>
        <p:spPr>
          <a:xfrm>
            <a:off x="8331200" y="4203700"/>
            <a:ext cx="2946400" cy="276999"/>
          </a:xfrm>
          <a:prstGeom prst="rect">
            <a:avLst/>
          </a:prstGeom>
          <a:noFill/>
        </p:spPr>
        <p:txBody>
          <a:bodyPr vert="horz" wrap="square" lIns="0" tIns="0" rIns="0" bIns="0" rtlCol="0" anchor="ctr">
            <a:noAutofit/>
          </a:bodyPr>
          <a:lstStyle/>
          <a:p>
            <a:r>
              <a:rPr lang="en-US" sz="1600" b="1">
                <a:solidFill>
                  <a:srgbClr val="162330"/>
                </a:solidFill>
                <a:latin typeface="Aptos" panose="020B0004020202020204" pitchFamily="34" charset="0"/>
              </a:rPr>
              <a:t>Audit trail</a:t>
            </a:r>
          </a:p>
        </p:txBody>
      </p:sp>
      <p:sp>
        <p:nvSpPr>
          <p:cNvPr id="37" name="TextBox 36">
            <a:extLst>
              <a:ext uri="{FF2B5EF4-FFF2-40B4-BE49-F238E27FC236}">
                <a16:creationId xmlns:a16="http://schemas.microsoft.com/office/drawing/2014/main" id="{62084783-298A-2A58-C5CB-E02EDBC1DD9B}"/>
              </a:ext>
            </a:extLst>
          </p:cNvPr>
          <p:cNvSpPr txBox="1"/>
          <p:nvPr/>
        </p:nvSpPr>
        <p:spPr>
          <a:xfrm>
            <a:off x="8331200" y="4711700"/>
            <a:ext cx="29464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Sensitive actions recorded for accountability.</a:t>
            </a:r>
          </a:p>
        </p:txBody>
      </p:sp>
      <p:sp>
        <p:nvSpPr>
          <p:cNvPr id="38" name="TextBox 37">
            <a:extLst>
              <a:ext uri="{FF2B5EF4-FFF2-40B4-BE49-F238E27FC236}">
                <a16:creationId xmlns:a16="http://schemas.microsoft.com/office/drawing/2014/main" id="{E878D305-D4F7-B469-CF4B-42E6F594CA56}"/>
              </a:ext>
            </a:extLst>
          </p:cNvPr>
          <p:cNvSpPr txBox="1"/>
          <p:nvPr/>
        </p:nvSpPr>
        <p:spPr>
          <a:xfrm>
            <a:off x="533400" y="5791200"/>
            <a:ext cx="9906000" cy="276999"/>
          </a:xfrm>
          <a:prstGeom prst="rect">
            <a:avLst/>
          </a:prstGeom>
          <a:noFill/>
        </p:spPr>
        <p:txBody>
          <a:bodyPr vert="horz" wrap="square" lIns="0" tIns="0" rIns="0" bIns="0" rtlCol="0" anchor="ctr">
            <a:noAutofit/>
          </a:bodyPr>
          <a:lstStyle/>
          <a:p>
            <a:r>
              <a:rPr lang="en-US" sz="1400" b="1">
                <a:solidFill>
                  <a:srgbClr val="162330"/>
                </a:solidFill>
                <a:latin typeface="Aptos" panose="020B0004020202020204" pitchFamily="34" charset="0"/>
              </a:rPr>
              <a:t>Security is a design requirement rather than a later add-on.</a:t>
            </a:r>
          </a:p>
        </p:txBody>
      </p:sp>
    </p:spTree>
    <p:extLst>
      <p:ext uri="{BB962C8B-B14F-4D97-AF65-F5344CB8AC3E}">
        <p14:creationId xmlns:p14="http://schemas.microsoft.com/office/powerpoint/2010/main" val="1945483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F3EA3D-0AE6-D69A-83FE-6751D55021C2}"/>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83FF227-CF86-EB5B-17F1-C449C04B5A0D}"/>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Public and Authentication Experience</a:t>
            </a:r>
          </a:p>
        </p:txBody>
      </p:sp>
      <p:sp>
        <p:nvSpPr>
          <p:cNvPr id="4" name="TextBox 3">
            <a:extLst>
              <a:ext uri="{FF2B5EF4-FFF2-40B4-BE49-F238E27FC236}">
                <a16:creationId xmlns:a16="http://schemas.microsoft.com/office/drawing/2014/main" id="{28FA469B-B5AE-D50D-3676-222A310441AC}"/>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The first screens seen by a visitor, shown on a mobile browser</a:t>
            </a:r>
          </a:p>
        </p:txBody>
      </p:sp>
      <p:cxnSp>
        <p:nvCxnSpPr>
          <p:cNvPr id="5" name="Straight Connector 4">
            <a:extLst>
              <a:ext uri="{FF2B5EF4-FFF2-40B4-BE49-F238E27FC236}">
                <a16:creationId xmlns:a16="http://schemas.microsoft.com/office/drawing/2014/main" id="{DD804F6D-B3B8-6367-31DD-59293D8FF681}"/>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686AAFA-0F8A-9345-80DC-65E2F1CDA8CA}"/>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4D54231C-9ED4-FB46-46F9-EB9BF8986B30}"/>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8</a:t>
            </a:r>
          </a:p>
        </p:txBody>
      </p:sp>
      <p:sp>
        <p:nvSpPr>
          <p:cNvPr id="8" name="Rectangle: Rounded Corners 7">
            <a:extLst>
              <a:ext uri="{FF2B5EF4-FFF2-40B4-BE49-F238E27FC236}">
                <a16:creationId xmlns:a16="http://schemas.microsoft.com/office/drawing/2014/main" id="{8F8846FB-3300-01AE-11A6-525D1AFF8E32}"/>
              </a:ext>
            </a:extLst>
          </p:cNvPr>
          <p:cNvSpPr/>
          <p:nvPr/>
        </p:nvSpPr>
        <p:spPr>
          <a:xfrm>
            <a:off x="533400" y="1397000"/>
            <a:ext cx="3429000" cy="44958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BB165A1-BAAA-A077-C762-04F3867762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28514" y="1574800"/>
            <a:ext cx="1638773" cy="3556000"/>
          </a:xfrm>
          <a:prstGeom prst="rect">
            <a:avLst/>
          </a:prstGeom>
          <a:ln w="8255">
            <a:solidFill>
              <a:srgbClr val="D7E2EF"/>
            </a:solidFill>
          </a:ln>
        </p:spPr>
      </p:pic>
      <p:sp>
        <p:nvSpPr>
          <p:cNvPr id="11" name="TextBox 10">
            <a:extLst>
              <a:ext uri="{FF2B5EF4-FFF2-40B4-BE49-F238E27FC236}">
                <a16:creationId xmlns:a16="http://schemas.microsoft.com/office/drawing/2014/main" id="{F44AF677-F489-0464-63B8-94CD897FA577}"/>
              </a:ext>
            </a:extLst>
          </p:cNvPr>
          <p:cNvSpPr txBox="1"/>
          <p:nvPr/>
        </p:nvSpPr>
        <p:spPr>
          <a:xfrm>
            <a:off x="736600" y="5283200"/>
            <a:ext cx="30226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Landing page</a:t>
            </a:r>
          </a:p>
        </p:txBody>
      </p:sp>
      <p:sp>
        <p:nvSpPr>
          <p:cNvPr id="12" name="TextBox 11">
            <a:extLst>
              <a:ext uri="{FF2B5EF4-FFF2-40B4-BE49-F238E27FC236}">
                <a16:creationId xmlns:a16="http://schemas.microsoft.com/office/drawing/2014/main" id="{C4C79934-9046-2C1D-0EE6-1C1BDFC90F06}"/>
              </a:ext>
            </a:extLst>
          </p:cNvPr>
          <p:cNvSpPr txBox="1"/>
          <p:nvPr/>
        </p:nvSpPr>
        <p:spPr>
          <a:xfrm>
            <a:off x="736600" y="5562600"/>
            <a:ext cx="30226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Clear entry points to explore, teach, and join.</a:t>
            </a:r>
          </a:p>
        </p:txBody>
      </p:sp>
      <p:sp>
        <p:nvSpPr>
          <p:cNvPr id="13" name="Rectangle: Rounded Corners 12">
            <a:extLst>
              <a:ext uri="{FF2B5EF4-FFF2-40B4-BE49-F238E27FC236}">
                <a16:creationId xmlns:a16="http://schemas.microsoft.com/office/drawing/2014/main" id="{0E71C9FE-2F3E-8597-55BF-40FA87E9CCD8}"/>
              </a:ext>
            </a:extLst>
          </p:cNvPr>
          <p:cNvSpPr/>
          <p:nvPr/>
        </p:nvSpPr>
        <p:spPr>
          <a:xfrm>
            <a:off x="4318000" y="1397000"/>
            <a:ext cx="3429000" cy="44958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40C70ADF-D3FF-C5BD-3ED8-02AE49C29D1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213114" y="1574800"/>
            <a:ext cx="1638773" cy="3556000"/>
          </a:xfrm>
          <a:prstGeom prst="rect">
            <a:avLst/>
          </a:prstGeom>
          <a:ln w="8255">
            <a:solidFill>
              <a:srgbClr val="D7E2EF"/>
            </a:solidFill>
          </a:ln>
        </p:spPr>
      </p:pic>
      <p:sp>
        <p:nvSpPr>
          <p:cNvPr id="16" name="TextBox 15">
            <a:extLst>
              <a:ext uri="{FF2B5EF4-FFF2-40B4-BE49-F238E27FC236}">
                <a16:creationId xmlns:a16="http://schemas.microsoft.com/office/drawing/2014/main" id="{83217A16-71D7-57F1-8A48-8301576E478C}"/>
              </a:ext>
            </a:extLst>
          </p:cNvPr>
          <p:cNvSpPr txBox="1"/>
          <p:nvPr/>
        </p:nvSpPr>
        <p:spPr>
          <a:xfrm>
            <a:off x="4521200" y="5283200"/>
            <a:ext cx="30226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Course catalogue</a:t>
            </a:r>
          </a:p>
        </p:txBody>
      </p:sp>
      <p:sp>
        <p:nvSpPr>
          <p:cNvPr id="17" name="TextBox 16">
            <a:extLst>
              <a:ext uri="{FF2B5EF4-FFF2-40B4-BE49-F238E27FC236}">
                <a16:creationId xmlns:a16="http://schemas.microsoft.com/office/drawing/2014/main" id="{B5933218-D537-ECD7-28B1-2A44A669BA92}"/>
              </a:ext>
            </a:extLst>
          </p:cNvPr>
          <p:cNvSpPr txBox="1"/>
          <p:nvPr/>
        </p:nvSpPr>
        <p:spPr>
          <a:xfrm>
            <a:off x="4521200" y="5562600"/>
            <a:ext cx="30226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Search, category filtering, and published course cards.</a:t>
            </a:r>
          </a:p>
        </p:txBody>
      </p:sp>
      <p:sp>
        <p:nvSpPr>
          <p:cNvPr id="18" name="Rectangle: Rounded Corners 17">
            <a:extLst>
              <a:ext uri="{FF2B5EF4-FFF2-40B4-BE49-F238E27FC236}">
                <a16:creationId xmlns:a16="http://schemas.microsoft.com/office/drawing/2014/main" id="{CA80BA37-465F-73EE-3A83-18ADE1EB96B7}"/>
              </a:ext>
            </a:extLst>
          </p:cNvPr>
          <p:cNvSpPr/>
          <p:nvPr/>
        </p:nvSpPr>
        <p:spPr>
          <a:xfrm>
            <a:off x="8102600" y="1397000"/>
            <a:ext cx="3556000" cy="44958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C35019E8-0CDA-18B4-3FC4-B721F5B4BC8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9061214" y="1574800"/>
            <a:ext cx="1638773" cy="3556000"/>
          </a:xfrm>
          <a:prstGeom prst="rect">
            <a:avLst/>
          </a:prstGeom>
          <a:ln w="8255">
            <a:solidFill>
              <a:srgbClr val="D7E2EF"/>
            </a:solidFill>
          </a:ln>
        </p:spPr>
      </p:pic>
      <p:sp>
        <p:nvSpPr>
          <p:cNvPr id="21" name="TextBox 20">
            <a:extLst>
              <a:ext uri="{FF2B5EF4-FFF2-40B4-BE49-F238E27FC236}">
                <a16:creationId xmlns:a16="http://schemas.microsoft.com/office/drawing/2014/main" id="{AE4DC4E4-1554-846C-D365-1FCF23690689}"/>
              </a:ext>
            </a:extLst>
          </p:cNvPr>
          <p:cNvSpPr txBox="1"/>
          <p:nvPr/>
        </p:nvSpPr>
        <p:spPr>
          <a:xfrm>
            <a:off x="8305800" y="5283200"/>
            <a:ext cx="31496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Sign-in</a:t>
            </a:r>
          </a:p>
        </p:txBody>
      </p:sp>
      <p:sp>
        <p:nvSpPr>
          <p:cNvPr id="22" name="TextBox 21">
            <a:extLst>
              <a:ext uri="{FF2B5EF4-FFF2-40B4-BE49-F238E27FC236}">
                <a16:creationId xmlns:a16="http://schemas.microsoft.com/office/drawing/2014/main" id="{CD4A4111-BD01-40BB-1D13-7313628134A0}"/>
              </a:ext>
            </a:extLst>
          </p:cNvPr>
          <p:cNvSpPr txBox="1"/>
          <p:nvPr/>
        </p:nvSpPr>
        <p:spPr>
          <a:xfrm>
            <a:off x="8305800" y="5562600"/>
            <a:ext cx="31496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Users may sign in with a user ID or email address.</a:t>
            </a:r>
          </a:p>
        </p:txBody>
      </p:sp>
    </p:spTree>
    <p:extLst>
      <p:ext uri="{BB962C8B-B14F-4D97-AF65-F5344CB8AC3E}">
        <p14:creationId xmlns:p14="http://schemas.microsoft.com/office/powerpoint/2010/main" val="1594810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926FEB-12A1-55EB-0474-9CF16EAC8CB1}"/>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C7CDFCA-6BED-C62F-2E95-3CF514DA52A0}"/>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Student Learning Experience</a:t>
            </a:r>
          </a:p>
        </p:txBody>
      </p:sp>
      <p:sp>
        <p:nvSpPr>
          <p:cNvPr id="4" name="TextBox 3">
            <a:extLst>
              <a:ext uri="{FF2B5EF4-FFF2-40B4-BE49-F238E27FC236}">
                <a16:creationId xmlns:a16="http://schemas.microsoft.com/office/drawing/2014/main" id="{C1D1CE05-44B0-738E-722E-59095FD9167E}"/>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Course progress and timed automatic assessment</a:t>
            </a:r>
          </a:p>
        </p:txBody>
      </p:sp>
      <p:cxnSp>
        <p:nvCxnSpPr>
          <p:cNvPr id="5" name="Straight Connector 4">
            <a:extLst>
              <a:ext uri="{FF2B5EF4-FFF2-40B4-BE49-F238E27FC236}">
                <a16:creationId xmlns:a16="http://schemas.microsoft.com/office/drawing/2014/main" id="{2DE4A19B-F2AC-1422-1502-1F056EC283A8}"/>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5C9F90C-E221-9876-C5A4-4023E681049C}"/>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180E3463-1D2A-106F-8FE3-F03544F4809C}"/>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9</a:t>
            </a:r>
          </a:p>
        </p:txBody>
      </p:sp>
      <p:sp>
        <p:nvSpPr>
          <p:cNvPr id="8" name="Rectangle: Rounded Corners 7">
            <a:extLst>
              <a:ext uri="{FF2B5EF4-FFF2-40B4-BE49-F238E27FC236}">
                <a16:creationId xmlns:a16="http://schemas.microsoft.com/office/drawing/2014/main" id="{7BA9D37C-D4A2-D185-7990-07D2AD68C21F}"/>
              </a:ext>
            </a:extLst>
          </p:cNvPr>
          <p:cNvSpPr/>
          <p:nvPr/>
        </p:nvSpPr>
        <p:spPr>
          <a:xfrm>
            <a:off x="176784" y="1422400"/>
            <a:ext cx="4966716" cy="401826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F6D58E8B-6F8F-511B-6890-80ECEADF84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813700"/>
            <a:ext cx="4267200" cy="2527300"/>
          </a:xfrm>
          <a:prstGeom prst="rect">
            <a:avLst/>
          </a:prstGeom>
          <a:ln w="8255">
            <a:solidFill>
              <a:srgbClr val="D7E2EF"/>
            </a:solidFill>
          </a:ln>
        </p:spPr>
      </p:pic>
      <p:sp>
        <p:nvSpPr>
          <p:cNvPr id="11" name="TextBox 10">
            <a:extLst>
              <a:ext uri="{FF2B5EF4-FFF2-40B4-BE49-F238E27FC236}">
                <a16:creationId xmlns:a16="http://schemas.microsoft.com/office/drawing/2014/main" id="{F718E7BC-7BEE-6A28-828D-44C2ED8B28DC}"/>
              </a:ext>
            </a:extLst>
          </p:cNvPr>
          <p:cNvSpPr txBox="1"/>
          <p:nvPr/>
        </p:nvSpPr>
        <p:spPr>
          <a:xfrm>
            <a:off x="762000" y="4622800"/>
            <a:ext cx="40386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Student dashboard</a:t>
            </a:r>
          </a:p>
        </p:txBody>
      </p:sp>
      <p:sp>
        <p:nvSpPr>
          <p:cNvPr id="12" name="TextBox 11">
            <a:extLst>
              <a:ext uri="{FF2B5EF4-FFF2-40B4-BE49-F238E27FC236}">
                <a16:creationId xmlns:a16="http://schemas.microsoft.com/office/drawing/2014/main" id="{8D787EC2-7E8A-4E40-30D5-E48A2ADB4CDD}"/>
              </a:ext>
            </a:extLst>
          </p:cNvPr>
          <p:cNvSpPr txBox="1"/>
          <p:nvPr/>
        </p:nvSpPr>
        <p:spPr>
          <a:xfrm>
            <a:off x="762000" y="4914900"/>
            <a:ext cx="40386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Enrolled courses, current progress, and a continue-learning route.</a:t>
            </a:r>
          </a:p>
        </p:txBody>
      </p:sp>
      <p:sp>
        <p:nvSpPr>
          <p:cNvPr id="13" name="Rectangle: Rounded Corners 12">
            <a:extLst>
              <a:ext uri="{FF2B5EF4-FFF2-40B4-BE49-F238E27FC236}">
                <a16:creationId xmlns:a16="http://schemas.microsoft.com/office/drawing/2014/main" id="{C21E796B-25EB-AFBC-4FAB-B6E7759FEFF8}"/>
              </a:ext>
            </a:extLst>
          </p:cNvPr>
          <p:cNvSpPr/>
          <p:nvPr/>
        </p:nvSpPr>
        <p:spPr>
          <a:xfrm>
            <a:off x="5334000" y="1422399"/>
            <a:ext cx="5081016" cy="4018269"/>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68161C8-05B6-885C-EF48-7D381505D29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662122" y="1813699"/>
            <a:ext cx="4497924" cy="2527301"/>
          </a:xfrm>
          <a:prstGeom prst="rect">
            <a:avLst/>
          </a:prstGeom>
          <a:ln w="8255">
            <a:solidFill>
              <a:srgbClr val="D7E2EF"/>
            </a:solidFill>
          </a:ln>
        </p:spPr>
      </p:pic>
      <p:sp>
        <p:nvSpPr>
          <p:cNvPr id="16" name="TextBox 15">
            <a:extLst>
              <a:ext uri="{FF2B5EF4-FFF2-40B4-BE49-F238E27FC236}">
                <a16:creationId xmlns:a16="http://schemas.microsoft.com/office/drawing/2014/main" id="{1EFEB306-DF6E-DCD7-A05E-288B1FFFCF74}"/>
              </a:ext>
            </a:extLst>
          </p:cNvPr>
          <p:cNvSpPr txBox="1"/>
          <p:nvPr/>
        </p:nvSpPr>
        <p:spPr>
          <a:xfrm>
            <a:off x="5891784" y="4622800"/>
            <a:ext cx="4038600" cy="276999"/>
          </a:xfrm>
          <a:prstGeom prst="rect">
            <a:avLst/>
          </a:prstGeom>
          <a:noFill/>
        </p:spPr>
        <p:txBody>
          <a:bodyPr vert="horz" wrap="square" lIns="0" tIns="0" rIns="0" bIns="0" rtlCol="0" anchor="ctr">
            <a:noAutofit/>
          </a:bodyPr>
          <a:lstStyle/>
          <a:p>
            <a:pPr algn="ctr"/>
            <a:r>
              <a:rPr lang="en-US" sz="1300" b="1" dirty="0">
                <a:solidFill>
                  <a:srgbClr val="162330"/>
                </a:solidFill>
                <a:latin typeface="Aptos" panose="020B0004020202020204" pitchFamily="34" charset="0"/>
              </a:rPr>
              <a:t>Timed quiz</a:t>
            </a:r>
          </a:p>
        </p:txBody>
      </p:sp>
      <p:sp>
        <p:nvSpPr>
          <p:cNvPr id="17" name="TextBox 16">
            <a:extLst>
              <a:ext uri="{FF2B5EF4-FFF2-40B4-BE49-F238E27FC236}">
                <a16:creationId xmlns:a16="http://schemas.microsoft.com/office/drawing/2014/main" id="{699B2D43-4168-75BE-9EF3-9817CFB2FCE4}"/>
              </a:ext>
            </a:extLst>
          </p:cNvPr>
          <p:cNvSpPr txBox="1"/>
          <p:nvPr/>
        </p:nvSpPr>
        <p:spPr>
          <a:xfrm>
            <a:off x="6038088" y="4914900"/>
            <a:ext cx="4038600" cy="276999"/>
          </a:xfrm>
          <a:prstGeom prst="rect">
            <a:avLst/>
          </a:prstGeom>
          <a:noFill/>
        </p:spPr>
        <p:txBody>
          <a:bodyPr vert="horz" wrap="square" lIns="0" tIns="0" rIns="0" bIns="0" rtlCol="0" anchor="ctr">
            <a:noAutofit/>
          </a:bodyPr>
          <a:lstStyle/>
          <a:p>
            <a:pPr algn="ctr"/>
            <a:r>
              <a:rPr lang="en-US" sz="1000" dirty="0">
                <a:solidFill>
                  <a:srgbClr val="566675"/>
                </a:solidFill>
                <a:latin typeface="Aptos" panose="020B0004020202020204" pitchFamily="34" charset="0"/>
              </a:rPr>
              <a:t>Automatic marking, pass score, and an attempt protected by a signed token.</a:t>
            </a:r>
          </a:p>
        </p:txBody>
      </p:sp>
      <p:sp>
        <p:nvSpPr>
          <p:cNvPr id="18" name="Rectangle: Rounded Corners 17">
            <a:extLst>
              <a:ext uri="{FF2B5EF4-FFF2-40B4-BE49-F238E27FC236}">
                <a16:creationId xmlns:a16="http://schemas.microsoft.com/office/drawing/2014/main" id="{D8B4C62A-53D9-ECB2-F7A7-2D679C3351B5}"/>
              </a:ext>
            </a:extLst>
          </p:cNvPr>
          <p:cNvSpPr/>
          <p:nvPr/>
        </p:nvSpPr>
        <p:spPr>
          <a:xfrm>
            <a:off x="10516616" y="1422400"/>
            <a:ext cx="1498600" cy="3810000"/>
          </a:xfrm>
          <a:prstGeom prst="roundRect">
            <a:avLst/>
          </a:prstGeom>
          <a:solidFill>
            <a:srgbClr val="0B1F3A"/>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A01AE63-E43A-6D50-A187-0F38D64E1C6F}"/>
              </a:ext>
            </a:extLst>
          </p:cNvPr>
          <p:cNvSpPr txBox="1"/>
          <p:nvPr/>
        </p:nvSpPr>
        <p:spPr>
          <a:xfrm>
            <a:off x="10707116" y="1765300"/>
            <a:ext cx="1117600" cy="276999"/>
          </a:xfrm>
          <a:prstGeom prst="rect">
            <a:avLst/>
          </a:prstGeom>
          <a:noFill/>
        </p:spPr>
        <p:txBody>
          <a:bodyPr vert="horz" wrap="square" lIns="0" tIns="0" rIns="0" bIns="0" rtlCol="0" anchor="ctr">
            <a:noAutofit/>
          </a:bodyPr>
          <a:lstStyle/>
          <a:p>
            <a:pPr algn="ctr"/>
            <a:r>
              <a:rPr lang="en-US" sz="1000" b="1">
                <a:solidFill>
                  <a:srgbClr val="E8F2FF"/>
                </a:solidFill>
                <a:latin typeface="Aptos" panose="020B0004020202020204" pitchFamily="34" charset="0"/>
              </a:rPr>
              <a:t>PROGRESS</a:t>
            </a:r>
          </a:p>
        </p:txBody>
      </p:sp>
      <p:sp>
        <p:nvSpPr>
          <p:cNvPr id="20" name="TextBox 19">
            <a:extLst>
              <a:ext uri="{FF2B5EF4-FFF2-40B4-BE49-F238E27FC236}">
                <a16:creationId xmlns:a16="http://schemas.microsoft.com/office/drawing/2014/main" id="{E24D1A6D-2DEE-1858-FAE2-B84B262BB7FB}"/>
              </a:ext>
            </a:extLst>
          </p:cNvPr>
          <p:cNvSpPr txBox="1"/>
          <p:nvPr/>
        </p:nvSpPr>
        <p:spPr>
          <a:xfrm>
            <a:off x="10707116" y="2489200"/>
            <a:ext cx="11176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Lessons</a:t>
            </a:r>
          </a:p>
        </p:txBody>
      </p:sp>
      <p:sp>
        <p:nvSpPr>
          <p:cNvPr id="21" name="TextBox 20">
            <a:extLst>
              <a:ext uri="{FF2B5EF4-FFF2-40B4-BE49-F238E27FC236}">
                <a16:creationId xmlns:a16="http://schemas.microsoft.com/office/drawing/2014/main" id="{C9750640-D0ED-673F-0119-87B55143BF6A}"/>
              </a:ext>
            </a:extLst>
          </p:cNvPr>
          <p:cNvSpPr txBox="1"/>
          <p:nvPr/>
        </p:nvSpPr>
        <p:spPr>
          <a:xfrm>
            <a:off x="10707116" y="2971800"/>
            <a:ext cx="1117600" cy="276999"/>
          </a:xfrm>
          <a:prstGeom prst="rect">
            <a:avLst/>
          </a:prstGeom>
          <a:noFill/>
        </p:spPr>
        <p:txBody>
          <a:bodyPr vert="horz" wrap="square" lIns="0" tIns="0" rIns="0" bIns="0" rtlCol="0" anchor="ctr">
            <a:noAutofit/>
          </a:bodyPr>
          <a:lstStyle/>
          <a:p>
            <a:pPr algn="ctr"/>
            <a:r>
              <a:rPr lang="en-US" b="1" dirty="0">
                <a:solidFill>
                  <a:srgbClr val="368AF0"/>
                </a:solidFill>
                <a:latin typeface="Aptos" panose="020B0004020202020204" pitchFamily="34" charset="0"/>
              </a:rPr>
              <a:t>+</a:t>
            </a:r>
          </a:p>
        </p:txBody>
      </p:sp>
      <p:sp>
        <p:nvSpPr>
          <p:cNvPr id="22" name="TextBox 21">
            <a:extLst>
              <a:ext uri="{FF2B5EF4-FFF2-40B4-BE49-F238E27FC236}">
                <a16:creationId xmlns:a16="http://schemas.microsoft.com/office/drawing/2014/main" id="{D736F0FF-4059-2DC8-AA39-99B59BEBF9C5}"/>
              </a:ext>
            </a:extLst>
          </p:cNvPr>
          <p:cNvSpPr txBox="1"/>
          <p:nvPr/>
        </p:nvSpPr>
        <p:spPr>
          <a:xfrm>
            <a:off x="10707116" y="3429000"/>
            <a:ext cx="11176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Passed
quizzes</a:t>
            </a:r>
          </a:p>
        </p:txBody>
      </p:sp>
      <p:sp>
        <p:nvSpPr>
          <p:cNvPr id="23" name="TextBox 22">
            <a:extLst>
              <a:ext uri="{FF2B5EF4-FFF2-40B4-BE49-F238E27FC236}">
                <a16:creationId xmlns:a16="http://schemas.microsoft.com/office/drawing/2014/main" id="{479A6751-9DD3-902D-CE1E-FCB8BECC852A}"/>
              </a:ext>
            </a:extLst>
          </p:cNvPr>
          <p:cNvSpPr txBox="1"/>
          <p:nvPr/>
        </p:nvSpPr>
        <p:spPr>
          <a:xfrm>
            <a:off x="10707116" y="4191000"/>
            <a:ext cx="1117600" cy="276999"/>
          </a:xfrm>
          <a:prstGeom prst="rect">
            <a:avLst/>
          </a:prstGeom>
          <a:noFill/>
        </p:spPr>
        <p:txBody>
          <a:bodyPr vert="horz" wrap="square" lIns="0" tIns="0" rIns="0" bIns="0" rtlCol="0" anchor="ctr">
            <a:noAutofit/>
          </a:bodyPr>
          <a:lstStyle/>
          <a:p>
            <a:pPr algn="ctr"/>
            <a:r>
              <a:rPr lang="en-US" b="1">
                <a:solidFill>
                  <a:srgbClr val="368AF0"/>
                </a:solidFill>
                <a:latin typeface="Aptos" panose="020B0004020202020204" pitchFamily="34" charset="0"/>
              </a:rPr>
              <a:t>=</a:t>
            </a:r>
          </a:p>
        </p:txBody>
      </p:sp>
      <p:sp>
        <p:nvSpPr>
          <p:cNvPr id="24" name="TextBox 23">
            <a:extLst>
              <a:ext uri="{FF2B5EF4-FFF2-40B4-BE49-F238E27FC236}">
                <a16:creationId xmlns:a16="http://schemas.microsoft.com/office/drawing/2014/main" id="{931F0A8A-C0BE-0004-7326-F50D0A046F36}"/>
              </a:ext>
            </a:extLst>
          </p:cNvPr>
          <p:cNvSpPr txBox="1"/>
          <p:nvPr/>
        </p:nvSpPr>
        <p:spPr>
          <a:xfrm>
            <a:off x="10707116" y="4648200"/>
            <a:ext cx="11176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Course
completion</a:t>
            </a:r>
          </a:p>
        </p:txBody>
      </p:sp>
      <p:sp>
        <p:nvSpPr>
          <p:cNvPr id="26" name="TextBox 25">
            <a:extLst>
              <a:ext uri="{FF2B5EF4-FFF2-40B4-BE49-F238E27FC236}">
                <a16:creationId xmlns:a16="http://schemas.microsoft.com/office/drawing/2014/main" id="{4E024CD5-A4E0-7298-22DC-5789380C0FDE}"/>
              </a:ext>
            </a:extLst>
          </p:cNvPr>
          <p:cNvSpPr txBox="1"/>
          <p:nvPr/>
        </p:nvSpPr>
        <p:spPr>
          <a:xfrm>
            <a:off x="10707116" y="2127250"/>
            <a:ext cx="1117600" cy="276999"/>
          </a:xfrm>
          <a:prstGeom prst="rect">
            <a:avLst/>
          </a:prstGeom>
          <a:noFill/>
        </p:spPr>
        <p:txBody>
          <a:bodyPr vert="horz" wrap="square" lIns="0" tIns="0" rIns="0" bIns="0" rtlCol="0" anchor="ctr">
            <a:noAutofit/>
          </a:bodyPr>
          <a:lstStyle/>
          <a:p>
            <a:pPr algn="ctr"/>
            <a:r>
              <a:rPr lang="en-US" b="1" dirty="0">
                <a:solidFill>
                  <a:srgbClr val="368AF0"/>
                </a:solidFill>
                <a:latin typeface="Aptos" panose="020B0004020202020204" pitchFamily="34" charset="0"/>
              </a:rPr>
              <a:t>+</a:t>
            </a:r>
          </a:p>
        </p:txBody>
      </p:sp>
    </p:spTree>
    <p:extLst>
      <p:ext uri="{BB962C8B-B14F-4D97-AF65-F5344CB8AC3E}">
        <p14:creationId xmlns:p14="http://schemas.microsoft.com/office/powerpoint/2010/main" val="1509027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5657DC-B33D-C29A-DAD4-6BE0D82C66C6}"/>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E5FAAEC-F453-7241-7EA3-C9B79DBBFC08}"/>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Instructor Experience</a:t>
            </a:r>
          </a:p>
        </p:txBody>
      </p:sp>
      <p:sp>
        <p:nvSpPr>
          <p:cNvPr id="4" name="TextBox 3">
            <a:extLst>
              <a:ext uri="{FF2B5EF4-FFF2-40B4-BE49-F238E27FC236}">
                <a16:creationId xmlns:a16="http://schemas.microsoft.com/office/drawing/2014/main" id="{3A9CCD2E-D925-4739-46C2-2088C1F54826}"/>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From application to course management and earnings</a:t>
            </a:r>
          </a:p>
        </p:txBody>
      </p:sp>
      <p:cxnSp>
        <p:nvCxnSpPr>
          <p:cNvPr id="5" name="Straight Connector 4">
            <a:extLst>
              <a:ext uri="{FF2B5EF4-FFF2-40B4-BE49-F238E27FC236}">
                <a16:creationId xmlns:a16="http://schemas.microsoft.com/office/drawing/2014/main" id="{44CD4ED1-9119-878B-5494-76261AB27C94}"/>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7D33391-009B-7948-64A7-1476B5014064}"/>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4373A5BE-88E9-2D31-3142-C82AA9E788FF}"/>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10</a:t>
            </a:r>
          </a:p>
        </p:txBody>
      </p:sp>
      <p:sp>
        <p:nvSpPr>
          <p:cNvPr id="8" name="Rectangle: Rounded Corners 7">
            <a:extLst>
              <a:ext uri="{FF2B5EF4-FFF2-40B4-BE49-F238E27FC236}">
                <a16:creationId xmlns:a16="http://schemas.microsoft.com/office/drawing/2014/main" id="{3EE39F3F-ED3D-CB78-309B-5F24951550EA}"/>
              </a:ext>
            </a:extLst>
          </p:cNvPr>
          <p:cNvSpPr/>
          <p:nvPr/>
        </p:nvSpPr>
        <p:spPr>
          <a:xfrm>
            <a:off x="533400" y="1422400"/>
            <a:ext cx="3251200" cy="3937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3507ABA-E01F-4FE9-3FC2-F021FF4FAB29}"/>
              </a:ext>
            </a:extLst>
          </p:cNvPr>
          <p:cNvSpPr txBox="1"/>
          <p:nvPr/>
        </p:nvSpPr>
        <p:spPr>
          <a:xfrm>
            <a:off x="736600" y="4686300"/>
            <a:ext cx="28448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Instructor application</a:t>
            </a:r>
          </a:p>
        </p:txBody>
      </p:sp>
      <p:sp>
        <p:nvSpPr>
          <p:cNvPr id="12" name="TextBox 11">
            <a:extLst>
              <a:ext uri="{FF2B5EF4-FFF2-40B4-BE49-F238E27FC236}">
                <a16:creationId xmlns:a16="http://schemas.microsoft.com/office/drawing/2014/main" id="{C100CAA8-5241-9CEE-6CC1-4017030C3A21}"/>
              </a:ext>
            </a:extLst>
          </p:cNvPr>
          <p:cNvSpPr txBox="1"/>
          <p:nvPr/>
        </p:nvSpPr>
        <p:spPr>
          <a:xfrm>
            <a:off x="736600" y="4965700"/>
            <a:ext cx="28448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Application details are reviewed before instructor tools become available.</a:t>
            </a:r>
          </a:p>
        </p:txBody>
      </p:sp>
      <p:sp>
        <p:nvSpPr>
          <p:cNvPr id="13" name="Rectangle: Rounded Corners 12">
            <a:extLst>
              <a:ext uri="{FF2B5EF4-FFF2-40B4-BE49-F238E27FC236}">
                <a16:creationId xmlns:a16="http://schemas.microsoft.com/office/drawing/2014/main" id="{B8E11E71-A238-2A55-CC33-7AD5CAA47060}"/>
              </a:ext>
            </a:extLst>
          </p:cNvPr>
          <p:cNvSpPr/>
          <p:nvPr/>
        </p:nvSpPr>
        <p:spPr>
          <a:xfrm>
            <a:off x="4114800" y="1422400"/>
            <a:ext cx="3251200" cy="3937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241982F3-82D1-094E-4179-B9AA7A6FEF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87672" y="1600200"/>
            <a:ext cx="2505456" cy="2921000"/>
          </a:xfrm>
          <a:prstGeom prst="rect">
            <a:avLst/>
          </a:prstGeom>
          <a:ln w="8255">
            <a:solidFill>
              <a:srgbClr val="D7E2EF"/>
            </a:solidFill>
          </a:ln>
        </p:spPr>
      </p:pic>
      <p:sp>
        <p:nvSpPr>
          <p:cNvPr id="16" name="TextBox 15">
            <a:extLst>
              <a:ext uri="{FF2B5EF4-FFF2-40B4-BE49-F238E27FC236}">
                <a16:creationId xmlns:a16="http://schemas.microsoft.com/office/drawing/2014/main" id="{E8ED75C8-755A-5A80-43E7-5367001C5CE5}"/>
              </a:ext>
            </a:extLst>
          </p:cNvPr>
          <p:cNvSpPr txBox="1"/>
          <p:nvPr/>
        </p:nvSpPr>
        <p:spPr>
          <a:xfrm>
            <a:off x="4318000" y="4686300"/>
            <a:ext cx="28448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Instructor dashboard</a:t>
            </a:r>
          </a:p>
        </p:txBody>
      </p:sp>
      <p:sp>
        <p:nvSpPr>
          <p:cNvPr id="17" name="TextBox 16">
            <a:extLst>
              <a:ext uri="{FF2B5EF4-FFF2-40B4-BE49-F238E27FC236}">
                <a16:creationId xmlns:a16="http://schemas.microsoft.com/office/drawing/2014/main" id="{FEFA7BCA-F3ED-A0D8-2EA9-5F8473DEF447}"/>
              </a:ext>
            </a:extLst>
          </p:cNvPr>
          <p:cNvSpPr txBox="1"/>
          <p:nvPr/>
        </p:nvSpPr>
        <p:spPr>
          <a:xfrm>
            <a:off x="4318000" y="4965700"/>
            <a:ext cx="28448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Courses, learners, earnings, and withdrawal information in one view.</a:t>
            </a:r>
          </a:p>
        </p:txBody>
      </p:sp>
      <p:sp>
        <p:nvSpPr>
          <p:cNvPr id="18" name="Rectangle: Rounded Corners 17">
            <a:extLst>
              <a:ext uri="{FF2B5EF4-FFF2-40B4-BE49-F238E27FC236}">
                <a16:creationId xmlns:a16="http://schemas.microsoft.com/office/drawing/2014/main" id="{21A89A4C-525D-6321-04CD-8CEEB3642B0A}"/>
              </a:ext>
            </a:extLst>
          </p:cNvPr>
          <p:cNvSpPr/>
          <p:nvPr/>
        </p:nvSpPr>
        <p:spPr>
          <a:xfrm>
            <a:off x="7696200" y="1422400"/>
            <a:ext cx="3962400" cy="3937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791D9B85-6BB1-AF8C-92A4-F2D17E20883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229600" y="1600200"/>
            <a:ext cx="2688336" cy="2921000"/>
          </a:xfrm>
          <a:prstGeom prst="rect">
            <a:avLst/>
          </a:prstGeom>
          <a:ln w="8255">
            <a:solidFill>
              <a:srgbClr val="D7E2EF"/>
            </a:solidFill>
          </a:ln>
        </p:spPr>
      </p:pic>
      <p:sp>
        <p:nvSpPr>
          <p:cNvPr id="21" name="TextBox 20">
            <a:extLst>
              <a:ext uri="{FF2B5EF4-FFF2-40B4-BE49-F238E27FC236}">
                <a16:creationId xmlns:a16="http://schemas.microsoft.com/office/drawing/2014/main" id="{2E28CE4A-DD2E-6841-61C0-CF01D55E4EC6}"/>
              </a:ext>
            </a:extLst>
          </p:cNvPr>
          <p:cNvSpPr txBox="1"/>
          <p:nvPr/>
        </p:nvSpPr>
        <p:spPr>
          <a:xfrm>
            <a:off x="7899400" y="4686300"/>
            <a:ext cx="35560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Course editor</a:t>
            </a:r>
          </a:p>
        </p:txBody>
      </p:sp>
      <p:sp>
        <p:nvSpPr>
          <p:cNvPr id="22" name="TextBox 21">
            <a:extLst>
              <a:ext uri="{FF2B5EF4-FFF2-40B4-BE49-F238E27FC236}">
                <a16:creationId xmlns:a16="http://schemas.microsoft.com/office/drawing/2014/main" id="{27A0C34A-370F-85D6-AD40-0F53296E60B9}"/>
              </a:ext>
            </a:extLst>
          </p:cNvPr>
          <p:cNvSpPr txBox="1"/>
          <p:nvPr/>
        </p:nvSpPr>
        <p:spPr>
          <a:xfrm>
            <a:off x="7899400" y="4965700"/>
            <a:ext cx="35560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Build modules, add lessons, create quizzes, then submit the course for review.</a:t>
            </a:r>
          </a:p>
        </p:txBody>
      </p:sp>
      <p:sp>
        <p:nvSpPr>
          <p:cNvPr id="23" name="TextBox 22">
            <a:extLst>
              <a:ext uri="{FF2B5EF4-FFF2-40B4-BE49-F238E27FC236}">
                <a16:creationId xmlns:a16="http://schemas.microsoft.com/office/drawing/2014/main" id="{07802EAA-4DAF-8019-F834-CE5B2D40F61D}"/>
              </a:ext>
            </a:extLst>
          </p:cNvPr>
          <p:cNvSpPr txBox="1"/>
          <p:nvPr/>
        </p:nvSpPr>
        <p:spPr>
          <a:xfrm>
            <a:off x="533400" y="5740400"/>
            <a:ext cx="10033000" cy="276999"/>
          </a:xfrm>
          <a:prstGeom prst="rect">
            <a:avLst/>
          </a:prstGeom>
          <a:noFill/>
        </p:spPr>
        <p:txBody>
          <a:bodyPr vert="horz" wrap="square" lIns="0" tIns="0" rIns="0" bIns="0" rtlCol="0" anchor="ctr">
            <a:noAutofit/>
          </a:bodyPr>
          <a:lstStyle/>
          <a:p>
            <a:r>
              <a:rPr lang="en-US" sz="1400" b="1">
                <a:solidFill>
                  <a:srgbClr val="162330"/>
                </a:solidFill>
                <a:latin typeface="Aptos" panose="020B0004020202020204" pitchFamily="34" charset="0"/>
              </a:rPr>
              <a:t>Instructor access is enabled only after administrative approval.</a:t>
            </a:r>
          </a:p>
        </p:txBody>
      </p:sp>
      <p:pic>
        <p:nvPicPr>
          <p:cNvPr id="14" name="Picture 13">
            <a:extLst>
              <a:ext uri="{FF2B5EF4-FFF2-40B4-BE49-F238E27FC236}">
                <a16:creationId xmlns:a16="http://schemas.microsoft.com/office/drawing/2014/main" id="{5C222CA2-9E04-090F-69F1-8F3C360661A8}"/>
              </a:ext>
            </a:extLst>
          </p:cNvPr>
          <p:cNvPicPr>
            <a:picLocks noChangeAspect="1"/>
          </p:cNvPicPr>
          <p:nvPr/>
        </p:nvPicPr>
        <p:blipFill>
          <a:blip r:embed="rId5"/>
          <a:stretch>
            <a:fillRect/>
          </a:stretch>
        </p:blipFill>
        <p:spPr>
          <a:xfrm>
            <a:off x="533400" y="2004202"/>
            <a:ext cx="3251198" cy="2400297"/>
          </a:xfrm>
          <a:prstGeom prst="rect">
            <a:avLst/>
          </a:prstGeom>
        </p:spPr>
      </p:pic>
    </p:spTree>
    <p:extLst>
      <p:ext uri="{BB962C8B-B14F-4D97-AF65-F5344CB8AC3E}">
        <p14:creationId xmlns:p14="http://schemas.microsoft.com/office/powerpoint/2010/main" val="2090477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84A377-CE60-9832-8DAE-8E94704524E5}"/>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07041F-66EE-112C-EFD2-2321742853CC}"/>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Administration and Accountability</a:t>
            </a:r>
          </a:p>
        </p:txBody>
      </p:sp>
      <p:sp>
        <p:nvSpPr>
          <p:cNvPr id="4" name="TextBox 3">
            <a:extLst>
              <a:ext uri="{FF2B5EF4-FFF2-40B4-BE49-F238E27FC236}">
                <a16:creationId xmlns:a16="http://schemas.microsoft.com/office/drawing/2014/main" id="{172CCEA7-F577-6F51-0F64-E8372EE06756}"/>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a:solidFill>
                  <a:srgbClr val="566675"/>
                </a:solidFill>
                <a:latin typeface="Aptos" panose="020B0004020202020204" pitchFamily="34" charset="0"/>
              </a:rPr>
              <a:t>Governance, moderation, and traceability</a:t>
            </a:r>
          </a:p>
        </p:txBody>
      </p:sp>
      <p:cxnSp>
        <p:nvCxnSpPr>
          <p:cNvPr id="5" name="Straight Connector 4">
            <a:extLst>
              <a:ext uri="{FF2B5EF4-FFF2-40B4-BE49-F238E27FC236}">
                <a16:creationId xmlns:a16="http://schemas.microsoft.com/office/drawing/2014/main" id="{3B008190-B4A2-4CEC-E40A-B91F1E60DCF0}"/>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F2C26EA-51B2-CF96-572F-553C7F51456E}"/>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D60CFFCE-2DBA-4EB3-0EE6-FD50A5881941}"/>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11</a:t>
            </a:r>
          </a:p>
        </p:txBody>
      </p:sp>
      <p:sp>
        <p:nvSpPr>
          <p:cNvPr id="8" name="Rectangle: Rounded Corners 7">
            <a:extLst>
              <a:ext uri="{FF2B5EF4-FFF2-40B4-BE49-F238E27FC236}">
                <a16:creationId xmlns:a16="http://schemas.microsoft.com/office/drawing/2014/main" id="{36105512-74B6-B23E-A79B-0BF30A599806}"/>
              </a:ext>
            </a:extLst>
          </p:cNvPr>
          <p:cNvSpPr/>
          <p:nvPr/>
        </p:nvSpPr>
        <p:spPr>
          <a:xfrm>
            <a:off x="533400" y="1422400"/>
            <a:ext cx="5334000" cy="39878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DC8D913-0AF5-A953-88B6-6476217376F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36600" y="1864185"/>
            <a:ext cx="4927600" cy="2494630"/>
          </a:xfrm>
          <a:prstGeom prst="rect">
            <a:avLst/>
          </a:prstGeom>
          <a:ln w="8255">
            <a:solidFill>
              <a:srgbClr val="D7E2EF"/>
            </a:solidFill>
          </a:ln>
        </p:spPr>
      </p:pic>
      <p:sp>
        <p:nvSpPr>
          <p:cNvPr id="11" name="TextBox 10">
            <a:extLst>
              <a:ext uri="{FF2B5EF4-FFF2-40B4-BE49-F238E27FC236}">
                <a16:creationId xmlns:a16="http://schemas.microsoft.com/office/drawing/2014/main" id="{7478F74A-3484-64D9-1215-981BB14C0252}"/>
              </a:ext>
            </a:extLst>
          </p:cNvPr>
          <p:cNvSpPr txBox="1"/>
          <p:nvPr/>
        </p:nvSpPr>
        <p:spPr>
          <a:xfrm>
            <a:off x="736600" y="4800600"/>
            <a:ext cx="49276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Admin command centre</a:t>
            </a:r>
          </a:p>
        </p:txBody>
      </p:sp>
      <p:sp>
        <p:nvSpPr>
          <p:cNvPr id="12" name="TextBox 11">
            <a:extLst>
              <a:ext uri="{FF2B5EF4-FFF2-40B4-BE49-F238E27FC236}">
                <a16:creationId xmlns:a16="http://schemas.microsoft.com/office/drawing/2014/main" id="{FE6EF77B-41E2-EF69-9202-F4541F188594}"/>
              </a:ext>
            </a:extLst>
          </p:cNvPr>
          <p:cNvSpPr txBox="1"/>
          <p:nvPr/>
        </p:nvSpPr>
        <p:spPr>
          <a:xfrm>
            <a:off x="736600" y="5092700"/>
            <a:ext cx="49276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Manage users, instructors, course approvals, withdrawals, announcements, and settings.</a:t>
            </a:r>
          </a:p>
        </p:txBody>
      </p:sp>
      <p:sp>
        <p:nvSpPr>
          <p:cNvPr id="13" name="Rectangle: Rounded Corners 12">
            <a:extLst>
              <a:ext uri="{FF2B5EF4-FFF2-40B4-BE49-F238E27FC236}">
                <a16:creationId xmlns:a16="http://schemas.microsoft.com/office/drawing/2014/main" id="{68D7F1A5-3EBF-09B2-6636-113C6481D319}"/>
              </a:ext>
            </a:extLst>
          </p:cNvPr>
          <p:cNvSpPr/>
          <p:nvPr/>
        </p:nvSpPr>
        <p:spPr>
          <a:xfrm>
            <a:off x="6350000" y="1422400"/>
            <a:ext cx="5308600" cy="39878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6DCD43A-1304-8A89-724C-19C7BF86EBF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553200" y="1870599"/>
            <a:ext cx="4902200" cy="2481803"/>
          </a:xfrm>
          <a:prstGeom prst="rect">
            <a:avLst/>
          </a:prstGeom>
          <a:ln w="8255">
            <a:solidFill>
              <a:srgbClr val="D7E2EF"/>
            </a:solidFill>
          </a:ln>
        </p:spPr>
      </p:pic>
      <p:sp>
        <p:nvSpPr>
          <p:cNvPr id="16" name="TextBox 15">
            <a:extLst>
              <a:ext uri="{FF2B5EF4-FFF2-40B4-BE49-F238E27FC236}">
                <a16:creationId xmlns:a16="http://schemas.microsoft.com/office/drawing/2014/main" id="{6F582DEA-73E9-78DE-15FD-FC53521A2871}"/>
              </a:ext>
            </a:extLst>
          </p:cNvPr>
          <p:cNvSpPr txBox="1"/>
          <p:nvPr/>
        </p:nvSpPr>
        <p:spPr>
          <a:xfrm>
            <a:off x="6553200" y="4800600"/>
            <a:ext cx="4902200" cy="276999"/>
          </a:xfrm>
          <a:prstGeom prst="rect">
            <a:avLst/>
          </a:prstGeom>
          <a:noFill/>
        </p:spPr>
        <p:txBody>
          <a:bodyPr vert="horz" wrap="square" lIns="0" tIns="0" rIns="0" bIns="0" rtlCol="0" anchor="ctr">
            <a:noAutofit/>
          </a:bodyPr>
          <a:lstStyle/>
          <a:p>
            <a:pPr algn="ctr"/>
            <a:r>
              <a:rPr lang="en-US" sz="1300" b="1">
                <a:solidFill>
                  <a:srgbClr val="162330"/>
                </a:solidFill>
                <a:latin typeface="Aptos" panose="020B0004020202020204" pitchFamily="34" charset="0"/>
              </a:rPr>
              <a:t>Audit log</a:t>
            </a:r>
          </a:p>
        </p:txBody>
      </p:sp>
      <p:sp>
        <p:nvSpPr>
          <p:cNvPr id="17" name="TextBox 16">
            <a:extLst>
              <a:ext uri="{FF2B5EF4-FFF2-40B4-BE49-F238E27FC236}">
                <a16:creationId xmlns:a16="http://schemas.microsoft.com/office/drawing/2014/main" id="{338B7991-AB77-184C-E685-07E138D09880}"/>
              </a:ext>
            </a:extLst>
          </p:cNvPr>
          <p:cNvSpPr txBox="1"/>
          <p:nvPr/>
        </p:nvSpPr>
        <p:spPr>
          <a:xfrm>
            <a:off x="6553200" y="5092700"/>
            <a:ext cx="4902200" cy="276999"/>
          </a:xfrm>
          <a:prstGeom prst="rect">
            <a:avLst/>
          </a:prstGeom>
          <a:noFill/>
        </p:spPr>
        <p:txBody>
          <a:bodyPr vert="horz" wrap="square" lIns="0" tIns="0" rIns="0" bIns="0" rtlCol="0" anchor="ctr">
            <a:noAutofit/>
          </a:bodyPr>
          <a:lstStyle/>
          <a:p>
            <a:pPr algn="ctr"/>
            <a:r>
              <a:rPr lang="en-US" sz="1000">
                <a:solidFill>
                  <a:srgbClr val="566675"/>
                </a:solidFill>
                <a:latin typeface="Aptos" panose="020B0004020202020204" pitchFamily="34" charset="0"/>
              </a:rPr>
              <a:t>Sensitive actions are recorded to support accountability and investigation.</a:t>
            </a:r>
          </a:p>
        </p:txBody>
      </p:sp>
      <p:sp>
        <p:nvSpPr>
          <p:cNvPr id="18" name="Rectangle: Rounded Corners 17">
            <a:extLst>
              <a:ext uri="{FF2B5EF4-FFF2-40B4-BE49-F238E27FC236}">
                <a16:creationId xmlns:a16="http://schemas.microsoft.com/office/drawing/2014/main" id="{491235AC-B1E6-BB2B-6A3E-87A74AC4DE5C}"/>
              </a:ext>
            </a:extLst>
          </p:cNvPr>
          <p:cNvSpPr/>
          <p:nvPr/>
        </p:nvSpPr>
        <p:spPr>
          <a:xfrm>
            <a:off x="533400" y="5765800"/>
            <a:ext cx="11125200" cy="431800"/>
          </a:xfrm>
          <a:prstGeom prst="roundRect">
            <a:avLst/>
          </a:prstGeom>
          <a:solidFill>
            <a:srgbClr val="E8F2FF"/>
          </a:solidFill>
          <a:ln w="1016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5B08E32-E7CE-85C4-1EC9-7FD5C4D3CF34}"/>
              </a:ext>
            </a:extLst>
          </p:cNvPr>
          <p:cNvSpPr txBox="1"/>
          <p:nvPr/>
        </p:nvSpPr>
        <p:spPr>
          <a:xfrm>
            <a:off x="736600" y="5880100"/>
            <a:ext cx="10693400" cy="276999"/>
          </a:xfrm>
          <a:prstGeom prst="rect">
            <a:avLst/>
          </a:prstGeom>
          <a:noFill/>
        </p:spPr>
        <p:txBody>
          <a:bodyPr vert="horz" wrap="square" lIns="0" tIns="0" rIns="0" bIns="0" rtlCol="0" anchor="ctr">
            <a:noAutofit/>
          </a:bodyPr>
          <a:lstStyle/>
          <a:p>
            <a:pPr algn="ctr"/>
            <a:r>
              <a:rPr lang="en-US" sz="1100" b="1">
                <a:solidFill>
                  <a:srgbClr val="162330"/>
                </a:solidFill>
                <a:latin typeface="Aptos" panose="020B0004020202020204" pitchFamily="34" charset="0"/>
              </a:rPr>
              <a:t>Administrative controls complete the trust model: instructor verification + course review + traceable actions.</a:t>
            </a:r>
          </a:p>
        </p:txBody>
      </p:sp>
    </p:spTree>
    <p:extLst>
      <p:ext uri="{BB962C8B-B14F-4D97-AF65-F5344CB8AC3E}">
        <p14:creationId xmlns:p14="http://schemas.microsoft.com/office/powerpoint/2010/main" val="1183738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hape 0">
            <a:extLst>
              <a:ext uri="{FF2B5EF4-FFF2-40B4-BE49-F238E27FC236}">
                <a16:creationId xmlns:a16="http://schemas.microsoft.com/office/drawing/2014/main" id="{82291CC1-8A14-0989-6385-4BDE09D13F77}"/>
              </a:ext>
            </a:extLst>
          </p:cNvPr>
          <p:cNvSpPr/>
          <p:nvPr/>
        </p:nvSpPr>
        <p:spPr>
          <a:xfrm>
            <a:off x="0" y="0"/>
            <a:ext cx="12191695" cy="146304"/>
          </a:xfrm>
          <a:prstGeom prst="rect">
            <a:avLst/>
          </a:prstGeom>
          <a:solidFill>
            <a:srgbClr val="0964DA"/>
          </a:solidFill>
          <a:ln w="12700">
            <a:solidFill>
              <a:srgbClr val="0964DA"/>
            </a:solidFill>
            <a:prstDash val="solid"/>
          </a:ln>
        </p:spPr>
        <p:txBody>
          <a:bodyPr/>
          <a:lstStyle/>
          <a:p>
            <a:endParaRPr lang="en-US"/>
          </a:p>
        </p:txBody>
      </p:sp>
      <p:sp>
        <p:nvSpPr>
          <p:cNvPr id="42" name="Text 1">
            <a:extLst>
              <a:ext uri="{FF2B5EF4-FFF2-40B4-BE49-F238E27FC236}">
                <a16:creationId xmlns:a16="http://schemas.microsoft.com/office/drawing/2014/main" id="{9169FCC3-690A-DDFB-3AFA-BEBDD263590F}"/>
              </a:ext>
            </a:extLst>
          </p:cNvPr>
          <p:cNvSpPr/>
          <p:nvPr/>
        </p:nvSpPr>
        <p:spPr>
          <a:xfrm>
            <a:off x="411480" y="6510528"/>
            <a:ext cx="5120640" cy="164592"/>
          </a:xfrm>
          <a:prstGeom prst="rect">
            <a:avLst/>
          </a:prstGeom>
          <a:noFill/>
          <a:ln/>
        </p:spPr>
        <p:txBody>
          <a:bodyPr wrap="square" lIns="0" tIns="0" rIns="0" bIns="0" rtlCol="0" anchor="ctr"/>
          <a:lstStyle/>
          <a:p>
            <a:pPr marL="0" indent="0">
              <a:buNone/>
            </a:pPr>
            <a:r>
              <a:rPr lang="en-US" sz="750" dirty="0">
                <a:solidFill>
                  <a:srgbClr val="5A6675"/>
                </a:solidFill>
                <a:latin typeface="Aptos" pitchFamily="34" charset="0"/>
                <a:ea typeface="Aptos" pitchFamily="34" charset="-122"/>
                <a:cs typeface="Aptos" pitchFamily="34" charset="-120"/>
              </a:rPr>
              <a:t>E-Learning Platform Project</a:t>
            </a:r>
            <a:endParaRPr lang="en-US" sz="750" dirty="0"/>
          </a:p>
        </p:txBody>
      </p:sp>
      <p:sp>
        <p:nvSpPr>
          <p:cNvPr id="44" name="Text 2">
            <a:extLst>
              <a:ext uri="{FF2B5EF4-FFF2-40B4-BE49-F238E27FC236}">
                <a16:creationId xmlns:a16="http://schemas.microsoft.com/office/drawing/2014/main" id="{7DA0A80E-4DA2-0772-461E-FA539BDFF0BD}"/>
              </a:ext>
            </a:extLst>
          </p:cNvPr>
          <p:cNvSpPr/>
          <p:nvPr/>
        </p:nvSpPr>
        <p:spPr>
          <a:xfrm>
            <a:off x="11393516" y="6492240"/>
            <a:ext cx="365760" cy="164592"/>
          </a:xfrm>
          <a:prstGeom prst="rect">
            <a:avLst/>
          </a:prstGeom>
          <a:noFill/>
          <a:ln/>
        </p:spPr>
        <p:txBody>
          <a:bodyPr wrap="square" lIns="0" tIns="0" rIns="0" bIns="0" rtlCol="0" anchor="ctr"/>
          <a:lstStyle/>
          <a:p>
            <a:pPr marL="0" indent="0" algn="r">
              <a:buNone/>
            </a:pPr>
            <a:r>
              <a:rPr lang="en-US" sz="800" dirty="0">
                <a:solidFill>
                  <a:srgbClr val="5A6675"/>
                </a:solidFill>
                <a:latin typeface="Aptos" pitchFamily="34" charset="0"/>
                <a:ea typeface="Aptos" pitchFamily="34" charset="-122"/>
                <a:cs typeface="Aptos" pitchFamily="34" charset="-120"/>
              </a:rPr>
              <a:t>12</a:t>
            </a:r>
            <a:endParaRPr lang="en-US" sz="800" dirty="0"/>
          </a:p>
        </p:txBody>
      </p:sp>
      <p:sp>
        <p:nvSpPr>
          <p:cNvPr id="46" name="Text 3">
            <a:extLst>
              <a:ext uri="{FF2B5EF4-FFF2-40B4-BE49-F238E27FC236}">
                <a16:creationId xmlns:a16="http://schemas.microsoft.com/office/drawing/2014/main" id="{E05C9E4D-9210-E017-C816-339B7B380696}"/>
              </a:ext>
            </a:extLst>
          </p:cNvPr>
          <p:cNvSpPr/>
          <p:nvPr/>
        </p:nvSpPr>
        <p:spPr>
          <a:xfrm>
            <a:off x="502920" y="411480"/>
            <a:ext cx="11064240" cy="411480"/>
          </a:xfrm>
          <a:prstGeom prst="rect">
            <a:avLst/>
          </a:prstGeom>
          <a:noFill/>
          <a:ln/>
        </p:spPr>
        <p:txBody>
          <a:bodyPr wrap="square" lIns="0" tIns="0" rIns="0" bIns="0" rtlCol="0" anchor="ctr"/>
          <a:lstStyle/>
          <a:p>
            <a:pPr marL="0" indent="0">
              <a:buNone/>
            </a:pPr>
            <a:r>
              <a:rPr lang="en-US" sz="2500" b="1" dirty="0">
                <a:solidFill>
                  <a:srgbClr val="082E67"/>
                </a:solidFill>
                <a:latin typeface="Aptos Display" pitchFamily="34" charset="0"/>
                <a:ea typeface="Aptos Display" pitchFamily="34" charset="-122"/>
                <a:cs typeface="Aptos Display" pitchFamily="34" charset="-120"/>
              </a:rPr>
              <a:t>Testing and Evaluation</a:t>
            </a:r>
            <a:endParaRPr lang="en-US" sz="2500" dirty="0"/>
          </a:p>
        </p:txBody>
      </p:sp>
      <p:sp>
        <p:nvSpPr>
          <p:cNvPr id="48" name="Text 4">
            <a:extLst>
              <a:ext uri="{FF2B5EF4-FFF2-40B4-BE49-F238E27FC236}">
                <a16:creationId xmlns:a16="http://schemas.microsoft.com/office/drawing/2014/main" id="{3E3F5A19-6D88-4E8A-9ACD-B0A4037B492A}"/>
              </a:ext>
            </a:extLst>
          </p:cNvPr>
          <p:cNvSpPr/>
          <p:nvPr/>
        </p:nvSpPr>
        <p:spPr>
          <a:xfrm>
            <a:off x="530352" y="868680"/>
            <a:ext cx="10789920" cy="228600"/>
          </a:xfrm>
          <a:prstGeom prst="rect">
            <a:avLst/>
          </a:prstGeom>
          <a:noFill/>
          <a:ln/>
        </p:spPr>
        <p:txBody>
          <a:bodyPr wrap="square" lIns="0" tIns="0" rIns="0" bIns="0" rtlCol="0" anchor="ctr"/>
          <a:lstStyle/>
          <a:p>
            <a:pPr marL="0" indent="0">
              <a:buNone/>
            </a:pPr>
            <a:r>
              <a:rPr lang="en-US" sz="1050" dirty="0">
                <a:solidFill>
                  <a:srgbClr val="5A6675"/>
                </a:solidFill>
                <a:latin typeface="Aptos" pitchFamily="34" charset="0"/>
                <a:ea typeface="Aptos" pitchFamily="34" charset="-122"/>
                <a:cs typeface="Aptos" pitchFamily="34" charset="-120"/>
              </a:rPr>
              <a:t>Functional, integration, and user-acceptance tests</a:t>
            </a:r>
            <a:endParaRPr lang="en-US" sz="1050" dirty="0"/>
          </a:p>
        </p:txBody>
      </p:sp>
      <p:sp>
        <p:nvSpPr>
          <p:cNvPr id="50" name="Shape 5">
            <a:extLst>
              <a:ext uri="{FF2B5EF4-FFF2-40B4-BE49-F238E27FC236}">
                <a16:creationId xmlns:a16="http://schemas.microsoft.com/office/drawing/2014/main" id="{1B5E8133-C86A-80CD-62FE-18B7DCD64B50}"/>
              </a:ext>
            </a:extLst>
          </p:cNvPr>
          <p:cNvSpPr/>
          <p:nvPr/>
        </p:nvSpPr>
        <p:spPr>
          <a:xfrm>
            <a:off x="502920" y="1170432"/>
            <a:ext cx="11155680" cy="0"/>
          </a:xfrm>
          <a:prstGeom prst="line">
            <a:avLst/>
          </a:prstGeom>
          <a:noFill/>
          <a:ln w="12700">
            <a:solidFill>
              <a:srgbClr val="D9E2EF"/>
            </a:solidFill>
            <a:prstDash val="solid"/>
          </a:ln>
        </p:spPr>
        <p:txBody>
          <a:bodyPr/>
          <a:lstStyle/>
          <a:p>
            <a:endParaRPr lang="en-US"/>
          </a:p>
        </p:txBody>
      </p:sp>
      <p:sp>
        <p:nvSpPr>
          <p:cNvPr id="52" name="Shape 6">
            <a:extLst>
              <a:ext uri="{FF2B5EF4-FFF2-40B4-BE49-F238E27FC236}">
                <a16:creationId xmlns:a16="http://schemas.microsoft.com/office/drawing/2014/main" id="{E4332779-4099-A2A4-2839-011EB6FFB178}"/>
              </a:ext>
            </a:extLst>
          </p:cNvPr>
          <p:cNvSpPr/>
          <p:nvPr/>
        </p:nvSpPr>
        <p:spPr>
          <a:xfrm>
            <a:off x="731520" y="1508760"/>
            <a:ext cx="3246120" cy="1234440"/>
          </a:xfrm>
          <a:prstGeom prst="roundRect">
            <a:avLst>
              <a:gd name="adj" fmla="val 5926"/>
            </a:avLst>
          </a:prstGeom>
          <a:solidFill>
            <a:srgbClr val="F8FAFC"/>
          </a:solidFill>
          <a:ln w="12700">
            <a:solidFill>
              <a:srgbClr val="D9E2EF"/>
            </a:solidFill>
            <a:prstDash val="solid"/>
          </a:ln>
        </p:spPr>
        <p:txBody>
          <a:bodyPr/>
          <a:lstStyle/>
          <a:p>
            <a:endParaRPr lang="en-US"/>
          </a:p>
        </p:txBody>
      </p:sp>
      <p:sp>
        <p:nvSpPr>
          <p:cNvPr id="54" name="Text 7">
            <a:extLst>
              <a:ext uri="{FF2B5EF4-FFF2-40B4-BE49-F238E27FC236}">
                <a16:creationId xmlns:a16="http://schemas.microsoft.com/office/drawing/2014/main" id="{813EEE37-C834-BF3D-9F24-A072034258FB}"/>
              </a:ext>
            </a:extLst>
          </p:cNvPr>
          <p:cNvSpPr/>
          <p:nvPr/>
        </p:nvSpPr>
        <p:spPr>
          <a:xfrm>
            <a:off x="896112" y="1737360"/>
            <a:ext cx="1005840" cy="384048"/>
          </a:xfrm>
          <a:prstGeom prst="rect">
            <a:avLst/>
          </a:prstGeom>
          <a:noFill/>
          <a:ln/>
        </p:spPr>
        <p:txBody>
          <a:bodyPr wrap="square" lIns="0" tIns="0" rIns="0" bIns="0" rtlCol="0" anchor="ctr"/>
          <a:lstStyle/>
          <a:p>
            <a:pPr marL="0" indent="0" algn="ctr">
              <a:buNone/>
            </a:pPr>
            <a:r>
              <a:rPr lang="en-US" sz="2600" b="1" dirty="0">
                <a:solidFill>
                  <a:srgbClr val="0964DA"/>
                </a:solidFill>
              </a:rPr>
              <a:t>22</a:t>
            </a:r>
            <a:endParaRPr lang="en-US" sz="2600" dirty="0"/>
          </a:p>
        </p:txBody>
      </p:sp>
      <p:sp>
        <p:nvSpPr>
          <p:cNvPr id="56" name="Text 8">
            <a:extLst>
              <a:ext uri="{FF2B5EF4-FFF2-40B4-BE49-F238E27FC236}">
                <a16:creationId xmlns:a16="http://schemas.microsoft.com/office/drawing/2014/main" id="{711E7F9B-66FE-DED6-FF69-285AFF15ECF9}"/>
              </a:ext>
            </a:extLst>
          </p:cNvPr>
          <p:cNvSpPr/>
          <p:nvPr/>
        </p:nvSpPr>
        <p:spPr>
          <a:xfrm>
            <a:off x="1965960" y="1920240"/>
            <a:ext cx="1691640" cy="182880"/>
          </a:xfrm>
          <a:prstGeom prst="rect">
            <a:avLst/>
          </a:prstGeom>
          <a:noFill/>
          <a:ln/>
        </p:spPr>
        <p:txBody>
          <a:bodyPr wrap="square" lIns="0" tIns="0" rIns="0" bIns="0" rtlCol="0" anchor="ctr"/>
          <a:lstStyle/>
          <a:p>
            <a:pPr marL="0" indent="0" algn="ctr">
              <a:buNone/>
            </a:pPr>
            <a:r>
              <a:rPr lang="en-US" sz="1250" dirty="0">
                <a:solidFill>
                  <a:srgbClr val="13233A"/>
                </a:solidFill>
              </a:rPr>
              <a:t>mapped test cases</a:t>
            </a:r>
            <a:endParaRPr lang="en-US" sz="1250" dirty="0"/>
          </a:p>
        </p:txBody>
      </p:sp>
      <p:sp>
        <p:nvSpPr>
          <p:cNvPr id="58" name="Shape 9">
            <a:extLst>
              <a:ext uri="{FF2B5EF4-FFF2-40B4-BE49-F238E27FC236}">
                <a16:creationId xmlns:a16="http://schemas.microsoft.com/office/drawing/2014/main" id="{CA4370F9-7355-111D-A545-9AB85EEE9B19}"/>
              </a:ext>
            </a:extLst>
          </p:cNvPr>
          <p:cNvSpPr/>
          <p:nvPr/>
        </p:nvSpPr>
        <p:spPr>
          <a:xfrm>
            <a:off x="4526280" y="1508760"/>
            <a:ext cx="3246120" cy="1234440"/>
          </a:xfrm>
          <a:prstGeom prst="roundRect">
            <a:avLst>
              <a:gd name="adj" fmla="val 5926"/>
            </a:avLst>
          </a:prstGeom>
          <a:solidFill>
            <a:srgbClr val="F8FAFC"/>
          </a:solidFill>
          <a:ln w="12700">
            <a:solidFill>
              <a:srgbClr val="D9E2EF"/>
            </a:solidFill>
            <a:prstDash val="solid"/>
          </a:ln>
        </p:spPr>
        <p:txBody>
          <a:bodyPr/>
          <a:lstStyle/>
          <a:p>
            <a:endParaRPr lang="en-US"/>
          </a:p>
        </p:txBody>
      </p:sp>
      <p:sp>
        <p:nvSpPr>
          <p:cNvPr id="60" name="Text 10">
            <a:extLst>
              <a:ext uri="{FF2B5EF4-FFF2-40B4-BE49-F238E27FC236}">
                <a16:creationId xmlns:a16="http://schemas.microsoft.com/office/drawing/2014/main" id="{5C2D0FBF-9095-2A0A-B0B2-ADEBB8D3F503}"/>
              </a:ext>
            </a:extLst>
          </p:cNvPr>
          <p:cNvSpPr/>
          <p:nvPr/>
        </p:nvSpPr>
        <p:spPr>
          <a:xfrm>
            <a:off x="4690872" y="1737360"/>
            <a:ext cx="1005840" cy="384048"/>
          </a:xfrm>
          <a:prstGeom prst="rect">
            <a:avLst/>
          </a:prstGeom>
          <a:noFill/>
          <a:ln/>
        </p:spPr>
        <p:txBody>
          <a:bodyPr wrap="square" lIns="0" tIns="0" rIns="0" bIns="0" rtlCol="0" anchor="ctr"/>
          <a:lstStyle/>
          <a:p>
            <a:pPr marL="0" indent="0" algn="ctr">
              <a:buNone/>
            </a:pPr>
            <a:r>
              <a:rPr lang="en-US" sz="2600" b="1" dirty="0">
                <a:solidFill>
                  <a:srgbClr val="0E9F6E"/>
                </a:solidFill>
              </a:rPr>
              <a:t>3</a:t>
            </a:r>
            <a:endParaRPr lang="en-US" sz="2600" dirty="0"/>
          </a:p>
        </p:txBody>
      </p:sp>
      <p:sp>
        <p:nvSpPr>
          <p:cNvPr id="62" name="Text 11">
            <a:extLst>
              <a:ext uri="{FF2B5EF4-FFF2-40B4-BE49-F238E27FC236}">
                <a16:creationId xmlns:a16="http://schemas.microsoft.com/office/drawing/2014/main" id="{0563889C-7C99-73CD-1073-B78D6741183D}"/>
              </a:ext>
            </a:extLst>
          </p:cNvPr>
          <p:cNvSpPr/>
          <p:nvPr/>
        </p:nvSpPr>
        <p:spPr>
          <a:xfrm>
            <a:off x="5760720" y="1920240"/>
            <a:ext cx="1691640" cy="182880"/>
          </a:xfrm>
          <a:prstGeom prst="rect">
            <a:avLst/>
          </a:prstGeom>
          <a:noFill/>
          <a:ln/>
        </p:spPr>
        <p:txBody>
          <a:bodyPr wrap="square" lIns="0" tIns="0" rIns="0" bIns="0" rtlCol="0" anchor="ctr"/>
          <a:lstStyle/>
          <a:p>
            <a:pPr marL="0" indent="0" algn="ctr">
              <a:buNone/>
            </a:pPr>
            <a:r>
              <a:rPr lang="en-US" sz="1250" dirty="0">
                <a:solidFill>
                  <a:srgbClr val="13233A"/>
                </a:solidFill>
              </a:rPr>
              <a:t>testing levels</a:t>
            </a:r>
            <a:endParaRPr lang="en-US" sz="1250" dirty="0"/>
          </a:p>
        </p:txBody>
      </p:sp>
      <p:sp>
        <p:nvSpPr>
          <p:cNvPr id="64" name="Shape 12">
            <a:extLst>
              <a:ext uri="{FF2B5EF4-FFF2-40B4-BE49-F238E27FC236}">
                <a16:creationId xmlns:a16="http://schemas.microsoft.com/office/drawing/2014/main" id="{DA67594A-B202-8311-04AB-109B208CCABA}"/>
              </a:ext>
            </a:extLst>
          </p:cNvPr>
          <p:cNvSpPr/>
          <p:nvPr/>
        </p:nvSpPr>
        <p:spPr>
          <a:xfrm>
            <a:off x="8321040" y="1508760"/>
            <a:ext cx="3246120" cy="1234440"/>
          </a:xfrm>
          <a:prstGeom prst="roundRect">
            <a:avLst>
              <a:gd name="adj" fmla="val 5926"/>
            </a:avLst>
          </a:prstGeom>
          <a:solidFill>
            <a:srgbClr val="F8FAFC"/>
          </a:solidFill>
          <a:ln w="12700">
            <a:solidFill>
              <a:srgbClr val="D9E2EF"/>
            </a:solidFill>
            <a:prstDash val="solid"/>
          </a:ln>
        </p:spPr>
        <p:txBody>
          <a:bodyPr/>
          <a:lstStyle/>
          <a:p>
            <a:endParaRPr lang="en-US"/>
          </a:p>
        </p:txBody>
      </p:sp>
      <p:sp>
        <p:nvSpPr>
          <p:cNvPr id="66" name="Text 13">
            <a:extLst>
              <a:ext uri="{FF2B5EF4-FFF2-40B4-BE49-F238E27FC236}">
                <a16:creationId xmlns:a16="http://schemas.microsoft.com/office/drawing/2014/main" id="{89A5D8E9-94D9-7282-F9FD-5D9B6D25D1D4}"/>
              </a:ext>
            </a:extLst>
          </p:cNvPr>
          <p:cNvSpPr/>
          <p:nvPr/>
        </p:nvSpPr>
        <p:spPr>
          <a:xfrm>
            <a:off x="8485632" y="1737360"/>
            <a:ext cx="1005840" cy="384048"/>
          </a:xfrm>
          <a:prstGeom prst="rect">
            <a:avLst/>
          </a:prstGeom>
          <a:noFill/>
          <a:ln/>
        </p:spPr>
        <p:txBody>
          <a:bodyPr wrap="square" lIns="0" tIns="0" rIns="0" bIns="0" rtlCol="0" anchor="ctr"/>
          <a:lstStyle/>
          <a:p>
            <a:pPr marL="0" indent="0" algn="ctr">
              <a:buNone/>
            </a:pPr>
            <a:r>
              <a:rPr lang="en-US" sz="2600" b="1" dirty="0">
                <a:solidFill>
                  <a:srgbClr val="F59E0B"/>
                </a:solidFill>
              </a:rPr>
              <a:t>100%</a:t>
            </a:r>
            <a:endParaRPr lang="en-US" sz="2600" dirty="0"/>
          </a:p>
        </p:txBody>
      </p:sp>
      <p:sp>
        <p:nvSpPr>
          <p:cNvPr id="68" name="Text 14">
            <a:extLst>
              <a:ext uri="{FF2B5EF4-FFF2-40B4-BE49-F238E27FC236}">
                <a16:creationId xmlns:a16="http://schemas.microsoft.com/office/drawing/2014/main" id="{B67029CC-0754-2E28-9CC1-88A8F2C0DCA3}"/>
              </a:ext>
            </a:extLst>
          </p:cNvPr>
          <p:cNvSpPr/>
          <p:nvPr/>
        </p:nvSpPr>
        <p:spPr>
          <a:xfrm>
            <a:off x="9555480" y="1920240"/>
            <a:ext cx="1691640" cy="182880"/>
          </a:xfrm>
          <a:prstGeom prst="rect">
            <a:avLst/>
          </a:prstGeom>
          <a:noFill/>
          <a:ln/>
        </p:spPr>
        <p:txBody>
          <a:bodyPr wrap="square" lIns="0" tIns="0" rIns="0" bIns="0" rtlCol="0" anchor="ctr"/>
          <a:lstStyle/>
          <a:p>
            <a:pPr marL="0" indent="0" algn="ctr">
              <a:buNone/>
            </a:pPr>
            <a:r>
              <a:rPr lang="en-US" sz="1250" dirty="0">
                <a:solidFill>
                  <a:srgbClr val="13233A"/>
                </a:solidFill>
              </a:rPr>
              <a:t>listed cases passed</a:t>
            </a:r>
            <a:endParaRPr lang="en-US" sz="1250" dirty="0"/>
          </a:p>
        </p:txBody>
      </p:sp>
      <p:graphicFrame>
        <p:nvGraphicFramePr>
          <p:cNvPr id="70" name="Table 0">
            <a:extLst>
              <a:ext uri="{FF2B5EF4-FFF2-40B4-BE49-F238E27FC236}">
                <a16:creationId xmlns:a16="http://schemas.microsoft.com/office/drawing/2014/main" id="{FCABF5D9-3740-137E-90A0-DAC3A336FE0B}"/>
              </a:ext>
            </a:extLst>
          </p:cNvPr>
          <p:cNvGraphicFramePr>
            <a:graphicFrameLocks noGrp="1"/>
          </p:cNvGraphicFramePr>
          <p:nvPr>
            <p:extLst>
              <p:ext uri="{D42A27DB-BD31-4B8C-83A1-F6EECF244321}">
                <p14:modId xmlns:p14="http://schemas.microsoft.com/office/powerpoint/2010/main" val="3507244671"/>
              </p:ext>
            </p:extLst>
          </p:nvPr>
        </p:nvGraphicFramePr>
        <p:xfrm>
          <a:off x="731520" y="3154680"/>
          <a:ext cx="10744200" cy="2240280"/>
        </p:xfrm>
        <a:graphic>
          <a:graphicData uri="http://schemas.openxmlformats.org/drawingml/2006/table">
            <a:tbl>
              <a:tblPr/>
              <a:tblGrid>
                <a:gridCol w="182880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20040">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Area</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082E67"/>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Example verified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082E67"/>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Result</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082E67"/>
                    </a:solidFill>
                  </a:tcPr>
                </a:tc>
                <a:extLst>
                  <a:ext uri="{0D108BD9-81ED-4DB2-BD59-A6C34878D82A}">
                    <a16:rowId xmlns:a16="http://schemas.microsoft.com/office/drawing/2014/main" val="10000"/>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Authentication</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Weak password, suspended account, user-code login</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Course workflow</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Draft → pending → approved → published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Payment</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Successful payment and duplicate-event handling</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Assessment</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Auto-grading, timer, forged token rejection</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Access control</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Student attempts to open admin routes</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Governance</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3233A"/>
                          </a:solidFill>
                          <a:latin typeface="Aptos" pitchFamily="34" charset="0"/>
                          <a:ea typeface="Aptos" pitchFamily="34" charset="-122"/>
                          <a:cs typeface="Aptos" pitchFamily="34" charset="-120"/>
                        </a:rPr>
                        <a:t>Withdrawal limits and audit logging</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E9F6E"/>
                          </a:solidFill>
                          <a:latin typeface="Aptos" pitchFamily="34" charset="0"/>
                          <a:ea typeface="Aptos" pitchFamily="34" charset="-122"/>
                          <a:cs typeface="Aptos" pitchFamily="34" charset="-120"/>
                        </a:rPr>
                        <a:t>Passed</a:t>
                      </a:r>
                      <a:endParaRPr lang="en-US" sz="1100" dirty="0">
                        <a:latin typeface="Aptos" charset="0"/>
                        <a:ea typeface="Aptos" charset="0"/>
                        <a:cs typeface="Aptos" charset="0"/>
                      </a:endParaRPr>
                    </a:p>
                  </a:txBody>
                  <a:tcPr marL="73152" marR="73152" marT="73152" marB="73152">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36792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A7EE5A-EB3F-6609-072A-FB2B7038D1C8}"/>
              </a:ext>
            </a:extLst>
          </p:cNvPr>
          <p:cNvSpPr/>
          <p:nvPr/>
        </p:nvSpPr>
        <p:spPr>
          <a:xfrm>
            <a:off x="0" y="0"/>
            <a:ext cx="12192000" cy="1016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48C232F-13B6-9191-6CB5-EC7BB11BECD4}"/>
              </a:ext>
            </a:extLst>
          </p:cNvPr>
          <p:cNvSpPr txBox="1"/>
          <p:nvPr/>
        </p:nvSpPr>
        <p:spPr>
          <a:xfrm>
            <a:off x="533400" y="355600"/>
            <a:ext cx="9969500" cy="276999"/>
          </a:xfrm>
          <a:prstGeom prst="rect">
            <a:avLst/>
          </a:prstGeom>
          <a:noFill/>
        </p:spPr>
        <p:txBody>
          <a:bodyPr vert="horz" wrap="square" lIns="0" tIns="0" rIns="0" bIns="0" rtlCol="0" anchor="ctr">
            <a:noAutofit/>
          </a:bodyPr>
          <a:lstStyle/>
          <a:p>
            <a:r>
              <a:rPr lang="en-US" sz="2600" b="1">
                <a:solidFill>
                  <a:srgbClr val="162330"/>
                </a:solidFill>
                <a:latin typeface="Aptos" panose="020B0004020202020204" pitchFamily="34" charset="0"/>
              </a:rPr>
              <a:t>Findings, Limitations, and Future Work</a:t>
            </a:r>
          </a:p>
        </p:txBody>
      </p:sp>
      <p:sp>
        <p:nvSpPr>
          <p:cNvPr id="4" name="TextBox 3">
            <a:extLst>
              <a:ext uri="{FF2B5EF4-FFF2-40B4-BE49-F238E27FC236}">
                <a16:creationId xmlns:a16="http://schemas.microsoft.com/office/drawing/2014/main" id="{F7C66795-5F38-7599-4B7A-50B67E282DB6}"/>
              </a:ext>
            </a:extLst>
          </p:cNvPr>
          <p:cNvSpPr txBox="1"/>
          <p:nvPr/>
        </p:nvSpPr>
        <p:spPr>
          <a:xfrm>
            <a:off x="533400" y="863600"/>
            <a:ext cx="10033000" cy="276999"/>
          </a:xfrm>
          <a:prstGeom prst="rect">
            <a:avLst/>
          </a:prstGeom>
          <a:noFill/>
        </p:spPr>
        <p:txBody>
          <a:bodyPr vert="horz" wrap="square" lIns="0" tIns="0" rIns="0" bIns="0" rtlCol="0" anchor="ctr">
            <a:noAutofit/>
          </a:bodyPr>
          <a:lstStyle/>
          <a:p>
            <a:r>
              <a:rPr lang="en-US" sz="1100" dirty="0">
                <a:solidFill>
                  <a:srgbClr val="566675"/>
                </a:solidFill>
                <a:latin typeface="Aptos" panose="020B0004020202020204" pitchFamily="34" charset="0"/>
              </a:rPr>
              <a:t>What the project proved, and what remains outside its present scope</a:t>
            </a:r>
          </a:p>
        </p:txBody>
      </p:sp>
      <p:cxnSp>
        <p:nvCxnSpPr>
          <p:cNvPr id="5" name="Straight Connector 4">
            <a:extLst>
              <a:ext uri="{FF2B5EF4-FFF2-40B4-BE49-F238E27FC236}">
                <a16:creationId xmlns:a16="http://schemas.microsoft.com/office/drawing/2014/main" id="{EA02B181-46F3-289B-C667-8ED0287FC2F0}"/>
              </a:ext>
            </a:extLst>
          </p:cNvPr>
          <p:cNvCxnSpPr/>
          <p:nvPr/>
        </p:nvCxnSpPr>
        <p:spPr>
          <a:xfrm>
            <a:off x="533400" y="6413500"/>
            <a:ext cx="11125200" cy="0"/>
          </a:xfrm>
          <a:prstGeom prst="line">
            <a:avLst/>
          </a:prstGeom>
          <a:ln w="9525">
            <a:solidFill>
              <a:srgbClr val="D7E2E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B99603C-A33A-8F41-BC98-1D438F080C89}"/>
              </a:ext>
            </a:extLst>
          </p:cNvPr>
          <p:cNvSpPr txBox="1"/>
          <p:nvPr/>
        </p:nvSpPr>
        <p:spPr>
          <a:xfrm>
            <a:off x="533400" y="6502400"/>
            <a:ext cx="5715000" cy="276999"/>
          </a:xfrm>
          <a:prstGeom prst="rect">
            <a:avLst/>
          </a:prstGeom>
          <a:noFill/>
        </p:spPr>
        <p:txBody>
          <a:bodyPr vert="horz" wrap="square" lIns="0" tIns="0" rIns="0" bIns="0" rtlCol="0" anchor="ctr">
            <a:noAutofit/>
          </a:bodyPr>
          <a:lstStyle/>
          <a:p>
            <a:r>
              <a:rPr lang="en-US" sz="700">
                <a:solidFill>
                  <a:srgbClr val="566675"/>
                </a:solidFill>
                <a:latin typeface="Aptos" panose="020B0004020202020204" pitchFamily="34" charset="0"/>
              </a:rPr>
              <a:t>SECURE E-LEARNING MARKETPLACE  |  PROJECT DEFENCE</a:t>
            </a:r>
          </a:p>
        </p:txBody>
      </p:sp>
      <p:sp>
        <p:nvSpPr>
          <p:cNvPr id="7" name="TextBox 6">
            <a:extLst>
              <a:ext uri="{FF2B5EF4-FFF2-40B4-BE49-F238E27FC236}">
                <a16:creationId xmlns:a16="http://schemas.microsoft.com/office/drawing/2014/main" id="{E7ED15C7-87B9-0B72-7B71-DB2595ACEB2A}"/>
              </a:ext>
            </a:extLst>
          </p:cNvPr>
          <p:cNvSpPr txBox="1"/>
          <p:nvPr/>
        </p:nvSpPr>
        <p:spPr>
          <a:xfrm>
            <a:off x="11366500" y="6477000"/>
            <a:ext cx="292100" cy="276999"/>
          </a:xfrm>
          <a:prstGeom prst="rect">
            <a:avLst/>
          </a:prstGeom>
          <a:noFill/>
        </p:spPr>
        <p:txBody>
          <a:bodyPr vert="horz" wrap="square" lIns="0" tIns="0" rIns="0" bIns="0" rtlCol="0" anchor="ctr">
            <a:noAutofit/>
          </a:bodyPr>
          <a:lstStyle/>
          <a:p>
            <a:pPr algn="r"/>
            <a:r>
              <a:rPr lang="en-US" sz="800" b="1">
                <a:solidFill>
                  <a:srgbClr val="566675"/>
                </a:solidFill>
                <a:latin typeface="Aptos" panose="020B0004020202020204" pitchFamily="34" charset="0"/>
              </a:rPr>
              <a:t>13</a:t>
            </a:r>
          </a:p>
        </p:txBody>
      </p:sp>
      <p:sp>
        <p:nvSpPr>
          <p:cNvPr id="8" name="Rectangle: Rounded Corners 7">
            <a:extLst>
              <a:ext uri="{FF2B5EF4-FFF2-40B4-BE49-F238E27FC236}">
                <a16:creationId xmlns:a16="http://schemas.microsoft.com/office/drawing/2014/main" id="{D52A36FC-3984-E30A-96FE-7E27A6005821}"/>
              </a:ext>
            </a:extLst>
          </p:cNvPr>
          <p:cNvSpPr/>
          <p:nvPr/>
        </p:nvSpPr>
        <p:spPr>
          <a:xfrm>
            <a:off x="533400" y="1600200"/>
            <a:ext cx="3403600" cy="3302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D255D79-8F78-F287-8341-1787ECBDC9E3}"/>
              </a:ext>
            </a:extLst>
          </p:cNvPr>
          <p:cNvSpPr/>
          <p:nvPr/>
        </p:nvSpPr>
        <p:spPr>
          <a:xfrm>
            <a:off x="330200" y="1600200"/>
            <a:ext cx="140860" cy="3302000"/>
          </a:xfrm>
          <a:prstGeom prst="rect">
            <a:avLst/>
          </a:prstGeom>
          <a:solidFill>
            <a:srgbClr val="148E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7EE17D4-8115-5483-EFFB-E41807077D10}"/>
              </a:ext>
            </a:extLst>
          </p:cNvPr>
          <p:cNvSpPr txBox="1"/>
          <p:nvPr/>
        </p:nvSpPr>
        <p:spPr>
          <a:xfrm>
            <a:off x="787400" y="1790700"/>
            <a:ext cx="2408382" cy="292101"/>
          </a:xfrm>
          <a:prstGeom prst="rect">
            <a:avLst/>
          </a:prstGeom>
          <a:noFill/>
        </p:spPr>
        <p:txBody>
          <a:bodyPr vert="horz" wrap="square" lIns="0" tIns="0" rIns="0" bIns="0" rtlCol="0" anchor="ctr">
            <a:noAutofit/>
          </a:bodyPr>
          <a:lstStyle/>
          <a:p>
            <a:r>
              <a:rPr lang="en-US" sz="1400" b="1" dirty="0">
                <a:solidFill>
                  <a:srgbClr val="148E66"/>
                </a:solidFill>
                <a:latin typeface="Aptos" panose="020B0004020202020204" pitchFamily="34" charset="0"/>
              </a:rPr>
              <a:t>ACHIEVED</a:t>
            </a:r>
          </a:p>
        </p:txBody>
      </p:sp>
      <p:sp>
        <p:nvSpPr>
          <p:cNvPr id="11" name="TextBox 10">
            <a:extLst>
              <a:ext uri="{FF2B5EF4-FFF2-40B4-BE49-F238E27FC236}">
                <a16:creationId xmlns:a16="http://schemas.microsoft.com/office/drawing/2014/main" id="{F5F62E56-6886-DF94-3467-4980E80087DB}"/>
              </a:ext>
            </a:extLst>
          </p:cNvPr>
          <p:cNvSpPr txBox="1"/>
          <p:nvPr/>
        </p:nvSpPr>
        <p:spPr>
          <a:xfrm>
            <a:off x="787400" y="2146300"/>
            <a:ext cx="2921000" cy="505599"/>
          </a:xfrm>
          <a:prstGeom prst="rect">
            <a:avLst/>
          </a:prstGeom>
          <a:noFill/>
        </p:spPr>
        <p:txBody>
          <a:bodyPr vert="horz" wrap="square" lIns="0" tIns="0" rIns="0" bIns="0" rtlCol="0" anchor="ctr">
            <a:noAutofit/>
          </a:bodyPr>
          <a:lstStyle/>
          <a:p>
            <a:r>
              <a:rPr lang="en-US" sz="1600" b="1" dirty="0">
                <a:solidFill>
                  <a:srgbClr val="162330"/>
                </a:solidFill>
                <a:latin typeface="Aptos" panose="020B0004020202020204" pitchFamily="34" charset="0"/>
              </a:rPr>
              <a:t>Working marketplace</a:t>
            </a:r>
          </a:p>
        </p:txBody>
      </p:sp>
      <p:sp>
        <p:nvSpPr>
          <p:cNvPr id="12" name="TextBox 11">
            <a:extLst>
              <a:ext uri="{FF2B5EF4-FFF2-40B4-BE49-F238E27FC236}">
                <a16:creationId xmlns:a16="http://schemas.microsoft.com/office/drawing/2014/main" id="{BE69E6FB-06CB-C2F1-0A92-9452AE1D2FA0}"/>
              </a:ext>
            </a:extLst>
          </p:cNvPr>
          <p:cNvSpPr txBox="1"/>
          <p:nvPr/>
        </p:nvSpPr>
        <p:spPr>
          <a:xfrm>
            <a:off x="787400" y="2654300"/>
            <a:ext cx="2921000" cy="774700"/>
          </a:xfrm>
          <a:prstGeom prst="rect">
            <a:avLst/>
          </a:prstGeom>
          <a:noFill/>
        </p:spPr>
        <p:txBody>
          <a:bodyPr vert="horz" wrap="square" lIns="0" tIns="0" rIns="0" bIns="0" rtlCol="0" anchor="ctr">
            <a:noAutofit/>
          </a:bodyPr>
          <a:lstStyle/>
          <a:p>
            <a:r>
              <a:rPr lang="en-US" sz="1100" dirty="0">
                <a:solidFill>
                  <a:srgbClr val="566675"/>
                </a:solidFill>
                <a:latin typeface="Aptos" panose="020B0004020202020204" pitchFamily="34" charset="0"/>
              </a:rPr>
              <a:t>A multi-role platform with controlled course publication, free/paid enrolment, learning tools, quizzes, and traceable administration.</a:t>
            </a:r>
          </a:p>
        </p:txBody>
      </p:sp>
      <p:sp>
        <p:nvSpPr>
          <p:cNvPr id="13" name="Rectangle: Rounded Corners 12">
            <a:extLst>
              <a:ext uri="{FF2B5EF4-FFF2-40B4-BE49-F238E27FC236}">
                <a16:creationId xmlns:a16="http://schemas.microsoft.com/office/drawing/2014/main" id="{B893883E-1E7D-0165-10B1-EACBAAB78246}"/>
              </a:ext>
            </a:extLst>
          </p:cNvPr>
          <p:cNvSpPr/>
          <p:nvPr/>
        </p:nvSpPr>
        <p:spPr>
          <a:xfrm>
            <a:off x="4394200" y="1600200"/>
            <a:ext cx="3403600" cy="3302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03DA374-9E15-9E67-2701-362360F84527}"/>
              </a:ext>
            </a:extLst>
          </p:cNvPr>
          <p:cNvSpPr/>
          <p:nvPr/>
        </p:nvSpPr>
        <p:spPr>
          <a:xfrm>
            <a:off x="4191002" y="1600200"/>
            <a:ext cx="157017" cy="3302000"/>
          </a:xfrm>
          <a:prstGeom prst="rect">
            <a:avLst/>
          </a:prstGeom>
          <a:solidFill>
            <a:srgbClr val="E08E1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A77BAB1-F6F3-3212-C8F4-FF0CC3CDDF48}"/>
              </a:ext>
            </a:extLst>
          </p:cNvPr>
          <p:cNvSpPr txBox="1"/>
          <p:nvPr/>
        </p:nvSpPr>
        <p:spPr>
          <a:xfrm>
            <a:off x="4648200" y="1790700"/>
            <a:ext cx="1336964" cy="292101"/>
          </a:xfrm>
          <a:prstGeom prst="rect">
            <a:avLst/>
          </a:prstGeom>
          <a:noFill/>
        </p:spPr>
        <p:txBody>
          <a:bodyPr vert="horz" wrap="square" lIns="0" tIns="0" rIns="0" bIns="0" rtlCol="0" anchor="ctr">
            <a:noAutofit/>
          </a:bodyPr>
          <a:lstStyle/>
          <a:p>
            <a:r>
              <a:rPr lang="en-US" sz="1400" b="1" dirty="0">
                <a:solidFill>
                  <a:srgbClr val="E08E14"/>
                </a:solidFill>
                <a:latin typeface="Aptos" panose="020B0004020202020204" pitchFamily="34" charset="0"/>
              </a:rPr>
              <a:t>LIMIT</a:t>
            </a:r>
          </a:p>
        </p:txBody>
      </p:sp>
      <p:sp>
        <p:nvSpPr>
          <p:cNvPr id="16" name="TextBox 15">
            <a:extLst>
              <a:ext uri="{FF2B5EF4-FFF2-40B4-BE49-F238E27FC236}">
                <a16:creationId xmlns:a16="http://schemas.microsoft.com/office/drawing/2014/main" id="{1E223427-74D5-89D3-D99E-A7B1C2FFF83C}"/>
              </a:ext>
            </a:extLst>
          </p:cNvPr>
          <p:cNvSpPr txBox="1"/>
          <p:nvPr/>
        </p:nvSpPr>
        <p:spPr>
          <a:xfrm>
            <a:off x="4648200" y="2146300"/>
            <a:ext cx="2921000" cy="505599"/>
          </a:xfrm>
          <a:prstGeom prst="rect">
            <a:avLst/>
          </a:prstGeom>
          <a:noFill/>
        </p:spPr>
        <p:txBody>
          <a:bodyPr vert="horz" wrap="square" lIns="0" tIns="0" rIns="0" bIns="0" rtlCol="0" anchor="ctr">
            <a:noAutofit/>
          </a:bodyPr>
          <a:lstStyle/>
          <a:p>
            <a:r>
              <a:rPr lang="en-US" sz="1600" b="1" dirty="0">
                <a:solidFill>
                  <a:srgbClr val="162330"/>
                </a:solidFill>
                <a:latin typeface="Aptos" panose="020B0004020202020204" pitchFamily="34" charset="0"/>
              </a:rPr>
              <a:t>Not production scale</a:t>
            </a:r>
          </a:p>
        </p:txBody>
      </p:sp>
      <p:sp>
        <p:nvSpPr>
          <p:cNvPr id="17" name="TextBox 16">
            <a:extLst>
              <a:ext uri="{FF2B5EF4-FFF2-40B4-BE49-F238E27FC236}">
                <a16:creationId xmlns:a16="http://schemas.microsoft.com/office/drawing/2014/main" id="{C0E1ECD4-4AB9-7450-6B87-A460D2DE1014}"/>
              </a:ext>
            </a:extLst>
          </p:cNvPr>
          <p:cNvSpPr txBox="1"/>
          <p:nvPr/>
        </p:nvSpPr>
        <p:spPr>
          <a:xfrm>
            <a:off x="4648200" y="2654300"/>
            <a:ext cx="2921000" cy="1104900"/>
          </a:xfrm>
          <a:prstGeom prst="rect">
            <a:avLst/>
          </a:prstGeom>
          <a:noFill/>
        </p:spPr>
        <p:txBody>
          <a:bodyPr vert="horz" wrap="square" lIns="0" tIns="0" rIns="0" bIns="0" rtlCol="0" anchor="ctr">
            <a:noAutofit/>
          </a:bodyPr>
          <a:lstStyle/>
          <a:p>
            <a:r>
              <a:rPr lang="en-US" sz="1100" dirty="0">
                <a:solidFill>
                  <a:srgbClr val="566675"/>
                </a:solidFill>
                <a:latin typeface="Aptos" panose="020B0004020202020204" pitchFamily="34" charset="0"/>
              </a:rPr>
              <a:t>Payments were tested in a sandbox, and heavy-load performance was not measured on production infrastructure.</a:t>
            </a:r>
          </a:p>
        </p:txBody>
      </p:sp>
      <p:sp>
        <p:nvSpPr>
          <p:cNvPr id="18" name="Rectangle: Rounded Corners 17">
            <a:extLst>
              <a:ext uri="{FF2B5EF4-FFF2-40B4-BE49-F238E27FC236}">
                <a16:creationId xmlns:a16="http://schemas.microsoft.com/office/drawing/2014/main" id="{E9F2B7BB-5FF3-F5DE-D8A3-E5047A2FB09D}"/>
              </a:ext>
            </a:extLst>
          </p:cNvPr>
          <p:cNvSpPr/>
          <p:nvPr/>
        </p:nvSpPr>
        <p:spPr>
          <a:xfrm>
            <a:off x="8255000" y="1600200"/>
            <a:ext cx="3403600" cy="3302000"/>
          </a:xfrm>
          <a:prstGeom prst="roundRect">
            <a:avLst/>
          </a:prstGeom>
          <a:solidFill>
            <a:srgbClr val="F8FAFC"/>
          </a:solidFill>
          <a:ln w="10160">
            <a:solidFill>
              <a:srgbClr val="D7E2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09FB053-8D59-AE9B-0582-7D8FB5AD702E}"/>
              </a:ext>
            </a:extLst>
          </p:cNvPr>
          <p:cNvSpPr/>
          <p:nvPr/>
        </p:nvSpPr>
        <p:spPr>
          <a:xfrm>
            <a:off x="8026400" y="1590964"/>
            <a:ext cx="184732" cy="3302000"/>
          </a:xfrm>
          <a:prstGeom prst="rect">
            <a:avLst/>
          </a:prstGeom>
          <a:solidFill>
            <a:srgbClr val="0964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06531A1-98A6-A92A-AFC5-01AB4DC95969}"/>
              </a:ext>
            </a:extLst>
          </p:cNvPr>
          <p:cNvSpPr txBox="1"/>
          <p:nvPr/>
        </p:nvSpPr>
        <p:spPr>
          <a:xfrm>
            <a:off x="8509000" y="1790700"/>
            <a:ext cx="1993900" cy="292101"/>
          </a:xfrm>
          <a:prstGeom prst="rect">
            <a:avLst/>
          </a:prstGeom>
          <a:noFill/>
        </p:spPr>
        <p:txBody>
          <a:bodyPr vert="horz" wrap="square" lIns="0" tIns="0" rIns="0" bIns="0" rtlCol="0" anchor="ctr">
            <a:noAutofit/>
          </a:bodyPr>
          <a:lstStyle/>
          <a:p>
            <a:r>
              <a:rPr lang="en-US" sz="1400" b="1" dirty="0">
                <a:solidFill>
                  <a:srgbClr val="0964DA"/>
                </a:solidFill>
                <a:latin typeface="Aptos" panose="020B0004020202020204" pitchFamily="34" charset="0"/>
              </a:rPr>
              <a:t>NEXT</a:t>
            </a:r>
          </a:p>
        </p:txBody>
      </p:sp>
      <p:sp>
        <p:nvSpPr>
          <p:cNvPr id="21" name="TextBox 20">
            <a:extLst>
              <a:ext uri="{FF2B5EF4-FFF2-40B4-BE49-F238E27FC236}">
                <a16:creationId xmlns:a16="http://schemas.microsoft.com/office/drawing/2014/main" id="{06EE95A6-6742-CED4-5AB2-33006782CE94}"/>
              </a:ext>
            </a:extLst>
          </p:cNvPr>
          <p:cNvSpPr txBox="1"/>
          <p:nvPr/>
        </p:nvSpPr>
        <p:spPr>
          <a:xfrm>
            <a:off x="8509000" y="2146300"/>
            <a:ext cx="2921000" cy="505599"/>
          </a:xfrm>
          <a:prstGeom prst="rect">
            <a:avLst/>
          </a:prstGeom>
          <a:noFill/>
        </p:spPr>
        <p:txBody>
          <a:bodyPr vert="horz" wrap="square" lIns="0" tIns="0" rIns="0" bIns="0" rtlCol="0" anchor="ctr">
            <a:noAutofit/>
          </a:bodyPr>
          <a:lstStyle/>
          <a:p>
            <a:r>
              <a:rPr lang="en-US" sz="1600" b="1" dirty="0">
                <a:solidFill>
                  <a:srgbClr val="162330"/>
                </a:solidFill>
                <a:latin typeface="Aptos" panose="020B0004020202020204" pitchFamily="34" charset="0"/>
              </a:rPr>
              <a:t>Real-world extension</a:t>
            </a:r>
          </a:p>
        </p:txBody>
      </p:sp>
      <p:sp>
        <p:nvSpPr>
          <p:cNvPr id="22" name="TextBox 21">
            <a:extLst>
              <a:ext uri="{FF2B5EF4-FFF2-40B4-BE49-F238E27FC236}">
                <a16:creationId xmlns:a16="http://schemas.microsoft.com/office/drawing/2014/main" id="{FA354995-53E2-8953-E5AE-F61FC698E318}"/>
              </a:ext>
            </a:extLst>
          </p:cNvPr>
          <p:cNvSpPr txBox="1"/>
          <p:nvPr/>
        </p:nvSpPr>
        <p:spPr>
          <a:xfrm>
            <a:off x="8509000" y="2651899"/>
            <a:ext cx="2921000" cy="777101"/>
          </a:xfrm>
          <a:prstGeom prst="rect">
            <a:avLst/>
          </a:prstGeom>
          <a:noFill/>
        </p:spPr>
        <p:txBody>
          <a:bodyPr vert="horz" wrap="square" lIns="0" tIns="0" rIns="0" bIns="0" rtlCol="0" anchor="ctr">
            <a:noAutofit/>
          </a:bodyPr>
          <a:lstStyle/>
          <a:p>
            <a:r>
              <a:rPr lang="en-US" sz="1100" dirty="0">
                <a:solidFill>
                  <a:srgbClr val="566675"/>
                </a:solidFill>
                <a:latin typeface="Aptos" panose="020B0004020202020204" pitchFamily="34" charset="0"/>
              </a:rPr>
              <a:t>Live payment operation, load testing, a wider user study, offline support, and richer assessment types.</a:t>
            </a:r>
          </a:p>
        </p:txBody>
      </p:sp>
      <p:sp>
        <p:nvSpPr>
          <p:cNvPr id="23" name="TextBox 22">
            <a:extLst>
              <a:ext uri="{FF2B5EF4-FFF2-40B4-BE49-F238E27FC236}">
                <a16:creationId xmlns:a16="http://schemas.microsoft.com/office/drawing/2014/main" id="{7D35993A-061F-58FF-D42D-EA7522310F67}"/>
              </a:ext>
            </a:extLst>
          </p:cNvPr>
          <p:cNvSpPr txBox="1"/>
          <p:nvPr/>
        </p:nvSpPr>
        <p:spPr>
          <a:xfrm>
            <a:off x="533400" y="5397500"/>
            <a:ext cx="10414000" cy="596897"/>
          </a:xfrm>
          <a:prstGeom prst="rect">
            <a:avLst/>
          </a:prstGeom>
          <a:noFill/>
        </p:spPr>
        <p:txBody>
          <a:bodyPr vert="horz" wrap="square" lIns="0" tIns="0" rIns="0" bIns="0" rtlCol="0" anchor="ctr">
            <a:noAutofit/>
          </a:bodyPr>
          <a:lstStyle/>
          <a:p>
            <a:r>
              <a:rPr lang="en-US" sz="1700" b="1" dirty="0">
                <a:solidFill>
                  <a:srgbClr val="162330"/>
                </a:solidFill>
                <a:latin typeface="Aptos" panose="020B0004020202020204" pitchFamily="34" charset="0"/>
              </a:rPr>
              <a:t>Conclusion: a small team can build a secure and locally relevant e-learning marketplace using modern, low-cost tools.</a:t>
            </a:r>
          </a:p>
        </p:txBody>
      </p:sp>
    </p:spTree>
    <p:extLst>
      <p:ext uri="{BB962C8B-B14F-4D97-AF65-F5344CB8AC3E}">
        <p14:creationId xmlns:p14="http://schemas.microsoft.com/office/powerpoint/2010/main" val="3715662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A46866-F199-7227-824D-A87166F10793}"/>
              </a:ext>
            </a:extLst>
          </p:cNvPr>
          <p:cNvSpPr/>
          <p:nvPr/>
        </p:nvSpPr>
        <p:spPr>
          <a:xfrm>
            <a:off x="0" y="0"/>
            <a:ext cx="12192000" cy="68580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92A6FAC2-CA43-F73E-4C03-8CE88902CCE9}"/>
              </a:ext>
            </a:extLst>
          </p:cNvPr>
          <p:cNvSpPr/>
          <p:nvPr/>
        </p:nvSpPr>
        <p:spPr>
          <a:xfrm>
            <a:off x="9144000" y="1016000"/>
            <a:ext cx="3175000" cy="3175000"/>
          </a:xfrm>
          <a:prstGeom prst="ellipse">
            <a:avLst/>
          </a:prstGeom>
          <a:solidFill>
            <a:srgbClr val="0964DA">
              <a:alpha val="3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A9FA6BF-9842-B13F-1FCC-4F3BEB146AED}"/>
              </a:ext>
            </a:extLst>
          </p:cNvPr>
          <p:cNvSpPr txBox="1"/>
          <p:nvPr/>
        </p:nvSpPr>
        <p:spPr>
          <a:xfrm>
            <a:off x="711200" y="1905000"/>
            <a:ext cx="7112000" cy="276999"/>
          </a:xfrm>
          <a:prstGeom prst="rect">
            <a:avLst/>
          </a:prstGeom>
          <a:noFill/>
        </p:spPr>
        <p:txBody>
          <a:bodyPr vert="horz" wrap="square" lIns="0" tIns="0" rIns="0" bIns="0" rtlCol="0" anchor="ctr">
            <a:noAutofit/>
          </a:bodyPr>
          <a:lstStyle/>
          <a:p>
            <a:r>
              <a:rPr lang="en-US" sz="4200" b="1">
                <a:solidFill>
                  <a:srgbClr val="FFFFFF"/>
                </a:solidFill>
                <a:latin typeface="Aptos" panose="020B0004020202020204" pitchFamily="34" charset="0"/>
              </a:rPr>
              <a:t>THANK YOU</a:t>
            </a:r>
          </a:p>
        </p:txBody>
      </p:sp>
      <p:sp>
        <p:nvSpPr>
          <p:cNvPr id="5" name="TextBox 4">
            <a:extLst>
              <a:ext uri="{FF2B5EF4-FFF2-40B4-BE49-F238E27FC236}">
                <a16:creationId xmlns:a16="http://schemas.microsoft.com/office/drawing/2014/main" id="{0F3F2A4D-2781-3A73-7823-6BE33C491E1E}"/>
              </a:ext>
            </a:extLst>
          </p:cNvPr>
          <p:cNvSpPr txBox="1"/>
          <p:nvPr/>
        </p:nvSpPr>
        <p:spPr>
          <a:xfrm>
            <a:off x="711200" y="2870200"/>
            <a:ext cx="6604000" cy="276999"/>
          </a:xfrm>
          <a:prstGeom prst="rect">
            <a:avLst/>
          </a:prstGeom>
          <a:noFill/>
        </p:spPr>
        <p:txBody>
          <a:bodyPr vert="horz" wrap="square" lIns="0" tIns="0" rIns="0" bIns="0" rtlCol="0" anchor="ctr">
            <a:noAutofit/>
          </a:bodyPr>
          <a:lstStyle/>
          <a:p>
            <a:r>
              <a:rPr lang="en-US" sz="1900">
                <a:solidFill>
                  <a:srgbClr val="E8F2FF"/>
                </a:solidFill>
                <a:latin typeface="Aptos" panose="020B0004020202020204" pitchFamily="34" charset="0"/>
              </a:rPr>
              <a:t>Questions and live demonstration</a:t>
            </a:r>
          </a:p>
        </p:txBody>
      </p:sp>
      <p:cxnSp>
        <p:nvCxnSpPr>
          <p:cNvPr id="6" name="Straight Connector 5">
            <a:extLst>
              <a:ext uri="{FF2B5EF4-FFF2-40B4-BE49-F238E27FC236}">
                <a16:creationId xmlns:a16="http://schemas.microsoft.com/office/drawing/2014/main" id="{6F6741A9-2F0D-EAB0-AD0F-EB5B8230E59C}"/>
              </a:ext>
            </a:extLst>
          </p:cNvPr>
          <p:cNvCxnSpPr/>
          <p:nvPr/>
        </p:nvCxnSpPr>
        <p:spPr>
          <a:xfrm>
            <a:off x="711200" y="3632200"/>
            <a:ext cx="1524000" cy="0"/>
          </a:xfrm>
          <a:prstGeom prst="line">
            <a:avLst/>
          </a:prstGeom>
          <a:ln w="9525">
            <a:solidFill>
              <a:srgbClr val="368AF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6EF4057-AD21-9E57-10A5-C5BB5685EE71}"/>
              </a:ext>
            </a:extLst>
          </p:cNvPr>
          <p:cNvSpPr txBox="1"/>
          <p:nvPr/>
        </p:nvSpPr>
        <p:spPr>
          <a:xfrm>
            <a:off x="711200" y="4114800"/>
            <a:ext cx="5715000" cy="276999"/>
          </a:xfrm>
          <a:prstGeom prst="rect">
            <a:avLst/>
          </a:prstGeom>
          <a:noFill/>
        </p:spPr>
        <p:txBody>
          <a:bodyPr vert="horz" wrap="square" lIns="0" tIns="0" rIns="0" bIns="0" rtlCol="0" anchor="ctr">
            <a:noAutofit/>
          </a:bodyPr>
          <a:lstStyle/>
          <a:p>
            <a:r>
              <a:rPr lang="en-US" sz="1400">
                <a:solidFill>
                  <a:srgbClr val="FFFFFF"/>
                </a:solidFill>
                <a:latin typeface="Aptos" panose="020B0004020202020204" pitchFamily="34" charset="0"/>
              </a:rPr>
              <a:t>The system is ready to demonstrate:
- student learning and quiz attempt
- instructor course management
- administrator approval and audit trail</a:t>
            </a:r>
          </a:p>
        </p:txBody>
      </p:sp>
      <p:sp>
        <p:nvSpPr>
          <p:cNvPr id="8" name="TextBox 7">
            <a:extLst>
              <a:ext uri="{FF2B5EF4-FFF2-40B4-BE49-F238E27FC236}">
                <a16:creationId xmlns:a16="http://schemas.microsoft.com/office/drawing/2014/main" id="{EDA744E5-F61B-9417-A5C5-9371CFC0A280}"/>
              </a:ext>
            </a:extLst>
          </p:cNvPr>
          <p:cNvSpPr txBox="1"/>
          <p:nvPr/>
        </p:nvSpPr>
        <p:spPr>
          <a:xfrm>
            <a:off x="711200" y="6172200"/>
            <a:ext cx="5334000" cy="276999"/>
          </a:xfrm>
          <a:prstGeom prst="rect">
            <a:avLst/>
          </a:prstGeom>
          <a:noFill/>
        </p:spPr>
        <p:txBody>
          <a:bodyPr vert="horz" wrap="square" lIns="0" tIns="0" rIns="0" bIns="0" rtlCol="0" anchor="ctr">
            <a:noAutofit/>
          </a:bodyPr>
          <a:lstStyle/>
          <a:p>
            <a:r>
              <a:rPr lang="en-US" sz="900">
                <a:solidFill>
                  <a:srgbClr val="E8F2FF"/>
                </a:solidFill>
                <a:latin typeface="Aptos" panose="020B0004020202020204" pitchFamily="34" charset="0"/>
              </a:rPr>
              <a:t>Secure E-Learning Marketplace  |  Project Defence</a:t>
            </a:r>
          </a:p>
        </p:txBody>
      </p:sp>
    </p:spTree>
    <p:extLst>
      <p:ext uri="{BB962C8B-B14F-4D97-AF65-F5344CB8AC3E}">
        <p14:creationId xmlns:p14="http://schemas.microsoft.com/office/powerpoint/2010/main" val="3715861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1631</Words>
  <Application>Microsoft Office PowerPoint</Application>
  <PresentationFormat>Widescreen</PresentationFormat>
  <Paragraphs>239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Danso Perez</dc:creator>
  <cp:lastModifiedBy>Danso Perez</cp:lastModifiedBy>
  <cp:revision>5</cp:revision>
  <dcterms:created xsi:type="dcterms:W3CDTF">2026-07-26T20:52:57Z</dcterms:created>
  <dcterms:modified xsi:type="dcterms:W3CDTF">2026-07-26T21:33:29Z</dcterms:modified>
</cp:coreProperties>
</file>